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Londrina Solid" charset="1" panose="00000500000000000000"/>
      <p:regular r:id="rId27"/>
    </p:embeddedFont>
    <p:embeddedFont>
      <p:font typeface="Loubag Bold" charset="1" panose="02020A03060303060403"/>
      <p:regular r:id="rId28"/>
    </p:embeddedFont>
    <p:embeddedFont>
      <p:font typeface="Agrandir Medium" charset="1" panose="00000600000000000000"/>
      <p:regular r:id="rId29"/>
    </p:embeddedFont>
    <p:embeddedFont>
      <p:font typeface="Cambria Bold" charset="1" panose="02040803050406030204"/>
      <p:regular r:id="rId30"/>
    </p:embeddedFont>
    <p:embeddedFont>
      <p:font typeface="Calibri (MS)" charset="1" panose="020F0502020204030204"/>
      <p:regular r:id="rId31"/>
    </p:embeddedFont>
    <p:embeddedFont>
      <p:font typeface="Calibri (MS) Bold" charset="1" panose="020F0702030404030204"/>
      <p:regular r:id="rId32"/>
    </p:embeddedFont>
    <p:embeddedFont>
      <p:font typeface="Glacial Indifference Bold" charset="1" panose="00000800000000000000"/>
      <p:regular r:id="rId33"/>
    </p:embeddedFont>
    <p:embeddedFont>
      <p:font typeface="Glacial Indifference" charset="1" panose="00000000000000000000"/>
      <p:regular r:id="rId34"/>
    </p:embeddedFont>
    <p:embeddedFont>
      <p:font typeface="Loubag" charset="1" panose="02020A03060303060403"/>
      <p:regular r:id="rId35"/>
    </p:embeddedFont>
    <p:embeddedFont>
      <p:font typeface="Poppins" charset="1" panose="00000500000000000000"/>
      <p:regular r:id="rId36"/>
    </p:embeddedFont>
    <p:embeddedFont>
      <p:font typeface="Lato" charset="1" panose="020F0502020204030203"/>
      <p:regular r:id="rId37"/>
    </p:embeddedFont>
    <p:embeddedFont>
      <p:font typeface="Poppins Bold" charset="1" panose="00000800000000000000"/>
      <p:regular r:id="rId38"/>
    </p:embeddedFont>
    <p:embeddedFont>
      <p:font typeface="Agrandir Bold" charset="1" panose="0000080000000000000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vizhub.healthdata.org/gbd-results/" TargetMode="External" Type="http://schemas.openxmlformats.org/officeDocument/2006/relationships/hyperlink"/><Relationship Id="rId3" Target="../media/image10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https://ourworldindata.org/grapher/asthma-prevalence" TargetMode="External" Type="http://schemas.openxmlformats.org/officeDocument/2006/relationships/hyperlink"/><Relationship Id="rId9" Target="../media/image1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jpeg" Type="http://schemas.openxmlformats.org/officeDocument/2006/relationships/image"/><Relationship Id="rId8" Target="../media/image1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jpeg" Type="http://schemas.openxmlformats.org/officeDocument/2006/relationships/image"/><Relationship Id="rId11" Target="../media/image24.jpeg" Type="http://schemas.openxmlformats.org/officeDocument/2006/relationships/image"/><Relationship Id="rId12" Target="../media/image25.jpeg" Type="http://schemas.openxmlformats.org/officeDocument/2006/relationships/image"/><Relationship Id="rId2" Target="../media/image17.jpeg" Type="http://schemas.openxmlformats.org/officeDocument/2006/relationships/image"/><Relationship Id="rId3" Target="../media/image18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2" Target="../media/image17.jpeg" Type="http://schemas.openxmlformats.org/officeDocument/2006/relationships/image"/><Relationship Id="rId3" Target="../media/image26.jpeg" Type="http://schemas.openxmlformats.org/officeDocument/2006/relationships/image"/><Relationship Id="rId4" Target="../media/image18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2" Target="../media/image27.jpeg" Type="http://schemas.openxmlformats.org/officeDocument/2006/relationships/image"/><Relationship Id="rId3" Target="../media/image28.jpeg" Type="http://schemas.openxmlformats.org/officeDocument/2006/relationships/image"/><Relationship Id="rId4" Target="../media/image29.jpe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2.pn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7.pn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jpe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4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2" Target="../media/image27.jpeg" Type="http://schemas.openxmlformats.org/officeDocument/2006/relationships/image"/><Relationship Id="rId3" Target="../media/image28.jpeg" Type="http://schemas.openxmlformats.org/officeDocument/2006/relationships/image"/><Relationship Id="rId4" Target="../media/image29.jpe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4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4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2" Target="../media/image27.jpeg" Type="http://schemas.openxmlformats.org/officeDocument/2006/relationships/image"/><Relationship Id="rId3" Target="../media/image28.jpeg" Type="http://schemas.openxmlformats.org/officeDocument/2006/relationships/image"/><Relationship Id="rId4" Target="../media/image29.jpe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46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2" Target="../media/image27.jpeg" Type="http://schemas.openxmlformats.org/officeDocument/2006/relationships/image"/><Relationship Id="rId3" Target="../media/image28.jpeg" Type="http://schemas.openxmlformats.org/officeDocument/2006/relationships/image"/><Relationship Id="rId4" Target="../media/image29.jpe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4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2" Target="../media/image49.jpeg" Type="http://schemas.openxmlformats.org/officeDocument/2006/relationships/image"/><Relationship Id="rId3" Target="https://github.com/3mmar3bdalkber/Global-Asthma-Burden" TargetMode="External" Type="http://schemas.openxmlformats.org/officeDocument/2006/relationships/hyperlink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C6F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95924" y="7850239"/>
            <a:ext cx="3496153" cy="2746069"/>
          </a:xfrm>
          <a:custGeom>
            <a:avLst/>
            <a:gdLst/>
            <a:ahLst/>
            <a:cxnLst/>
            <a:rect r="r" b="b" t="t" l="l"/>
            <a:pathLst>
              <a:path h="2746069" w="3496153">
                <a:moveTo>
                  <a:pt x="0" y="0"/>
                </a:moveTo>
                <a:lnTo>
                  <a:pt x="3496152" y="0"/>
                </a:lnTo>
                <a:lnTo>
                  <a:pt x="3496152" y="2746069"/>
                </a:lnTo>
                <a:lnTo>
                  <a:pt x="0" y="2746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9682777" y="2568339"/>
            <a:ext cx="8932229" cy="6505092"/>
            <a:chOff x="0" y="0"/>
            <a:chExt cx="686316" cy="4998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6316" cy="499825"/>
            </a:xfrm>
            <a:custGeom>
              <a:avLst/>
              <a:gdLst/>
              <a:ahLst/>
              <a:cxnLst/>
              <a:rect r="r" b="b" t="t" l="l"/>
              <a:pathLst>
                <a:path h="499825" w="686316">
                  <a:moveTo>
                    <a:pt x="16251" y="0"/>
                  </a:moveTo>
                  <a:lnTo>
                    <a:pt x="472502" y="0"/>
                  </a:lnTo>
                  <a:cubicBezTo>
                    <a:pt x="591385" y="0"/>
                    <a:pt x="686316" y="111890"/>
                    <a:pt x="686316" y="249912"/>
                  </a:cubicBezTo>
                  <a:cubicBezTo>
                    <a:pt x="686316" y="387935"/>
                    <a:pt x="591385" y="499825"/>
                    <a:pt x="472502" y="499825"/>
                  </a:cubicBezTo>
                  <a:lnTo>
                    <a:pt x="16251" y="499825"/>
                  </a:lnTo>
                  <a:cubicBezTo>
                    <a:pt x="11941" y="499825"/>
                    <a:pt x="7808" y="498113"/>
                    <a:pt x="4760" y="495065"/>
                  </a:cubicBezTo>
                  <a:cubicBezTo>
                    <a:pt x="1712" y="492017"/>
                    <a:pt x="0" y="487884"/>
                    <a:pt x="0" y="483573"/>
                  </a:cubicBezTo>
                  <a:lnTo>
                    <a:pt x="0" y="16251"/>
                  </a:lnTo>
                  <a:cubicBezTo>
                    <a:pt x="0" y="11941"/>
                    <a:pt x="1712" y="7808"/>
                    <a:pt x="4760" y="4760"/>
                  </a:cubicBezTo>
                  <a:cubicBezTo>
                    <a:pt x="7808" y="1712"/>
                    <a:pt x="11941" y="0"/>
                    <a:pt x="16251" y="0"/>
                  </a:cubicBezTo>
                  <a:close/>
                </a:path>
              </a:pathLst>
            </a:custGeom>
            <a:solidFill>
              <a:srgbClr val="9FEFB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25400" y="-19050"/>
              <a:ext cx="457716" cy="518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030164" y="1530351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30793" y="6073895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4" y="0"/>
                </a:lnTo>
                <a:lnTo>
                  <a:pt x="395814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54208" y="2777257"/>
            <a:ext cx="2004971" cy="1526285"/>
          </a:xfrm>
          <a:custGeom>
            <a:avLst/>
            <a:gdLst/>
            <a:ahLst/>
            <a:cxnLst/>
            <a:rect r="r" b="b" t="t" l="l"/>
            <a:pathLst>
              <a:path h="1526285" w="2004971">
                <a:moveTo>
                  <a:pt x="0" y="0"/>
                </a:moveTo>
                <a:lnTo>
                  <a:pt x="2004971" y="0"/>
                </a:lnTo>
                <a:lnTo>
                  <a:pt x="2004971" y="1526284"/>
                </a:lnTo>
                <a:lnTo>
                  <a:pt x="0" y="15262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52650" y="3787611"/>
            <a:ext cx="6837904" cy="5072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1"/>
              </a:lnSpc>
            </a:pPr>
            <a:r>
              <a:rPr lang="en-US" sz="7674" spc="-107">
                <a:solidFill>
                  <a:srgbClr val="FFFF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Asthma Disease Insights </a:t>
            </a:r>
          </a:p>
          <a:p>
            <a:pPr algn="ctr">
              <a:lnSpc>
                <a:spcPts val="7981"/>
              </a:lnSpc>
            </a:pPr>
            <a:r>
              <a:rPr lang="en-US" sz="7674" spc="-107">
                <a:solidFill>
                  <a:srgbClr val="9FEFB6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&amp;</a:t>
            </a:r>
          </a:p>
          <a:p>
            <a:pPr algn="ctr">
              <a:lnSpc>
                <a:spcPts val="7981"/>
              </a:lnSpc>
            </a:pPr>
            <a:r>
              <a:rPr lang="en-US" sz="7674" spc="-107">
                <a:solidFill>
                  <a:srgbClr val="FFFF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 Predictive Analytics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7670300" y="8464147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670300" y="7652332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4"/>
                </a:lnTo>
                <a:lnTo>
                  <a:pt x="0" y="3958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47280" y="1520826"/>
            <a:ext cx="6048644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9FEFB6"/>
                </a:solidFill>
                <a:latin typeface="Loubag Bold"/>
                <a:ea typeface="Loubag Bold"/>
                <a:cs typeface="Loubag Bold"/>
                <a:sym typeface="Loubag Bold"/>
              </a:rPr>
              <a:t>Data Analysis Project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239916" y="1189470"/>
            <a:ext cx="5820437" cy="9415413"/>
          </a:xfrm>
          <a:custGeom>
            <a:avLst/>
            <a:gdLst/>
            <a:ahLst/>
            <a:cxnLst/>
            <a:rect r="r" b="b" t="t" l="l"/>
            <a:pathLst>
              <a:path h="9415413" w="5820437">
                <a:moveTo>
                  <a:pt x="0" y="0"/>
                </a:moveTo>
                <a:lnTo>
                  <a:pt x="5820437" y="0"/>
                </a:lnTo>
                <a:lnTo>
                  <a:pt x="5820437" y="9415413"/>
                </a:lnTo>
                <a:lnTo>
                  <a:pt x="0" y="94154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C6F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95924" y="7850239"/>
            <a:ext cx="3496153" cy="2746069"/>
          </a:xfrm>
          <a:custGeom>
            <a:avLst/>
            <a:gdLst/>
            <a:ahLst/>
            <a:cxnLst/>
            <a:rect r="r" b="b" t="t" l="l"/>
            <a:pathLst>
              <a:path h="2746069" w="3496153">
                <a:moveTo>
                  <a:pt x="0" y="0"/>
                </a:moveTo>
                <a:lnTo>
                  <a:pt x="3496152" y="0"/>
                </a:lnTo>
                <a:lnTo>
                  <a:pt x="3496152" y="2746069"/>
                </a:lnTo>
                <a:lnTo>
                  <a:pt x="0" y="2746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9372" y="632885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0793" y="6073895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4" y="0"/>
                </a:lnTo>
                <a:lnTo>
                  <a:pt x="395814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670300" y="8464147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670300" y="7652332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4"/>
                </a:lnTo>
                <a:lnTo>
                  <a:pt x="0" y="3958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44183" y="623360"/>
            <a:ext cx="7799634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FFFFFF"/>
                </a:solidFill>
                <a:latin typeface="Loubag Bold"/>
                <a:ea typeface="Loubag Bold"/>
                <a:cs typeface="Loubag Bold"/>
                <a:sym typeface="Loubag Bold"/>
              </a:rPr>
              <a:t>Project Content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61109" y="2593678"/>
            <a:ext cx="6034815" cy="1166251"/>
            <a:chOff x="0" y="0"/>
            <a:chExt cx="1625605" cy="3141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5605" cy="314154"/>
            </a:xfrm>
            <a:custGeom>
              <a:avLst/>
              <a:gdLst/>
              <a:ahLst/>
              <a:cxnLst/>
              <a:rect r="r" b="b" t="t" l="l"/>
              <a:pathLst>
                <a:path h="314154" w="1625605">
                  <a:moveTo>
                    <a:pt x="1625605" y="128288"/>
                  </a:moveTo>
                  <a:lnTo>
                    <a:pt x="1625605" y="185867"/>
                  </a:lnTo>
                  <a:cubicBezTo>
                    <a:pt x="1625605" y="256718"/>
                    <a:pt x="1568169" y="314154"/>
                    <a:pt x="1497318" y="314154"/>
                  </a:cubicBezTo>
                  <a:lnTo>
                    <a:pt x="128288" y="314154"/>
                  </a:lnTo>
                  <a:cubicBezTo>
                    <a:pt x="57436" y="314154"/>
                    <a:pt x="0" y="256718"/>
                    <a:pt x="0" y="185867"/>
                  </a:cubicBezTo>
                  <a:lnTo>
                    <a:pt x="0" y="128288"/>
                  </a:lnTo>
                  <a:cubicBezTo>
                    <a:pt x="0" y="57436"/>
                    <a:pt x="57436" y="0"/>
                    <a:pt x="128288" y="0"/>
                  </a:cubicBezTo>
                  <a:lnTo>
                    <a:pt x="1497318" y="0"/>
                  </a:lnTo>
                  <a:cubicBezTo>
                    <a:pt x="1531342" y="0"/>
                    <a:pt x="1563972" y="13516"/>
                    <a:pt x="1588031" y="37575"/>
                  </a:cubicBezTo>
                  <a:cubicBezTo>
                    <a:pt x="1612089" y="61633"/>
                    <a:pt x="1625605" y="94264"/>
                    <a:pt x="1625605" y="1282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61950"/>
              <a:ext cx="1625605" cy="676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906767" indent="-453384" lvl="1">
                <a:lnSpc>
                  <a:spcPts val="7559"/>
                </a:lnSpc>
                <a:buAutoNum type="arabicPeriod" startAt="1"/>
              </a:pPr>
              <a:r>
                <a:rPr lang="en-US" b="true" sz="4199">
                  <a:solidFill>
                    <a:srgbClr val="000000"/>
                  </a:solidFill>
                  <a:latin typeface="Agrandir Medium"/>
                  <a:ea typeface="Agrandir Medium"/>
                  <a:cs typeface="Agrandir Medium"/>
                  <a:sym typeface="Agrandir Medium"/>
                </a:rPr>
                <a:t>Idea &amp; Problem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84321" y="2593678"/>
            <a:ext cx="6034815" cy="1166251"/>
            <a:chOff x="0" y="0"/>
            <a:chExt cx="1625605" cy="3141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25605" cy="314154"/>
            </a:xfrm>
            <a:custGeom>
              <a:avLst/>
              <a:gdLst/>
              <a:ahLst/>
              <a:cxnLst/>
              <a:rect r="r" b="b" t="t" l="l"/>
              <a:pathLst>
                <a:path h="314154" w="1625605">
                  <a:moveTo>
                    <a:pt x="1625605" y="128288"/>
                  </a:moveTo>
                  <a:lnTo>
                    <a:pt x="1625605" y="185867"/>
                  </a:lnTo>
                  <a:cubicBezTo>
                    <a:pt x="1625605" y="256718"/>
                    <a:pt x="1568169" y="314154"/>
                    <a:pt x="1497318" y="314154"/>
                  </a:cubicBezTo>
                  <a:lnTo>
                    <a:pt x="128288" y="314154"/>
                  </a:lnTo>
                  <a:cubicBezTo>
                    <a:pt x="57436" y="314154"/>
                    <a:pt x="0" y="256718"/>
                    <a:pt x="0" y="185867"/>
                  </a:cubicBezTo>
                  <a:lnTo>
                    <a:pt x="0" y="128288"/>
                  </a:lnTo>
                  <a:cubicBezTo>
                    <a:pt x="0" y="57436"/>
                    <a:pt x="57436" y="0"/>
                    <a:pt x="128288" y="0"/>
                  </a:cubicBezTo>
                  <a:lnTo>
                    <a:pt x="1497318" y="0"/>
                  </a:lnTo>
                  <a:cubicBezTo>
                    <a:pt x="1531342" y="0"/>
                    <a:pt x="1563972" y="13516"/>
                    <a:pt x="1588031" y="37575"/>
                  </a:cubicBezTo>
                  <a:cubicBezTo>
                    <a:pt x="1612089" y="61633"/>
                    <a:pt x="1625605" y="94264"/>
                    <a:pt x="1625605" y="1282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61950"/>
              <a:ext cx="1625605" cy="676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906767" indent="-453384" lvl="1">
                <a:lnSpc>
                  <a:spcPts val="7559"/>
                </a:lnSpc>
                <a:buAutoNum type="arabicPeriod" startAt="1"/>
              </a:pPr>
              <a:r>
                <a:rPr lang="en-US" b="true" sz="4199">
                  <a:solidFill>
                    <a:srgbClr val="000000"/>
                  </a:solidFill>
                  <a:latin typeface="Agrandir Medium"/>
                  <a:ea typeface="Agrandir Medium"/>
                  <a:cs typeface="Agrandir Medium"/>
                  <a:sym typeface="Agrandir Medium"/>
                </a:rPr>
                <a:t>Python &amp; ML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61109" y="4262653"/>
            <a:ext cx="6034815" cy="1166251"/>
            <a:chOff x="0" y="0"/>
            <a:chExt cx="1625605" cy="3141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25605" cy="314154"/>
            </a:xfrm>
            <a:custGeom>
              <a:avLst/>
              <a:gdLst/>
              <a:ahLst/>
              <a:cxnLst/>
              <a:rect r="r" b="b" t="t" l="l"/>
              <a:pathLst>
                <a:path h="314154" w="1625605">
                  <a:moveTo>
                    <a:pt x="1625605" y="128288"/>
                  </a:moveTo>
                  <a:lnTo>
                    <a:pt x="1625605" y="185867"/>
                  </a:lnTo>
                  <a:cubicBezTo>
                    <a:pt x="1625605" y="256718"/>
                    <a:pt x="1568169" y="314154"/>
                    <a:pt x="1497318" y="314154"/>
                  </a:cubicBezTo>
                  <a:lnTo>
                    <a:pt x="128288" y="314154"/>
                  </a:lnTo>
                  <a:cubicBezTo>
                    <a:pt x="57436" y="314154"/>
                    <a:pt x="0" y="256718"/>
                    <a:pt x="0" y="185867"/>
                  </a:cubicBezTo>
                  <a:lnTo>
                    <a:pt x="0" y="128288"/>
                  </a:lnTo>
                  <a:cubicBezTo>
                    <a:pt x="0" y="57436"/>
                    <a:pt x="57436" y="0"/>
                    <a:pt x="128288" y="0"/>
                  </a:cubicBezTo>
                  <a:lnTo>
                    <a:pt x="1497318" y="0"/>
                  </a:lnTo>
                  <a:cubicBezTo>
                    <a:pt x="1531342" y="0"/>
                    <a:pt x="1563972" y="13516"/>
                    <a:pt x="1588031" y="37575"/>
                  </a:cubicBezTo>
                  <a:cubicBezTo>
                    <a:pt x="1612089" y="61633"/>
                    <a:pt x="1625605" y="94264"/>
                    <a:pt x="1625605" y="1282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61950"/>
              <a:ext cx="1625605" cy="676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906767" indent="-453384" lvl="1">
                <a:lnSpc>
                  <a:spcPts val="7559"/>
                </a:lnSpc>
                <a:buAutoNum type="arabicPeriod" startAt="1"/>
              </a:pPr>
              <a:r>
                <a:rPr lang="en-US" b="true" sz="4199">
                  <a:solidFill>
                    <a:srgbClr val="000000"/>
                  </a:solidFill>
                  <a:latin typeface="Agrandir Medium"/>
                  <a:ea typeface="Agrandir Medium"/>
                  <a:cs typeface="Agrandir Medium"/>
                  <a:sym typeface="Agrandir Medium"/>
                </a:rPr>
                <a:t>How To Fix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1109" y="6073895"/>
            <a:ext cx="6034815" cy="1166251"/>
            <a:chOff x="0" y="0"/>
            <a:chExt cx="1625605" cy="31415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25605" cy="314154"/>
            </a:xfrm>
            <a:custGeom>
              <a:avLst/>
              <a:gdLst/>
              <a:ahLst/>
              <a:cxnLst/>
              <a:rect r="r" b="b" t="t" l="l"/>
              <a:pathLst>
                <a:path h="314154" w="1625605">
                  <a:moveTo>
                    <a:pt x="1625605" y="128288"/>
                  </a:moveTo>
                  <a:lnTo>
                    <a:pt x="1625605" y="185867"/>
                  </a:lnTo>
                  <a:cubicBezTo>
                    <a:pt x="1625605" y="256718"/>
                    <a:pt x="1568169" y="314154"/>
                    <a:pt x="1497318" y="314154"/>
                  </a:cubicBezTo>
                  <a:lnTo>
                    <a:pt x="128288" y="314154"/>
                  </a:lnTo>
                  <a:cubicBezTo>
                    <a:pt x="57436" y="314154"/>
                    <a:pt x="0" y="256718"/>
                    <a:pt x="0" y="185867"/>
                  </a:cubicBezTo>
                  <a:lnTo>
                    <a:pt x="0" y="128288"/>
                  </a:lnTo>
                  <a:cubicBezTo>
                    <a:pt x="0" y="57436"/>
                    <a:pt x="57436" y="0"/>
                    <a:pt x="128288" y="0"/>
                  </a:cubicBezTo>
                  <a:lnTo>
                    <a:pt x="1497318" y="0"/>
                  </a:lnTo>
                  <a:cubicBezTo>
                    <a:pt x="1531342" y="0"/>
                    <a:pt x="1563972" y="13516"/>
                    <a:pt x="1588031" y="37575"/>
                  </a:cubicBezTo>
                  <a:cubicBezTo>
                    <a:pt x="1612089" y="61633"/>
                    <a:pt x="1625605" y="94264"/>
                    <a:pt x="1625605" y="1282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61950"/>
              <a:ext cx="1625605" cy="676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906767" indent="-453384" lvl="1">
                <a:lnSpc>
                  <a:spcPts val="7559"/>
                </a:lnSpc>
                <a:buAutoNum type="arabicPeriod" startAt="1"/>
              </a:pPr>
              <a:r>
                <a:rPr lang="en-US" b="true" sz="4199">
                  <a:solidFill>
                    <a:srgbClr val="000000"/>
                  </a:solidFill>
                  <a:latin typeface="Agrandir Medium"/>
                  <a:ea typeface="Agrandir Medium"/>
                  <a:cs typeface="Agrandir Medium"/>
                  <a:sym typeface="Agrandir Medium"/>
                </a:rPr>
                <a:t>Data Source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684321" y="4262653"/>
            <a:ext cx="6034815" cy="1166251"/>
            <a:chOff x="0" y="0"/>
            <a:chExt cx="1625605" cy="3141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25605" cy="314154"/>
            </a:xfrm>
            <a:custGeom>
              <a:avLst/>
              <a:gdLst/>
              <a:ahLst/>
              <a:cxnLst/>
              <a:rect r="r" b="b" t="t" l="l"/>
              <a:pathLst>
                <a:path h="314154" w="1625605">
                  <a:moveTo>
                    <a:pt x="1625605" y="128288"/>
                  </a:moveTo>
                  <a:lnTo>
                    <a:pt x="1625605" y="185867"/>
                  </a:lnTo>
                  <a:cubicBezTo>
                    <a:pt x="1625605" y="256718"/>
                    <a:pt x="1568169" y="314154"/>
                    <a:pt x="1497318" y="314154"/>
                  </a:cubicBezTo>
                  <a:lnTo>
                    <a:pt x="128288" y="314154"/>
                  </a:lnTo>
                  <a:cubicBezTo>
                    <a:pt x="57436" y="314154"/>
                    <a:pt x="0" y="256718"/>
                    <a:pt x="0" y="185867"/>
                  </a:cubicBezTo>
                  <a:lnTo>
                    <a:pt x="0" y="128288"/>
                  </a:lnTo>
                  <a:cubicBezTo>
                    <a:pt x="0" y="57436"/>
                    <a:pt x="57436" y="0"/>
                    <a:pt x="128288" y="0"/>
                  </a:cubicBezTo>
                  <a:lnTo>
                    <a:pt x="1497318" y="0"/>
                  </a:lnTo>
                  <a:cubicBezTo>
                    <a:pt x="1531342" y="0"/>
                    <a:pt x="1563972" y="13516"/>
                    <a:pt x="1588031" y="37575"/>
                  </a:cubicBezTo>
                  <a:cubicBezTo>
                    <a:pt x="1612089" y="61633"/>
                    <a:pt x="1625605" y="94264"/>
                    <a:pt x="1625605" y="1282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61950"/>
              <a:ext cx="1625605" cy="676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906767" indent="-453384" lvl="1">
                <a:lnSpc>
                  <a:spcPts val="7559"/>
                </a:lnSpc>
                <a:buAutoNum type="arabicPeriod" startAt="1"/>
              </a:pPr>
              <a:r>
                <a:rPr lang="en-US" b="true" sz="4199">
                  <a:solidFill>
                    <a:srgbClr val="000000"/>
                  </a:solidFill>
                  <a:latin typeface="Agrandir Medium"/>
                  <a:ea typeface="Agrandir Medium"/>
                  <a:cs typeface="Agrandir Medium"/>
                  <a:sym typeface="Agrandir Medium"/>
                </a:rPr>
                <a:t>Dashboards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684321" y="6073895"/>
            <a:ext cx="6034815" cy="1166251"/>
            <a:chOff x="0" y="0"/>
            <a:chExt cx="1625605" cy="31415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25605" cy="314154"/>
            </a:xfrm>
            <a:custGeom>
              <a:avLst/>
              <a:gdLst/>
              <a:ahLst/>
              <a:cxnLst/>
              <a:rect r="r" b="b" t="t" l="l"/>
              <a:pathLst>
                <a:path h="314154" w="1625605">
                  <a:moveTo>
                    <a:pt x="1625605" y="128288"/>
                  </a:moveTo>
                  <a:lnTo>
                    <a:pt x="1625605" y="185867"/>
                  </a:lnTo>
                  <a:cubicBezTo>
                    <a:pt x="1625605" y="256718"/>
                    <a:pt x="1568169" y="314154"/>
                    <a:pt x="1497318" y="314154"/>
                  </a:cubicBezTo>
                  <a:lnTo>
                    <a:pt x="128288" y="314154"/>
                  </a:lnTo>
                  <a:cubicBezTo>
                    <a:pt x="57436" y="314154"/>
                    <a:pt x="0" y="256718"/>
                    <a:pt x="0" y="185867"/>
                  </a:cubicBezTo>
                  <a:lnTo>
                    <a:pt x="0" y="128288"/>
                  </a:lnTo>
                  <a:cubicBezTo>
                    <a:pt x="0" y="57436"/>
                    <a:pt x="57436" y="0"/>
                    <a:pt x="128288" y="0"/>
                  </a:cubicBezTo>
                  <a:lnTo>
                    <a:pt x="1497318" y="0"/>
                  </a:lnTo>
                  <a:cubicBezTo>
                    <a:pt x="1531342" y="0"/>
                    <a:pt x="1563972" y="13516"/>
                    <a:pt x="1588031" y="37575"/>
                  </a:cubicBezTo>
                  <a:cubicBezTo>
                    <a:pt x="1612089" y="61633"/>
                    <a:pt x="1625605" y="94264"/>
                    <a:pt x="1625605" y="1282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61950"/>
              <a:ext cx="1625605" cy="676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906767" indent="-453384" lvl="1">
                <a:lnSpc>
                  <a:spcPts val="7559"/>
                </a:lnSpc>
                <a:buAutoNum type="arabicPeriod" startAt="1"/>
              </a:pPr>
              <a:r>
                <a:rPr lang="en-US" b="true" sz="4199">
                  <a:solidFill>
                    <a:srgbClr val="000000"/>
                  </a:solidFill>
                  <a:latin typeface="Agrandir Medium"/>
                  <a:ea typeface="Agrandir Medium"/>
                  <a:cs typeface="Agrandir Medium"/>
                  <a:sym typeface="Agrandir Medium"/>
                </a:rPr>
                <a:t> Key Insights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C6F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5087600" cy="960120"/>
            <a:chOff x="0" y="0"/>
            <a:chExt cx="2011680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0116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Idea &amp; The 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537460"/>
            <a:ext cx="5143500" cy="2948940"/>
            <a:chOff x="0" y="0"/>
            <a:chExt cx="6858000" cy="3931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58000" cy="3931920"/>
            </a:xfrm>
            <a:custGeom>
              <a:avLst/>
              <a:gdLst/>
              <a:ahLst/>
              <a:cxnLst/>
              <a:rect r="r" b="b" t="t" l="l"/>
              <a:pathLst>
                <a:path h="393192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785616"/>
                  </a:lnTo>
                  <a:cubicBezTo>
                    <a:pt x="6858000" y="3866388"/>
                    <a:pt x="6792468" y="3931920"/>
                    <a:pt x="6711696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24712" y="4210812"/>
            <a:ext cx="4539996" cy="1165860"/>
            <a:chOff x="0" y="0"/>
            <a:chExt cx="6053328" cy="15544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53328" cy="1554480"/>
            </a:xfrm>
            <a:custGeom>
              <a:avLst/>
              <a:gdLst/>
              <a:ahLst/>
              <a:cxnLst/>
              <a:rect r="r" b="b" t="t" l="l"/>
              <a:pathLst>
                <a:path h="155448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77" r="0" b="-2587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6053328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738"/>
                </a:lnSpc>
                <a:spcBef>
                  <a:spcPct val="0"/>
                </a:spcBef>
              </a:pPr>
              <a:r>
                <a:rPr lang="en-US" sz="2074" strike="noStrike" u="none">
                  <a:solidFill>
                    <a:srgbClr val="5B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GBD, WHO, CDC &amp; national registries scattered across sources — no unified analytical platform.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50508" y="2537460"/>
            <a:ext cx="5143500" cy="2948940"/>
            <a:chOff x="0" y="0"/>
            <a:chExt cx="6858000" cy="3931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58000" cy="3931920"/>
            </a:xfrm>
            <a:custGeom>
              <a:avLst/>
              <a:gdLst/>
              <a:ahLst/>
              <a:cxnLst/>
              <a:rect r="r" b="b" t="t" l="l"/>
              <a:pathLst>
                <a:path h="393192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785616"/>
                  </a:lnTo>
                  <a:cubicBezTo>
                    <a:pt x="6858000" y="3866388"/>
                    <a:pt x="6792468" y="3931920"/>
                    <a:pt x="6711696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38060" y="2909697"/>
            <a:ext cx="4539996" cy="548640"/>
            <a:chOff x="0" y="0"/>
            <a:chExt cx="6053328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53328" cy="731520"/>
            </a:xfrm>
            <a:custGeom>
              <a:avLst/>
              <a:gdLst/>
              <a:ahLst/>
              <a:cxnLst/>
              <a:rect r="r" b="b" t="t" l="l"/>
              <a:pathLst>
                <a:path h="73152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238" r="0" b="-11123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605332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652260" y="3936492"/>
            <a:ext cx="4539996" cy="1165860"/>
            <a:chOff x="0" y="0"/>
            <a:chExt cx="6053328" cy="15544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53328" cy="1554480"/>
            </a:xfrm>
            <a:custGeom>
              <a:avLst/>
              <a:gdLst/>
              <a:ahLst/>
              <a:cxnLst/>
              <a:rect r="r" b="b" t="t" l="l"/>
              <a:pathLst>
                <a:path h="155448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77" r="0" b="-2587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6053328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8"/>
                </a:lnSpc>
              </a:pPr>
              <a:r>
                <a:rPr lang="en-US" sz="2074">
                  <a:solidFill>
                    <a:srgbClr val="5B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Clinicians respond after attacks happen; predictive tools that flag high-risk patients early are rare.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78056" y="2537460"/>
            <a:ext cx="5143500" cy="2948940"/>
            <a:chOff x="0" y="0"/>
            <a:chExt cx="6858000" cy="393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58000" cy="3931920"/>
            </a:xfrm>
            <a:custGeom>
              <a:avLst/>
              <a:gdLst/>
              <a:ahLst/>
              <a:cxnLst/>
              <a:rect r="r" b="b" t="t" l="l"/>
              <a:pathLst>
                <a:path h="393192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785616"/>
                  </a:lnTo>
                  <a:cubicBezTo>
                    <a:pt x="6858000" y="3866388"/>
                    <a:pt x="6792468" y="3931920"/>
                    <a:pt x="6711696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179808" y="4210812"/>
            <a:ext cx="4539996" cy="1165860"/>
            <a:chOff x="0" y="0"/>
            <a:chExt cx="6053328" cy="1554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53328" cy="1554480"/>
            </a:xfrm>
            <a:custGeom>
              <a:avLst/>
              <a:gdLst/>
              <a:ahLst/>
              <a:cxnLst/>
              <a:rect r="r" b="b" t="t" l="l"/>
              <a:pathLst>
                <a:path h="155448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77" r="0" b="-2587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6053328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738"/>
                </a:lnSpc>
                <a:spcBef>
                  <a:spcPct val="0"/>
                </a:spcBef>
              </a:pPr>
              <a:r>
                <a:rPr lang="en-US" sz="2074" strike="noStrike" u="none">
                  <a:solidFill>
                    <a:srgbClr val="5B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304,776 rows across 204 countries existed only as a raw CSV — unusable for non-technical stakeholders.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5829300"/>
            <a:ext cx="5143500" cy="2948940"/>
            <a:chOff x="0" y="0"/>
            <a:chExt cx="6858000" cy="3931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58000" cy="3931920"/>
            </a:xfrm>
            <a:custGeom>
              <a:avLst/>
              <a:gdLst/>
              <a:ahLst/>
              <a:cxnLst/>
              <a:rect r="r" b="b" t="t" l="l"/>
              <a:pathLst>
                <a:path h="393192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785616"/>
                  </a:lnTo>
                  <a:cubicBezTo>
                    <a:pt x="6858000" y="3866388"/>
                    <a:pt x="6792468" y="3931920"/>
                    <a:pt x="6711696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24712" y="7502652"/>
            <a:ext cx="4539996" cy="1165860"/>
            <a:chOff x="0" y="0"/>
            <a:chExt cx="6053328" cy="15544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53328" cy="1554480"/>
            </a:xfrm>
            <a:custGeom>
              <a:avLst/>
              <a:gdLst/>
              <a:ahLst/>
              <a:cxnLst/>
              <a:rect r="r" b="b" t="t" l="l"/>
              <a:pathLst>
                <a:path h="155448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77" r="0" b="-2587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6053328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738"/>
                </a:lnSpc>
                <a:spcBef>
                  <a:spcPct val="0"/>
                </a:spcBef>
              </a:pPr>
              <a:r>
                <a:rPr lang="en-US" sz="2074" strike="noStrike" u="none">
                  <a:solidFill>
                    <a:srgbClr val="5B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5.2% national prevalence &amp; 26.5% pediatric burden are underreported vs. Western datasets.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350508" y="5829300"/>
            <a:ext cx="5143500" cy="2948940"/>
            <a:chOff x="0" y="0"/>
            <a:chExt cx="6858000" cy="39319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58000" cy="3931920"/>
            </a:xfrm>
            <a:custGeom>
              <a:avLst/>
              <a:gdLst/>
              <a:ahLst/>
              <a:cxnLst/>
              <a:rect r="r" b="b" t="t" l="l"/>
              <a:pathLst>
                <a:path h="393192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785616"/>
                  </a:lnTo>
                  <a:cubicBezTo>
                    <a:pt x="6858000" y="3866388"/>
                    <a:pt x="6792468" y="3931920"/>
                    <a:pt x="6711696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652260" y="7303770"/>
            <a:ext cx="4539996" cy="1364742"/>
            <a:chOff x="0" y="0"/>
            <a:chExt cx="6053328" cy="18196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53328" cy="1819656"/>
            </a:xfrm>
            <a:custGeom>
              <a:avLst/>
              <a:gdLst/>
              <a:ahLst/>
              <a:cxnLst/>
              <a:rect r="r" b="b" t="t" l="l"/>
              <a:pathLst>
                <a:path h="1819656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1819656"/>
                  </a:lnTo>
                  <a:lnTo>
                    <a:pt x="0" y="18196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06" r="0" b="-753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6053328" cy="1886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738"/>
                </a:lnSpc>
                <a:spcBef>
                  <a:spcPct val="0"/>
                </a:spcBef>
              </a:pPr>
              <a:r>
                <a:rPr lang="en-US" sz="2074" strike="noStrike" u="none">
                  <a:solidFill>
                    <a:srgbClr val="5B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tool combined epidemiology + patient ML + a conversational assistant together.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878056" y="5829300"/>
            <a:ext cx="5143500" cy="2948940"/>
            <a:chOff x="0" y="0"/>
            <a:chExt cx="6858000" cy="39319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58000" cy="3931920"/>
            </a:xfrm>
            <a:custGeom>
              <a:avLst/>
              <a:gdLst/>
              <a:ahLst/>
              <a:cxnLst/>
              <a:rect r="r" b="b" t="t" l="l"/>
              <a:pathLst>
                <a:path h="3931920" w="6858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711696" y="0"/>
                  </a:lnTo>
                  <a:cubicBezTo>
                    <a:pt x="6792468" y="0"/>
                    <a:pt x="6858000" y="65532"/>
                    <a:pt x="6858000" y="146304"/>
                  </a:cubicBezTo>
                  <a:lnTo>
                    <a:pt x="6858000" y="3785616"/>
                  </a:lnTo>
                  <a:cubicBezTo>
                    <a:pt x="6858000" y="3866388"/>
                    <a:pt x="6792468" y="3931920"/>
                    <a:pt x="6711696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179808" y="7502652"/>
            <a:ext cx="4539996" cy="1165860"/>
            <a:chOff x="0" y="0"/>
            <a:chExt cx="6053328" cy="15544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53328" cy="1554480"/>
            </a:xfrm>
            <a:custGeom>
              <a:avLst/>
              <a:gdLst/>
              <a:ahLst/>
              <a:cxnLst/>
              <a:rect r="r" b="b" t="t" l="l"/>
              <a:pathLst>
                <a:path h="1554480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77" r="0" b="-2587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6053328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738"/>
                </a:lnSpc>
                <a:spcBef>
                  <a:spcPct val="0"/>
                </a:spcBef>
              </a:pPr>
              <a:r>
                <a:rPr lang="en-US" sz="2074" strike="noStrike" u="none">
                  <a:solidFill>
                    <a:srgbClr val="5B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Only 5.2% of the 2,392-patient dataset is diagnosed — standard models miss real cases.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327423" y="9669780"/>
            <a:ext cx="548640" cy="411480"/>
            <a:chOff x="0" y="0"/>
            <a:chExt cx="73152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652260" y="2841117"/>
            <a:ext cx="3893058" cy="809812"/>
            <a:chOff x="0" y="0"/>
            <a:chExt cx="1025332" cy="2132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5332" cy="213284"/>
            </a:xfrm>
            <a:custGeom>
              <a:avLst/>
              <a:gdLst/>
              <a:ahLst/>
              <a:cxnLst/>
              <a:rect r="r" b="b" t="t" l="l"/>
              <a:pathLst>
                <a:path h="213284" w="1025332">
                  <a:moveTo>
                    <a:pt x="106642" y="0"/>
                  </a:moveTo>
                  <a:lnTo>
                    <a:pt x="918690" y="0"/>
                  </a:lnTo>
                  <a:cubicBezTo>
                    <a:pt x="977587" y="0"/>
                    <a:pt x="1025332" y="47745"/>
                    <a:pt x="1025332" y="106642"/>
                  </a:cubicBezTo>
                  <a:lnTo>
                    <a:pt x="1025332" y="106642"/>
                  </a:lnTo>
                  <a:cubicBezTo>
                    <a:pt x="1025332" y="134925"/>
                    <a:pt x="1014097" y="162050"/>
                    <a:pt x="994097" y="182049"/>
                  </a:cubicBezTo>
                  <a:cubicBezTo>
                    <a:pt x="974098" y="202048"/>
                    <a:pt x="946973" y="213284"/>
                    <a:pt x="918690" y="213284"/>
                  </a:cubicBezTo>
                  <a:lnTo>
                    <a:pt x="106642" y="213284"/>
                  </a:lnTo>
                  <a:cubicBezTo>
                    <a:pt x="78359" y="213284"/>
                    <a:pt x="51234" y="202048"/>
                    <a:pt x="31235" y="182049"/>
                  </a:cubicBezTo>
                  <a:cubicBezTo>
                    <a:pt x="11235" y="162050"/>
                    <a:pt x="0" y="134925"/>
                    <a:pt x="0" y="106642"/>
                  </a:cubicBezTo>
                  <a:lnTo>
                    <a:pt x="0" y="106642"/>
                  </a:lnTo>
                  <a:cubicBezTo>
                    <a:pt x="0" y="78359"/>
                    <a:pt x="11235" y="51234"/>
                    <a:pt x="31235" y="31235"/>
                  </a:cubicBezTo>
                  <a:cubicBezTo>
                    <a:pt x="51234" y="11235"/>
                    <a:pt x="78359" y="0"/>
                    <a:pt x="106642" y="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025332" cy="260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Reactive, Not Proactive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652260" y="2841117"/>
            <a:ext cx="821055" cy="821055"/>
            <a:chOff x="0" y="0"/>
            <a:chExt cx="91440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⏱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624847" y="2841117"/>
            <a:ext cx="3893058" cy="809812"/>
            <a:chOff x="0" y="0"/>
            <a:chExt cx="1025332" cy="2132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5332" cy="213284"/>
            </a:xfrm>
            <a:custGeom>
              <a:avLst/>
              <a:gdLst/>
              <a:ahLst/>
              <a:cxnLst/>
              <a:rect r="r" b="b" t="t" l="l"/>
              <a:pathLst>
                <a:path h="213284" w="1025332">
                  <a:moveTo>
                    <a:pt x="106642" y="0"/>
                  </a:moveTo>
                  <a:lnTo>
                    <a:pt x="918690" y="0"/>
                  </a:lnTo>
                  <a:cubicBezTo>
                    <a:pt x="977587" y="0"/>
                    <a:pt x="1025332" y="47745"/>
                    <a:pt x="1025332" y="106642"/>
                  </a:cubicBezTo>
                  <a:lnTo>
                    <a:pt x="1025332" y="106642"/>
                  </a:lnTo>
                  <a:cubicBezTo>
                    <a:pt x="1025332" y="134925"/>
                    <a:pt x="1014097" y="162050"/>
                    <a:pt x="994097" y="182049"/>
                  </a:cubicBezTo>
                  <a:cubicBezTo>
                    <a:pt x="974098" y="202048"/>
                    <a:pt x="946973" y="213284"/>
                    <a:pt x="918690" y="213284"/>
                  </a:cubicBezTo>
                  <a:lnTo>
                    <a:pt x="106642" y="213284"/>
                  </a:lnTo>
                  <a:cubicBezTo>
                    <a:pt x="78359" y="213284"/>
                    <a:pt x="51234" y="202048"/>
                    <a:pt x="31235" y="182049"/>
                  </a:cubicBezTo>
                  <a:cubicBezTo>
                    <a:pt x="11235" y="162050"/>
                    <a:pt x="0" y="134925"/>
                    <a:pt x="0" y="106642"/>
                  </a:cubicBezTo>
                  <a:lnTo>
                    <a:pt x="0" y="106642"/>
                  </a:lnTo>
                  <a:cubicBezTo>
                    <a:pt x="0" y="78359"/>
                    <a:pt x="11235" y="51234"/>
                    <a:pt x="31235" y="31235"/>
                  </a:cubicBezTo>
                  <a:cubicBezTo>
                    <a:pt x="51234" y="11235"/>
                    <a:pt x="78359" y="0"/>
                    <a:pt x="106642" y="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25332" cy="260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Interactive View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624847" y="2965129"/>
            <a:ext cx="685800" cy="685800"/>
            <a:chOff x="0" y="0"/>
            <a:chExt cx="91440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99811" y="2852360"/>
            <a:ext cx="3893058" cy="809812"/>
            <a:chOff x="0" y="0"/>
            <a:chExt cx="1025332" cy="2132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5332" cy="213284"/>
            </a:xfrm>
            <a:custGeom>
              <a:avLst/>
              <a:gdLst/>
              <a:ahLst/>
              <a:cxnLst/>
              <a:rect r="r" b="b" t="t" l="l"/>
              <a:pathLst>
                <a:path h="213284" w="1025332">
                  <a:moveTo>
                    <a:pt x="106642" y="0"/>
                  </a:moveTo>
                  <a:lnTo>
                    <a:pt x="918690" y="0"/>
                  </a:lnTo>
                  <a:cubicBezTo>
                    <a:pt x="977587" y="0"/>
                    <a:pt x="1025332" y="47745"/>
                    <a:pt x="1025332" y="106642"/>
                  </a:cubicBezTo>
                  <a:lnTo>
                    <a:pt x="1025332" y="106642"/>
                  </a:lnTo>
                  <a:cubicBezTo>
                    <a:pt x="1025332" y="134925"/>
                    <a:pt x="1014097" y="162050"/>
                    <a:pt x="994097" y="182049"/>
                  </a:cubicBezTo>
                  <a:cubicBezTo>
                    <a:pt x="974098" y="202048"/>
                    <a:pt x="946973" y="213284"/>
                    <a:pt x="918690" y="213284"/>
                  </a:cubicBezTo>
                  <a:lnTo>
                    <a:pt x="106642" y="213284"/>
                  </a:lnTo>
                  <a:cubicBezTo>
                    <a:pt x="78359" y="213284"/>
                    <a:pt x="51234" y="202048"/>
                    <a:pt x="31235" y="182049"/>
                  </a:cubicBezTo>
                  <a:cubicBezTo>
                    <a:pt x="11235" y="162050"/>
                    <a:pt x="0" y="134925"/>
                    <a:pt x="0" y="106642"/>
                  </a:cubicBezTo>
                  <a:lnTo>
                    <a:pt x="0" y="106642"/>
                  </a:lnTo>
                  <a:cubicBezTo>
                    <a:pt x="0" y="78359"/>
                    <a:pt x="11235" y="51234"/>
                    <a:pt x="31235" y="31235"/>
                  </a:cubicBezTo>
                  <a:cubicBezTo>
                    <a:pt x="51234" y="11235"/>
                    <a:pt x="78359" y="0"/>
                    <a:pt x="106642" y="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25332" cy="260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</a:t>
              </a:r>
              <a:r>
                <a:rPr lang="en-US" b="true" sz="21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agmented Data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74910" y="2914366"/>
            <a:ext cx="685800" cy="685800"/>
            <a:chOff x="0" y="0"/>
            <a:chExt cx="914400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🌐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503277" y="6086475"/>
            <a:ext cx="3893058" cy="809812"/>
            <a:chOff x="0" y="0"/>
            <a:chExt cx="1025332" cy="21328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5332" cy="213284"/>
            </a:xfrm>
            <a:custGeom>
              <a:avLst/>
              <a:gdLst/>
              <a:ahLst/>
              <a:cxnLst/>
              <a:rect r="r" b="b" t="t" l="l"/>
              <a:pathLst>
                <a:path h="213284" w="1025332">
                  <a:moveTo>
                    <a:pt x="106642" y="0"/>
                  </a:moveTo>
                  <a:lnTo>
                    <a:pt x="918690" y="0"/>
                  </a:lnTo>
                  <a:cubicBezTo>
                    <a:pt x="977587" y="0"/>
                    <a:pt x="1025332" y="47745"/>
                    <a:pt x="1025332" y="106642"/>
                  </a:cubicBezTo>
                  <a:lnTo>
                    <a:pt x="1025332" y="106642"/>
                  </a:lnTo>
                  <a:cubicBezTo>
                    <a:pt x="1025332" y="134925"/>
                    <a:pt x="1014097" y="162050"/>
                    <a:pt x="994097" y="182049"/>
                  </a:cubicBezTo>
                  <a:cubicBezTo>
                    <a:pt x="974098" y="202048"/>
                    <a:pt x="946973" y="213284"/>
                    <a:pt x="918690" y="213284"/>
                  </a:cubicBezTo>
                  <a:lnTo>
                    <a:pt x="106642" y="213284"/>
                  </a:lnTo>
                  <a:cubicBezTo>
                    <a:pt x="78359" y="213284"/>
                    <a:pt x="51234" y="202048"/>
                    <a:pt x="31235" y="182049"/>
                  </a:cubicBezTo>
                  <a:cubicBezTo>
                    <a:pt x="11235" y="162050"/>
                    <a:pt x="0" y="134925"/>
                    <a:pt x="0" y="106642"/>
                  </a:cubicBezTo>
                  <a:lnTo>
                    <a:pt x="0" y="106642"/>
                  </a:lnTo>
                  <a:cubicBezTo>
                    <a:pt x="0" y="78359"/>
                    <a:pt x="11235" y="51234"/>
                    <a:pt x="31235" y="31235"/>
                  </a:cubicBezTo>
                  <a:cubicBezTo>
                    <a:pt x="51234" y="11235"/>
                    <a:pt x="78359" y="0"/>
                    <a:pt x="106642" y="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025332" cy="260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</a:t>
              </a:r>
              <a:r>
                <a:rPr lang="en-US" b="true" sz="21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evere Class Imbalance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624847" y="6144200"/>
            <a:ext cx="685800" cy="685800"/>
            <a:chOff x="0" y="0"/>
            <a:chExt cx="914400" cy="914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⚖️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652260" y="6144200"/>
            <a:ext cx="3893058" cy="809812"/>
            <a:chOff x="0" y="0"/>
            <a:chExt cx="1025332" cy="2132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25332" cy="213284"/>
            </a:xfrm>
            <a:custGeom>
              <a:avLst/>
              <a:gdLst/>
              <a:ahLst/>
              <a:cxnLst/>
              <a:rect r="r" b="b" t="t" l="l"/>
              <a:pathLst>
                <a:path h="213284" w="1025332">
                  <a:moveTo>
                    <a:pt x="106642" y="0"/>
                  </a:moveTo>
                  <a:lnTo>
                    <a:pt x="918690" y="0"/>
                  </a:lnTo>
                  <a:cubicBezTo>
                    <a:pt x="977587" y="0"/>
                    <a:pt x="1025332" y="47745"/>
                    <a:pt x="1025332" y="106642"/>
                  </a:cubicBezTo>
                  <a:lnTo>
                    <a:pt x="1025332" y="106642"/>
                  </a:lnTo>
                  <a:cubicBezTo>
                    <a:pt x="1025332" y="134925"/>
                    <a:pt x="1014097" y="162050"/>
                    <a:pt x="994097" y="182049"/>
                  </a:cubicBezTo>
                  <a:cubicBezTo>
                    <a:pt x="974098" y="202048"/>
                    <a:pt x="946973" y="213284"/>
                    <a:pt x="918690" y="213284"/>
                  </a:cubicBezTo>
                  <a:lnTo>
                    <a:pt x="106642" y="213284"/>
                  </a:lnTo>
                  <a:cubicBezTo>
                    <a:pt x="78359" y="213284"/>
                    <a:pt x="51234" y="202048"/>
                    <a:pt x="31235" y="182049"/>
                  </a:cubicBezTo>
                  <a:cubicBezTo>
                    <a:pt x="11235" y="162050"/>
                    <a:pt x="0" y="134925"/>
                    <a:pt x="0" y="106642"/>
                  </a:cubicBezTo>
                  <a:lnTo>
                    <a:pt x="0" y="106642"/>
                  </a:lnTo>
                  <a:cubicBezTo>
                    <a:pt x="0" y="78359"/>
                    <a:pt x="11235" y="51234"/>
                    <a:pt x="31235" y="31235"/>
                  </a:cubicBezTo>
                  <a:cubicBezTo>
                    <a:pt x="51234" y="11235"/>
                    <a:pt x="78359" y="0"/>
                    <a:pt x="106642" y="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025332" cy="260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AI Integration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787515" y="6206206"/>
            <a:ext cx="685800" cy="685800"/>
            <a:chOff x="0" y="0"/>
            <a:chExt cx="914400" cy="9144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🤖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42711" y="6144200"/>
            <a:ext cx="3893058" cy="809812"/>
            <a:chOff x="0" y="0"/>
            <a:chExt cx="1025332" cy="21328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25332" cy="213284"/>
            </a:xfrm>
            <a:custGeom>
              <a:avLst/>
              <a:gdLst/>
              <a:ahLst/>
              <a:cxnLst/>
              <a:rect r="r" b="b" t="t" l="l"/>
              <a:pathLst>
                <a:path h="213284" w="1025332">
                  <a:moveTo>
                    <a:pt x="106642" y="0"/>
                  </a:moveTo>
                  <a:lnTo>
                    <a:pt x="918690" y="0"/>
                  </a:lnTo>
                  <a:cubicBezTo>
                    <a:pt x="977587" y="0"/>
                    <a:pt x="1025332" y="47745"/>
                    <a:pt x="1025332" y="106642"/>
                  </a:cubicBezTo>
                  <a:lnTo>
                    <a:pt x="1025332" y="106642"/>
                  </a:lnTo>
                  <a:cubicBezTo>
                    <a:pt x="1025332" y="134925"/>
                    <a:pt x="1014097" y="162050"/>
                    <a:pt x="994097" y="182049"/>
                  </a:cubicBezTo>
                  <a:cubicBezTo>
                    <a:pt x="974098" y="202048"/>
                    <a:pt x="946973" y="213284"/>
                    <a:pt x="918690" y="213284"/>
                  </a:cubicBezTo>
                  <a:lnTo>
                    <a:pt x="106642" y="213284"/>
                  </a:lnTo>
                  <a:cubicBezTo>
                    <a:pt x="78359" y="213284"/>
                    <a:pt x="51234" y="202048"/>
                    <a:pt x="31235" y="182049"/>
                  </a:cubicBezTo>
                  <a:cubicBezTo>
                    <a:pt x="11235" y="162050"/>
                    <a:pt x="0" y="134925"/>
                    <a:pt x="0" y="106642"/>
                  </a:cubicBezTo>
                  <a:lnTo>
                    <a:pt x="0" y="106642"/>
                  </a:lnTo>
                  <a:cubicBezTo>
                    <a:pt x="0" y="78359"/>
                    <a:pt x="11235" y="51234"/>
                    <a:pt x="31235" y="31235"/>
                  </a:cubicBezTo>
                  <a:cubicBezTo>
                    <a:pt x="51234" y="11235"/>
                    <a:pt x="78359" y="0"/>
                    <a:pt x="106642" y="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025332" cy="260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Egyp</a:t>
              </a:r>
              <a:r>
                <a:rPr lang="en-US" b="true" sz="21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 Underrepresented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642711" y="6206206"/>
            <a:ext cx="685800" cy="685800"/>
            <a:chOff x="0" y="0"/>
            <a:chExt cx="914400" cy="9144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🇪🇬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396" y="-174373"/>
            <a:ext cx="9441486" cy="10635746"/>
            <a:chOff x="0" y="0"/>
            <a:chExt cx="791796" cy="8919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1796" cy="891951"/>
            </a:xfrm>
            <a:custGeom>
              <a:avLst/>
              <a:gdLst/>
              <a:ahLst/>
              <a:cxnLst/>
              <a:rect r="r" b="b" t="t" l="l"/>
              <a:pathLst>
                <a:path h="891951" w="791796">
                  <a:moveTo>
                    <a:pt x="4484" y="0"/>
                  </a:moveTo>
                  <a:lnTo>
                    <a:pt x="787312" y="0"/>
                  </a:lnTo>
                  <a:cubicBezTo>
                    <a:pt x="789789" y="0"/>
                    <a:pt x="791796" y="2008"/>
                    <a:pt x="791796" y="4484"/>
                  </a:cubicBezTo>
                  <a:lnTo>
                    <a:pt x="791796" y="887467"/>
                  </a:lnTo>
                  <a:cubicBezTo>
                    <a:pt x="791796" y="889944"/>
                    <a:pt x="789789" y="891951"/>
                    <a:pt x="787312" y="891951"/>
                  </a:cubicBezTo>
                  <a:lnTo>
                    <a:pt x="4484" y="891951"/>
                  </a:lnTo>
                  <a:cubicBezTo>
                    <a:pt x="2008" y="891951"/>
                    <a:pt x="0" y="889944"/>
                    <a:pt x="0" y="887467"/>
                  </a:cubicBezTo>
                  <a:lnTo>
                    <a:pt x="0" y="4484"/>
                  </a:lnTo>
                  <a:cubicBezTo>
                    <a:pt x="0" y="2008"/>
                    <a:pt x="2008" y="0"/>
                    <a:pt x="4484" y="0"/>
                  </a:cubicBezTo>
                  <a:close/>
                </a:path>
              </a:pathLst>
            </a:custGeom>
            <a:solidFill>
              <a:srgbClr val="9FEFB6"/>
            </a:solidFill>
            <a:ln w="19050" cap="sq">
              <a:solidFill>
                <a:srgbClr val="6C6FD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791796" cy="1044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87898" y="665799"/>
            <a:ext cx="8322480" cy="4172901"/>
            <a:chOff x="0" y="0"/>
            <a:chExt cx="2062566" cy="1034173"/>
          </a:xfrm>
        </p:grpSpPr>
        <p:sp>
          <p:nvSpPr>
            <p:cNvPr name="Freeform 6" id="6">
              <a:hlinkClick r:id="rId2" tooltip="https://vizhub.healthdata.org/gbd-results/"/>
            </p:cNvPr>
            <p:cNvSpPr/>
            <p:nvPr/>
          </p:nvSpPr>
          <p:spPr>
            <a:xfrm flipH="false" flipV="false" rot="0">
              <a:off x="0" y="0"/>
              <a:ext cx="2062566" cy="1034173"/>
            </a:xfrm>
            <a:custGeom>
              <a:avLst/>
              <a:gdLst/>
              <a:ahLst/>
              <a:cxnLst/>
              <a:rect r="r" b="b" t="t" l="l"/>
              <a:pathLst>
                <a:path h="1034173" w="2062566">
                  <a:moveTo>
                    <a:pt x="13954" y="0"/>
                  </a:moveTo>
                  <a:lnTo>
                    <a:pt x="2048613" y="0"/>
                  </a:lnTo>
                  <a:cubicBezTo>
                    <a:pt x="2052313" y="0"/>
                    <a:pt x="2055862" y="1470"/>
                    <a:pt x="2058479" y="4087"/>
                  </a:cubicBezTo>
                  <a:cubicBezTo>
                    <a:pt x="2061096" y="6704"/>
                    <a:pt x="2062566" y="10253"/>
                    <a:pt x="2062566" y="13954"/>
                  </a:cubicBezTo>
                  <a:lnTo>
                    <a:pt x="2062566" y="1020219"/>
                  </a:lnTo>
                  <a:cubicBezTo>
                    <a:pt x="2062566" y="1027926"/>
                    <a:pt x="2056319" y="1034173"/>
                    <a:pt x="2048613" y="1034173"/>
                  </a:cubicBezTo>
                  <a:lnTo>
                    <a:pt x="13954" y="1034173"/>
                  </a:lnTo>
                  <a:cubicBezTo>
                    <a:pt x="6247" y="1034173"/>
                    <a:pt x="0" y="1027926"/>
                    <a:pt x="0" y="1020219"/>
                  </a:cubicBezTo>
                  <a:lnTo>
                    <a:pt x="0" y="13954"/>
                  </a:lnTo>
                  <a:cubicBezTo>
                    <a:pt x="0" y="6247"/>
                    <a:pt x="6247" y="0"/>
                    <a:pt x="1395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7" r="0" b="-4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773218" y="9483295"/>
            <a:ext cx="4342790" cy="501651"/>
            <a:chOff x="0" y="0"/>
            <a:chExt cx="893578" cy="1032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3578" cy="103220"/>
            </a:xfrm>
            <a:custGeom>
              <a:avLst/>
              <a:gdLst/>
              <a:ahLst/>
              <a:cxnLst/>
              <a:rect r="r" b="b" t="t" l="l"/>
              <a:pathLst>
                <a:path h="103220" w="893578">
                  <a:moveTo>
                    <a:pt x="9749" y="0"/>
                  </a:moveTo>
                  <a:lnTo>
                    <a:pt x="883829" y="0"/>
                  </a:lnTo>
                  <a:cubicBezTo>
                    <a:pt x="889213" y="0"/>
                    <a:pt x="893578" y="4365"/>
                    <a:pt x="893578" y="9749"/>
                  </a:cubicBezTo>
                  <a:lnTo>
                    <a:pt x="893578" y="93471"/>
                  </a:lnTo>
                  <a:cubicBezTo>
                    <a:pt x="893578" y="96057"/>
                    <a:pt x="892551" y="98537"/>
                    <a:pt x="890723" y="100365"/>
                  </a:cubicBezTo>
                  <a:cubicBezTo>
                    <a:pt x="888894" y="102193"/>
                    <a:pt x="886415" y="103220"/>
                    <a:pt x="883829" y="103220"/>
                  </a:cubicBezTo>
                  <a:lnTo>
                    <a:pt x="9749" y="103220"/>
                  </a:lnTo>
                  <a:cubicBezTo>
                    <a:pt x="7164" y="103220"/>
                    <a:pt x="4684" y="102193"/>
                    <a:pt x="2855" y="100365"/>
                  </a:cubicBezTo>
                  <a:cubicBezTo>
                    <a:pt x="1027" y="98537"/>
                    <a:pt x="0" y="96057"/>
                    <a:pt x="0" y="93471"/>
                  </a:cubicBezTo>
                  <a:lnTo>
                    <a:pt x="0" y="9749"/>
                  </a:lnTo>
                  <a:cubicBezTo>
                    <a:pt x="0" y="7164"/>
                    <a:pt x="1027" y="4684"/>
                    <a:pt x="2855" y="2855"/>
                  </a:cubicBezTo>
                  <a:cubicBezTo>
                    <a:pt x="4684" y="1027"/>
                    <a:pt x="7164" y="0"/>
                    <a:pt x="9749" y="0"/>
                  </a:cubicBezTo>
                  <a:close/>
                </a:path>
              </a:pathLst>
            </a:custGeom>
            <a:solidFill>
              <a:srgbClr val="9FEFB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52400"/>
              <a:ext cx="893578" cy="25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079856" y="5977012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817975" y="8439534"/>
            <a:ext cx="2882650" cy="2264191"/>
          </a:xfrm>
          <a:custGeom>
            <a:avLst/>
            <a:gdLst/>
            <a:ahLst/>
            <a:cxnLst/>
            <a:rect r="r" b="b" t="t" l="l"/>
            <a:pathLst>
              <a:path h="2264191" w="2882650">
                <a:moveTo>
                  <a:pt x="0" y="0"/>
                </a:moveTo>
                <a:lnTo>
                  <a:pt x="2882650" y="0"/>
                </a:lnTo>
                <a:lnTo>
                  <a:pt x="2882650" y="2264191"/>
                </a:lnTo>
                <a:lnTo>
                  <a:pt x="0" y="22641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1108600" y="9571630"/>
            <a:ext cx="3086100" cy="826634"/>
            <a:chOff x="0" y="0"/>
            <a:chExt cx="711200" cy="190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1200" cy="190500"/>
            </a:xfrm>
            <a:custGeom>
              <a:avLst/>
              <a:gdLst/>
              <a:ahLst/>
              <a:cxnLst/>
              <a:rect r="r" b="b" t="t" l="l"/>
              <a:pathLst>
                <a:path h="190500" w="711200">
                  <a:moveTo>
                    <a:pt x="711200" y="0"/>
                  </a:moveTo>
                  <a:lnTo>
                    <a:pt x="711200" y="142894"/>
                  </a:lnTo>
                  <a:cubicBezTo>
                    <a:pt x="651933" y="142894"/>
                    <a:pt x="651933" y="190500"/>
                    <a:pt x="592667" y="190500"/>
                  </a:cubicBezTo>
                  <a:cubicBezTo>
                    <a:pt x="533381" y="190500"/>
                    <a:pt x="533381" y="142894"/>
                    <a:pt x="474115" y="142894"/>
                  </a:cubicBezTo>
                  <a:cubicBezTo>
                    <a:pt x="414848" y="142894"/>
                    <a:pt x="414848" y="190500"/>
                    <a:pt x="355581" y="190500"/>
                  </a:cubicBezTo>
                  <a:cubicBezTo>
                    <a:pt x="296315" y="190500"/>
                    <a:pt x="296315" y="142894"/>
                    <a:pt x="237048" y="142894"/>
                  </a:cubicBezTo>
                  <a:cubicBezTo>
                    <a:pt x="177781" y="142894"/>
                    <a:pt x="177781" y="190500"/>
                    <a:pt x="118533" y="190500"/>
                  </a:cubicBezTo>
                  <a:cubicBezTo>
                    <a:pt x="59267" y="190500"/>
                    <a:pt x="59267" y="142894"/>
                    <a:pt x="0" y="142894"/>
                  </a:cubicBezTo>
                  <a:lnTo>
                    <a:pt x="0" y="0"/>
                  </a:lnTo>
                  <a:cubicBezTo>
                    <a:pt x="59267" y="0"/>
                    <a:pt x="59267" y="47606"/>
                    <a:pt x="118533" y="47606"/>
                  </a:cubicBezTo>
                  <a:cubicBezTo>
                    <a:pt x="177781" y="47606"/>
                    <a:pt x="177781" y="0"/>
                    <a:pt x="237048" y="0"/>
                  </a:cubicBezTo>
                  <a:cubicBezTo>
                    <a:pt x="296315" y="0"/>
                    <a:pt x="296315" y="47606"/>
                    <a:pt x="355581" y="47606"/>
                  </a:cubicBezTo>
                  <a:cubicBezTo>
                    <a:pt x="414848" y="47606"/>
                    <a:pt x="414848" y="0"/>
                    <a:pt x="474115" y="0"/>
                  </a:cubicBezTo>
                  <a:cubicBezTo>
                    <a:pt x="533381" y="0"/>
                    <a:pt x="533381" y="47606"/>
                    <a:pt x="592667" y="47606"/>
                  </a:cubicBezTo>
                  <a:cubicBezTo>
                    <a:pt x="651933" y="47606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6C6FD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01600"/>
              <a:ext cx="711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087765" y="-1272442"/>
            <a:ext cx="2400469" cy="2400469"/>
            <a:chOff x="0" y="0"/>
            <a:chExt cx="558800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6C6FD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44450" y="-107950"/>
              <a:ext cx="4699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184295" y="680353"/>
            <a:ext cx="6582751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3"/>
              </a:lnSpc>
            </a:pPr>
            <a:r>
              <a:rPr lang="en-US" sz="6002" b="true">
                <a:solidFill>
                  <a:srgbClr val="6C6FDB"/>
                </a:solidFill>
                <a:latin typeface="Loubag Bold"/>
                <a:ea typeface="Loubag Bold"/>
                <a:cs typeface="Loubag Bold"/>
                <a:sym typeface="Loubag Bold"/>
              </a:rPr>
              <a:t>Data Source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87898" y="5143500"/>
            <a:ext cx="8322480" cy="4121184"/>
            <a:chOff x="0" y="0"/>
            <a:chExt cx="949639" cy="470249"/>
          </a:xfrm>
        </p:grpSpPr>
        <p:sp>
          <p:nvSpPr>
            <p:cNvPr name="Freeform 20" id="20">
              <a:hlinkClick r:id="rId8" tooltip="https://ourworldindata.org/grapher/asthma-prevalence"/>
            </p:cNvPr>
            <p:cNvSpPr/>
            <p:nvPr/>
          </p:nvSpPr>
          <p:spPr>
            <a:xfrm flipH="false" flipV="false" rot="0">
              <a:off x="0" y="0"/>
              <a:ext cx="949639" cy="470249"/>
            </a:xfrm>
            <a:custGeom>
              <a:avLst/>
              <a:gdLst/>
              <a:ahLst/>
              <a:cxnLst/>
              <a:rect r="r" b="b" t="t" l="l"/>
              <a:pathLst>
                <a:path h="470249" w="949639">
                  <a:moveTo>
                    <a:pt x="21396" y="0"/>
                  </a:moveTo>
                  <a:lnTo>
                    <a:pt x="928243" y="0"/>
                  </a:lnTo>
                  <a:cubicBezTo>
                    <a:pt x="933918" y="0"/>
                    <a:pt x="939360" y="2254"/>
                    <a:pt x="943372" y="6267"/>
                  </a:cubicBezTo>
                  <a:cubicBezTo>
                    <a:pt x="947385" y="10279"/>
                    <a:pt x="949639" y="15721"/>
                    <a:pt x="949639" y="21396"/>
                  </a:cubicBezTo>
                  <a:lnTo>
                    <a:pt x="949639" y="448853"/>
                  </a:lnTo>
                  <a:cubicBezTo>
                    <a:pt x="949639" y="454528"/>
                    <a:pt x="947385" y="459970"/>
                    <a:pt x="943372" y="463982"/>
                  </a:cubicBezTo>
                  <a:cubicBezTo>
                    <a:pt x="939360" y="467994"/>
                    <a:pt x="933918" y="470249"/>
                    <a:pt x="928243" y="470249"/>
                  </a:cubicBezTo>
                  <a:lnTo>
                    <a:pt x="21396" y="470249"/>
                  </a:lnTo>
                  <a:cubicBezTo>
                    <a:pt x="15721" y="470249"/>
                    <a:pt x="10279" y="467994"/>
                    <a:pt x="6267" y="463982"/>
                  </a:cubicBezTo>
                  <a:cubicBezTo>
                    <a:pt x="2254" y="459970"/>
                    <a:pt x="0" y="454528"/>
                    <a:pt x="0" y="448853"/>
                  </a:cubicBezTo>
                  <a:lnTo>
                    <a:pt x="0" y="21396"/>
                  </a:lnTo>
                  <a:cubicBezTo>
                    <a:pt x="0" y="15721"/>
                    <a:pt x="2254" y="10279"/>
                    <a:pt x="6267" y="6267"/>
                  </a:cubicBezTo>
                  <a:cubicBezTo>
                    <a:pt x="10279" y="2254"/>
                    <a:pt x="15721" y="0"/>
                    <a:pt x="21396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801" r="0" b="-80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881583" y="2207145"/>
            <a:ext cx="6377717" cy="670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3"/>
              </a:lnSpc>
            </a:pPr>
            <a:r>
              <a:rPr lang="en-US" sz="2985" b="true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1. Global &amp; Regional Insights</a:t>
            </a:r>
          </a:p>
          <a:p>
            <a:pPr algn="l" marL="644539" indent="-322270" lvl="1">
              <a:lnSpc>
                <a:spcPts val="5373"/>
              </a:lnSpc>
              <a:buFont typeface="Arial"/>
              <a:buChar char="•"/>
            </a:pPr>
            <a:r>
              <a:rPr lang="en-US" sz="2985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IHME - Global Burden of Disease (GBD): Source for macro-level healthcare metrics and regional asthma prevalence trends.</a:t>
            </a:r>
          </a:p>
          <a:p>
            <a:pPr algn="l" marL="644539" indent="-322270" lvl="1">
              <a:lnSpc>
                <a:spcPts val="5373"/>
              </a:lnSpc>
              <a:buFont typeface="Arial"/>
              <a:buChar char="•"/>
            </a:pPr>
            <a:r>
              <a:rPr lang="en-US" sz="2985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Our World in Data: Utilized for spatial mapping, historical disease tracking, and global comparison dashboards.</a:t>
            </a:r>
          </a:p>
          <a:p>
            <a:pPr algn="l">
              <a:lnSpc>
                <a:spcPts val="537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441486" cy="10635746"/>
            <a:chOff x="0" y="0"/>
            <a:chExt cx="791796" cy="8919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1796" cy="891951"/>
            </a:xfrm>
            <a:custGeom>
              <a:avLst/>
              <a:gdLst/>
              <a:ahLst/>
              <a:cxnLst/>
              <a:rect r="r" b="b" t="t" l="l"/>
              <a:pathLst>
                <a:path h="891951" w="791796">
                  <a:moveTo>
                    <a:pt x="4484" y="0"/>
                  </a:moveTo>
                  <a:lnTo>
                    <a:pt x="787312" y="0"/>
                  </a:lnTo>
                  <a:cubicBezTo>
                    <a:pt x="789789" y="0"/>
                    <a:pt x="791796" y="2008"/>
                    <a:pt x="791796" y="4484"/>
                  </a:cubicBezTo>
                  <a:lnTo>
                    <a:pt x="791796" y="887467"/>
                  </a:lnTo>
                  <a:cubicBezTo>
                    <a:pt x="791796" y="889944"/>
                    <a:pt x="789789" y="891951"/>
                    <a:pt x="787312" y="891951"/>
                  </a:cubicBezTo>
                  <a:lnTo>
                    <a:pt x="4484" y="891951"/>
                  </a:lnTo>
                  <a:cubicBezTo>
                    <a:pt x="2008" y="891951"/>
                    <a:pt x="0" y="889944"/>
                    <a:pt x="0" y="887467"/>
                  </a:cubicBezTo>
                  <a:lnTo>
                    <a:pt x="0" y="4484"/>
                  </a:lnTo>
                  <a:cubicBezTo>
                    <a:pt x="0" y="2008"/>
                    <a:pt x="2008" y="0"/>
                    <a:pt x="4484" y="0"/>
                  </a:cubicBezTo>
                  <a:close/>
                </a:path>
              </a:pathLst>
            </a:custGeom>
            <a:solidFill>
              <a:srgbClr val="9FEFB6"/>
            </a:solidFill>
            <a:ln w="19050" cap="sq">
              <a:solidFill>
                <a:srgbClr val="6C6FD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791796" cy="1044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773218" y="9483295"/>
            <a:ext cx="4342790" cy="501651"/>
            <a:chOff x="0" y="0"/>
            <a:chExt cx="893578" cy="1032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3578" cy="103220"/>
            </a:xfrm>
            <a:custGeom>
              <a:avLst/>
              <a:gdLst/>
              <a:ahLst/>
              <a:cxnLst/>
              <a:rect r="r" b="b" t="t" l="l"/>
              <a:pathLst>
                <a:path h="103220" w="893578">
                  <a:moveTo>
                    <a:pt x="9749" y="0"/>
                  </a:moveTo>
                  <a:lnTo>
                    <a:pt x="883829" y="0"/>
                  </a:lnTo>
                  <a:cubicBezTo>
                    <a:pt x="889213" y="0"/>
                    <a:pt x="893578" y="4365"/>
                    <a:pt x="893578" y="9749"/>
                  </a:cubicBezTo>
                  <a:lnTo>
                    <a:pt x="893578" y="93471"/>
                  </a:lnTo>
                  <a:cubicBezTo>
                    <a:pt x="893578" y="96057"/>
                    <a:pt x="892551" y="98537"/>
                    <a:pt x="890723" y="100365"/>
                  </a:cubicBezTo>
                  <a:cubicBezTo>
                    <a:pt x="888894" y="102193"/>
                    <a:pt x="886415" y="103220"/>
                    <a:pt x="883829" y="103220"/>
                  </a:cubicBezTo>
                  <a:lnTo>
                    <a:pt x="9749" y="103220"/>
                  </a:lnTo>
                  <a:cubicBezTo>
                    <a:pt x="7164" y="103220"/>
                    <a:pt x="4684" y="102193"/>
                    <a:pt x="2855" y="100365"/>
                  </a:cubicBezTo>
                  <a:cubicBezTo>
                    <a:pt x="1027" y="98537"/>
                    <a:pt x="0" y="96057"/>
                    <a:pt x="0" y="93471"/>
                  </a:cubicBezTo>
                  <a:lnTo>
                    <a:pt x="0" y="9749"/>
                  </a:lnTo>
                  <a:cubicBezTo>
                    <a:pt x="0" y="7164"/>
                    <a:pt x="1027" y="4684"/>
                    <a:pt x="2855" y="2855"/>
                  </a:cubicBezTo>
                  <a:cubicBezTo>
                    <a:pt x="4684" y="1027"/>
                    <a:pt x="7164" y="0"/>
                    <a:pt x="9749" y="0"/>
                  </a:cubicBezTo>
                  <a:close/>
                </a:path>
              </a:pathLst>
            </a:custGeom>
            <a:solidFill>
              <a:srgbClr val="9FEFB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893578" cy="25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079856" y="5977012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17975" y="8439534"/>
            <a:ext cx="2882650" cy="2264191"/>
          </a:xfrm>
          <a:custGeom>
            <a:avLst/>
            <a:gdLst/>
            <a:ahLst/>
            <a:cxnLst/>
            <a:rect r="r" b="b" t="t" l="l"/>
            <a:pathLst>
              <a:path h="2264191" w="2882650">
                <a:moveTo>
                  <a:pt x="0" y="0"/>
                </a:moveTo>
                <a:lnTo>
                  <a:pt x="2882650" y="0"/>
                </a:lnTo>
                <a:lnTo>
                  <a:pt x="2882650" y="2264191"/>
                </a:lnTo>
                <a:lnTo>
                  <a:pt x="0" y="22641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108600" y="9571630"/>
            <a:ext cx="3086100" cy="826634"/>
            <a:chOff x="0" y="0"/>
            <a:chExt cx="711200" cy="190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1200" cy="190500"/>
            </a:xfrm>
            <a:custGeom>
              <a:avLst/>
              <a:gdLst/>
              <a:ahLst/>
              <a:cxnLst/>
              <a:rect r="r" b="b" t="t" l="l"/>
              <a:pathLst>
                <a:path h="190500" w="711200">
                  <a:moveTo>
                    <a:pt x="711200" y="0"/>
                  </a:moveTo>
                  <a:lnTo>
                    <a:pt x="711200" y="142894"/>
                  </a:lnTo>
                  <a:cubicBezTo>
                    <a:pt x="651933" y="142894"/>
                    <a:pt x="651933" y="190500"/>
                    <a:pt x="592667" y="190500"/>
                  </a:cubicBezTo>
                  <a:cubicBezTo>
                    <a:pt x="533381" y="190500"/>
                    <a:pt x="533381" y="142894"/>
                    <a:pt x="474115" y="142894"/>
                  </a:cubicBezTo>
                  <a:cubicBezTo>
                    <a:pt x="414848" y="142894"/>
                    <a:pt x="414848" y="190500"/>
                    <a:pt x="355581" y="190500"/>
                  </a:cubicBezTo>
                  <a:cubicBezTo>
                    <a:pt x="296315" y="190500"/>
                    <a:pt x="296315" y="142894"/>
                    <a:pt x="237048" y="142894"/>
                  </a:cubicBezTo>
                  <a:cubicBezTo>
                    <a:pt x="177781" y="142894"/>
                    <a:pt x="177781" y="190500"/>
                    <a:pt x="118533" y="190500"/>
                  </a:cubicBezTo>
                  <a:cubicBezTo>
                    <a:pt x="59267" y="190500"/>
                    <a:pt x="59267" y="142894"/>
                    <a:pt x="0" y="142894"/>
                  </a:cubicBezTo>
                  <a:lnTo>
                    <a:pt x="0" y="0"/>
                  </a:lnTo>
                  <a:cubicBezTo>
                    <a:pt x="59267" y="0"/>
                    <a:pt x="59267" y="47606"/>
                    <a:pt x="118533" y="47606"/>
                  </a:cubicBezTo>
                  <a:cubicBezTo>
                    <a:pt x="177781" y="47606"/>
                    <a:pt x="177781" y="0"/>
                    <a:pt x="237048" y="0"/>
                  </a:cubicBezTo>
                  <a:cubicBezTo>
                    <a:pt x="296315" y="0"/>
                    <a:pt x="296315" y="47606"/>
                    <a:pt x="355581" y="47606"/>
                  </a:cubicBezTo>
                  <a:cubicBezTo>
                    <a:pt x="414848" y="47606"/>
                    <a:pt x="414848" y="0"/>
                    <a:pt x="474115" y="0"/>
                  </a:cubicBezTo>
                  <a:cubicBezTo>
                    <a:pt x="533381" y="0"/>
                    <a:pt x="533381" y="47606"/>
                    <a:pt x="592667" y="47606"/>
                  </a:cubicBezTo>
                  <a:cubicBezTo>
                    <a:pt x="651933" y="47606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6C6FD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1600"/>
              <a:ext cx="711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087765" y="-1272442"/>
            <a:ext cx="2400469" cy="2400469"/>
            <a:chOff x="0" y="0"/>
            <a:chExt cx="558800" cy="55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6C6FD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44450" y="-107950"/>
              <a:ext cx="4699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34450" y="670828"/>
            <a:ext cx="8317520" cy="4047842"/>
            <a:chOff x="0" y="0"/>
            <a:chExt cx="3192737" cy="15537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92737" cy="1553792"/>
            </a:xfrm>
            <a:custGeom>
              <a:avLst/>
              <a:gdLst/>
              <a:ahLst/>
              <a:cxnLst/>
              <a:rect r="r" b="b" t="t" l="l"/>
              <a:pathLst>
                <a:path h="1553792" w="3192737">
                  <a:moveTo>
                    <a:pt x="13962" y="0"/>
                  </a:moveTo>
                  <a:lnTo>
                    <a:pt x="3178775" y="0"/>
                  </a:lnTo>
                  <a:cubicBezTo>
                    <a:pt x="3186486" y="0"/>
                    <a:pt x="3192737" y="6251"/>
                    <a:pt x="3192737" y="13962"/>
                  </a:cubicBezTo>
                  <a:lnTo>
                    <a:pt x="3192737" y="1539830"/>
                  </a:lnTo>
                  <a:cubicBezTo>
                    <a:pt x="3192737" y="1543533"/>
                    <a:pt x="3191266" y="1547084"/>
                    <a:pt x="3188648" y="1549703"/>
                  </a:cubicBezTo>
                  <a:cubicBezTo>
                    <a:pt x="3186029" y="1552321"/>
                    <a:pt x="3182478" y="1553792"/>
                    <a:pt x="3178775" y="1553792"/>
                  </a:cubicBezTo>
                  <a:lnTo>
                    <a:pt x="13962" y="1553792"/>
                  </a:lnTo>
                  <a:cubicBezTo>
                    <a:pt x="10259" y="1553792"/>
                    <a:pt x="6708" y="1552321"/>
                    <a:pt x="4089" y="1549703"/>
                  </a:cubicBezTo>
                  <a:cubicBezTo>
                    <a:pt x="1471" y="1547084"/>
                    <a:pt x="0" y="1543533"/>
                    <a:pt x="0" y="1539830"/>
                  </a:cubicBezTo>
                  <a:lnTo>
                    <a:pt x="0" y="13962"/>
                  </a:lnTo>
                  <a:cubicBezTo>
                    <a:pt x="0" y="10259"/>
                    <a:pt x="1471" y="6708"/>
                    <a:pt x="4089" y="4089"/>
                  </a:cubicBezTo>
                  <a:cubicBezTo>
                    <a:pt x="6708" y="1471"/>
                    <a:pt x="10259" y="0"/>
                    <a:pt x="13962" y="0"/>
                  </a:cubicBezTo>
                  <a:close/>
                </a:path>
              </a:pathLst>
            </a:custGeom>
            <a:blipFill>
              <a:blip r:embed="rId6"/>
              <a:stretch>
                <a:fillRect l="-1093" t="0" r="-1093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34450" y="5143500"/>
            <a:ext cx="5561713" cy="4339795"/>
            <a:chOff x="0" y="0"/>
            <a:chExt cx="959288" cy="7485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9288" cy="748531"/>
            </a:xfrm>
            <a:custGeom>
              <a:avLst/>
              <a:gdLst/>
              <a:ahLst/>
              <a:cxnLst/>
              <a:rect r="r" b="b" t="t" l="l"/>
              <a:pathLst>
                <a:path h="748531" w="959288">
                  <a:moveTo>
                    <a:pt x="20880" y="0"/>
                  </a:moveTo>
                  <a:lnTo>
                    <a:pt x="938408" y="0"/>
                  </a:lnTo>
                  <a:cubicBezTo>
                    <a:pt x="943946" y="0"/>
                    <a:pt x="949257" y="2200"/>
                    <a:pt x="953173" y="6116"/>
                  </a:cubicBezTo>
                  <a:cubicBezTo>
                    <a:pt x="957088" y="10031"/>
                    <a:pt x="959288" y="15342"/>
                    <a:pt x="959288" y="20880"/>
                  </a:cubicBezTo>
                  <a:lnTo>
                    <a:pt x="959288" y="727651"/>
                  </a:lnTo>
                  <a:cubicBezTo>
                    <a:pt x="959288" y="733189"/>
                    <a:pt x="957088" y="738500"/>
                    <a:pt x="953173" y="742415"/>
                  </a:cubicBezTo>
                  <a:cubicBezTo>
                    <a:pt x="949257" y="746331"/>
                    <a:pt x="943946" y="748531"/>
                    <a:pt x="938408" y="748531"/>
                  </a:cubicBezTo>
                  <a:lnTo>
                    <a:pt x="20880" y="748531"/>
                  </a:lnTo>
                  <a:cubicBezTo>
                    <a:pt x="15342" y="748531"/>
                    <a:pt x="10031" y="746331"/>
                    <a:pt x="6116" y="742415"/>
                  </a:cubicBezTo>
                  <a:cubicBezTo>
                    <a:pt x="2200" y="738500"/>
                    <a:pt x="0" y="733189"/>
                    <a:pt x="0" y="727651"/>
                  </a:cubicBezTo>
                  <a:lnTo>
                    <a:pt x="0" y="20880"/>
                  </a:lnTo>
                  <a:cubicBezTo>
                    <a:pt x="0" y="15342"/>
                    <a:pt x="2200" y="10031"/>
                    <a:pt x="6116" y="6116"/>
                  </a:cubicBezTo>
                  <a:cubicBezTo>
                    <a:pt x="10031" y="2200"/>
                    <a:pt x="15342" y="0"/>
                    <a:pt x="2088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3152" r="0" b="-15003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820055" y="1617055"/>
            <a:ext cx="6439245" cy="8349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1"/>
              </a:lnSpc>
            </a:pPr>
            <a:r>
              <a:rPr lang="en-US" sz="2300" b="true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2. Patient-Level Clinical Data</a:t>
            </a:r>
          </a:p>
          <a:p>
            <a:pPr algn="l" marL="496757" indent="-248378" lvl="1">
              <a:lnSpc>
                <a:spcPts val="4141"/>
              </a:lnSpc>
              <a:buFont typeface="Arial"/>
              <a:buChar char="•"/>
            </a:pPr>
            <a:r>
              <a:rPr lang="en-US" sz="2300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Original Source: Kaggle Asthma Disease Dataset (2,392 patient records, 29 clinical &amp; lifestyle features).</a:t>
            </a:r>
          </a:p>
          <a:p>
            <a:pPr algn="l" marL="496757" indent="-248378" lvl="1">
              <a:lnSpc>
                <a:spcPts val="4141"/>
              </a:lnSpc>
              <a:buFont typeface="Arial"/>
              <a:buChar char="•"/>
            </a:pPr>
            <a:r>
              <a:rPr lang="en-US" b="true" sz="2300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 Refinement &amp; Balancing :</a:t>
            </a:r>
          </a:p>
          <a:p>
            <a:pPr algn="l" marL="993514" indent="-331171" lvl="2">
              <a:lnSpc>
                <a:spcPts val="4141"/>
              </a:lnSpc>
              <a:buFont typeface="Arial"/>
              <a:buChar char="⚬"/>
            </a:pPr>
            <a:r>
              <a:rPr lang="en-US" sz="2300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Class Imbalance Resolution: Handled severe class imbalance to secure an unbiased distribution (51% Healthy vs 49% Asthma) for robust machine learning training.</a:t>
            </a:r>
          </a:p>
          <a:p>
            <a:pPr algn="l" marL="993514" indent="-331171" lvl="2">
              <a:lnSpc>
                <a:spcPts val="4141"/>
              </a:lnSpc>
              <a:buFont typeface="Arial"/>
              <a:buChar char="⚬"/>
            </a:pPr>
            <a:r>
              <a:rPr lang="en-US" sz="2300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Logical Validation: Cleansed inconsistencies and illogical values in the original records to output a refined, realistic dataset (asthma_disease_data_realistic.csv).</a:t>
            </a:r>
          </a:p>
          <a:p>
            <a:pPr algn="l">
              <a:lnSpc>
                <a:spcPts val="4141"/>
              </a:lnSpc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6126263" y="5143500"/>
            <a:ext cx="2625708" cy="4339795"/>
            <a:chOff x="0" y="0"/>
            <a:chExt cx="959288" cy="15855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9288" cy="1585521"/>
            </a:xfrm>
            <a:custGeom>
              <a:avLst/>
              <a:gdLst/>
              <a:ahLst/>
              <a:cxnLst/>
              <a:rect r="r" b="b" t="t" l="l"/>
              <a:pathLst>
                <a:path h="1585521" w="959288">
                  <a:moveTo>
                    <a:pt x="44228" y="0"/>
                  </a:moveTo>
                  <a:lnTo>
                    <a:pt x="915061" y="0"/>
                  </a:lnTo>
                  <a:cubicBezTo>
                    <a:pt x="926791" y="0"/>
                    <a:pt x="938040" y="4660"/>
                    <a:pt x="946334" y="12954"/>
                  </a:cubicBezTo>
                  <a:cubicBezTo>
                    <a:pt x="954629" y="21248"/>
                    <a:pt x="959288" y="32498"/>
                    <a:pt x="959288" y="44228"/>
                  </a:cubicBezTo>
                  <a:lnTo>
                    <a:pt x="959288" y="1541294"/>
                  </a:lnTo>
                  <a:cubicBezTo>
                    <a:pt x="959288" y="1553023"/>
                    <a:pt x="954629" y="1564273"/>
                    <a:pt x="946334" y="1572567"/>
                  </a:cubicBezTo>
                  <a:cubicBezTo>
                    <a:pt x="938040" y="1580861"/>
                    <a:pt x="926791" y="1585521"/>
                    <a:pt x="915061" y="1585521"/>
                  </a:cubicBezTo>
                  <a:lnTo>
                    <a:pt x="44228" y="1585521"/>
                  </a:lnTo>
                  <a:cubicBezTo>
                    <a:pt x="32498" y="1585521"/>
                    <a:pt x="21248" y="1580861"/>
                    <a:pt x="12954" y="1572567"/>
                  </a:cubicBezTo>
                  <a:cubicBezTo>
                    <a:pt x="4660" y="1564273"/>
                    <a:pt x="0" y="1553023"/>
                    <a:pt x="0" y="1541294"/>
                  </a:cubicBezTo>
                  <a:lnTo>
                    <a:pt x="0" y="44228"/>
                  </a:lnTo>
                  <a:cubicBezTo>
                    <a:pt x="0" y="32498"/>
                    <a:pt x="4660" y="21248"/>
                    <a:pt x="12954" y="12954"/>
                  </a:cubicBezTo>
                  <a:cubicBezTo>
                    <a:pt x="21248" y="4660"/>
                    <a:pt x="32498" y="0"/>
                    <a:pt x="44228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6846" r="0" b="-14159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184295" y="680353"/>
            <a:ext cx="6582751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3"/>
              </a:lnSpc>
            </a:pPr>
            <a:r>
              <a:rPr lang="en-US" sz="6002" b="true">
                <a:solidFill>
                  <a:srgbClr val="6C6FDB"/>
                </a:solidFill>
                <a:latin typeface="Loubag Bold"/>
                <a:ea typeface="Loubag Bold"/>
                <a:cs typeface="Loubag Bold"/>
                <a:sym typeface="Loubag Bold"/>
              </a:rPr>
              <a:t>Data Source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C6F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078639"/>
            <a:ext cx="5971159" cy="2626719"/>
            <a:chOff x="0" y="0"/>
            <a:chExt cx="1060547" cy="4665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0547" cy="466535"/>
            </a:xfrm>
            <a:custGeom>
              <a:avLst/>
              <a:gdLst/>
              <a:ahLst/>
              <a:cxnLst/>
              <a:rect r="r" b="b" t="t" l="l"/>
              <a:pathLst>
                <a:path h="466535" w="1060547">
                  <a:moveTo>
                    <a:pt x="25931" y="0"/>
                  </a:moveTo>
                  <a:lnTo>
                    <a:pt x="1034616" y="0"/>
                  </a:lnTo>
                  <a:cubicBezTo>
                    <a:pt x="1041493" y="0"/>
                    <a:pt x="1048089" y="2732"/>
                    <a:pt x="1052952" y="7595"/>
                  </a:cubicBezTo>
                  <a:cubicBezTo>
                    <a:pt x="1057815" y="12458"/>
                    <a:pt x="1060547" y="19054"/>
                    <a:pt x="1060547" y="25931"/>
                  </a:cubicBezTo>
                  <a:lnTo>
                    <a:pt x="1060547" y="440604"/>
                  </a:lnTo>
                  <a:cubicBezTo>
                    <a:pt x="1060547" y="454926"/>
                    <a:pt x="1048937" y="466535"/>
                    <a:pt x="1034616" y="466535"/>
                  </a:cubicBezTo>
                  <a:lnTo>
                    <a:pt x="25931" y="466535"/>
                  </a:lnTo>
                  <a:cubicBezTo>
                    <a:pt x="19054" y="466535"/>
                    <a:pt x="12458" y="463803"/>
                    <a:pt x="7595" y="458940"/>
                  </a:cubicBezTo>
                  <a:cubicBezTo>
                    <a:pt x="2732" y="454077"/>
                    <a:pt x="0" y="447482"/>
                    <a:pt x="0" y="440604"/>
                  </a:cubicBezTo>
                  <a:lnTo>
                    <a:pt x="0" y="25931"/>
                  </a:lnTo>
                  <a:cubicBezTo>
                    <a:pt x="0" y="11610"/>
                    <a:pt x="11610" y="0"/>
                    <a:pt x="2593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19644" r="0" b="-11964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581642"/>
            <a:ext cx="4007848" cy="3581386"/>
            <a:chOff x="0" y="0"/>
            <a:chExt cx="809096" cy="7230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9096" cy="723003"/>
            </a:xfrm>
            <a:custGeom>
              <a:avLst/>
              <a:gdLst/>
              <a:ahLst/>
              <a:cxnLst/>
              <a:rect r="r" b="b" t="t" l="l"/>
              <a:pathLst>
                <a:path h="723003" w="809096">
                  <a:moveTo>
                    <a:pt x="38634" y="0"/>
                  </a:moveTo>
                  <a:lnTo>
                    <a:pt x="770462" y="0"/>
                  </a:lnTo>
                  <a:cubicBezTo>
                    <a:pt x="780708" y="0"/>
                    <a:pt x="790535" y="4070"/>
                    <a:pt x="797780" y="11316"/>
                  </a:cubicBezTo>
                  <a:cubicBezTo>
                    <a:pt x="805025" y="18561"/>
                    <a:pt x="809096" y="28387"/>
                    <a:pt x="809096" y="38634"/>
                  </a:cubicBezTo>
                  <a:lnTo>
                    <a:pt x="809096" y="684369"/>
                  </a:lnTo>
                  <a:cubicBezTo>
                    <a:pt x="809096" y="694615"/>
                    <a:pt x="805025" y="704442"/>
                    <a:pt x="797780" y="711687"/>
                  </a:cubicBezTo>
                  <a:cubicBezTo>
                    <a:pt x="790535" y="718932"/>
                    <a:pt x="780708" y="723003"/>
                    <a:pt x="770462" y="723003"/>
                  </a:cubicBezTo>
                  <a:lnTo>
                    <a:pt x="38634" y="723003"/>
                  </a:lnTo>
                  <a:cubicBezTo>
                    <a:pt x="28387" y="723003"/>
                    <a:pt x="18561" y="718932"/>
                    <a:pt x="11316" y="711687"/>
                  </a:cubicBezTo>
                  <a:cubicBezTo>
                    <a:pt x="4070" y="704442"/>
                    <a:pt x="0" y="694615"/>
                    <a:pt x="0" y="684369"/>
                  </a:cubicBezTo>
                  <a:lnTo>
                    <a:pt x="0" y="38634"/>
                  </a:lnTo>
                  <a:cubicBezTo>
                    <a:pt x="0" y="28387"/>
                    <a:pt x="4070" y="18561"/>
                    <a:pt x="11316" y="11316"/>
                  </a:cubicBezTo>
                  <a:cubicBezTo>
                    <a:pt x="18561" y="4070"/>
                    <a:pt x="28387" y="0"/>
                    <a:pt x="38634" y="0"/>
                  </a:cubicBezTo>
                  <a:close/>
                </a:path>
              </a:pathLst>
            </a:custGeom>
            <a:blipFill>
              <a:blip r:embed="rId3"/>
              <a:stretch>
                <a:fillRect l="-17061" t="0" r="-170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97058" y="-72207"/>
            <a:ext cx="8185369" cy="11785754"/>
            <a:chOff x="0" y="0"/>
            <a:chExt cx="1684232" cy="24250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84232" cy="2425052"/>
            </a:xfrm>
            <a:custGeom>
              <a:avLst/>
              <a:gdLst/>
              <a:ahLst/>
              <a:cxnLst/>
              <a:rect r="r" b="b" t="t" l="l"/>
              <a:pathLst>
                <a:path h="2425052" w="1684232">
                  <a:moveTo>
                    <a:pt x="5172" y="0"/>
                  </a:moveTo>
                  <a:lnTo>
                    <a:pt x="1679060" y="0"/>
                  </a:lnTo>
                  <a:cubicBezTo>
                    <a:pt x="1681917" y="0"/>
                    <a:pt x="1684232" y="2316"/>
                    <a:pt x="1684232" y="5172"/>
                  </a:cubicBezTo>
                  <a:lnTo>
                    <a:pt x="1684232" y="2419880"/>
                  </a:lnTo>
                  <a:cubicBezTo>
                    <a:pt x="1684232" y="2422737"/>
                    <a:pt x="1681917" y="2425052"/>
                    <a:pt x="1679060" y="2425052"/>
                  </a:cubicBezTo>
                  <a:lnTo>
                    <a:pt x="5172" y="2425052"/>
                  </a:lnTo>
                  <a:cubicBezTo>
                    <a:pt x="2316" y="2425052"/>
                    <a:pt x="0" y="2422737"/>
                    <a:pt x="0" y="2419880"/>
                  </a:cubicBezTo>
                  <a:lnTo>
                    <a:pt x="0" y="5172"/>
                  </a:lnTo>
                  <a:cubicBezTo>
                    <a:pt x="0" y="2316"/>
                    <a:pt x="2316" y="0"/>
                    <a:pt x="5172" y="0"/>
                  </a:cubicBezTo>
                  <a:close/>
                </a:path>
              </a:pathLst>
            </a:custGeom>
            <a:solidFill>
              <a:srgbClr val="9FEFB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52400"/>
              <a:ext cx="1684232" cy="2577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34450" y="3333603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6543" y="1581642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1108600" y="9571630"/>
            <a:ext cx="3086100" cy="826634"/>
            <a:chOff x="0" y="0"/>
            <a:chExt cx="711200" cy="190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1200" cy="190500"/>
            </a:xfrm>
            <a:custGeom>
              <a:avLst/>
              <a:gdLst/>
              <a:ahLst/>
              <a:cxnLst/>
              <a:rect r="r" b="b" t="t" l="l"/>
              <a:pathLst>
                <a:path h="190500" w="711200">
                  <a:moveTo>
                    <a:pt x="711200" y="0"/>
                  </a:moveTo>
                  <a:lnTo>
                    <a:pt x="711200" y="142894"/>
                  </a:lnTo>
                  <a:cubicBezTo>
                    <a:pt x="651933" y="142894"/>
                    <a:pt x="651933" y="190500"/>
                    <a:pt x="592667" y="190500"/>
                  </a:cubicBezTo>
                  <a:cubicBezTo>
                    <a:pt x="533381" y="190500"/>
                    <a:pt x="533381" y="142894"/>
                    <a:pt x="474115" y="142894"/>
                  </a:cubicBezTo>
                  <a:cubicBezTo>
                    <a:pt x="414848" y="142894"/>
                    <a:pt x="414848" y="190500"/>
                    <a:pt x="355581" y="190500"/>
                  </a:cubicBezTo>
                  <a:cubicBezTo>
                    <a:pt x="296315" y="190500"/>
                    <a:pt x="296315" y="142894"/>
                    <a:pt x="237048" y="142894"/>
                  </a:cubicBezTo>
                  <a:cubicBezTo>
                    <a:pt x="177781" y="142894"/>
                    <a:pt x="177781" y="190500"/>
                    <a:pt x="118533" y="190500"/>
                  </a:cubicBezTo>
                  <a:cubicBezTo>
                    <a:pt x="59267" y="190500"/>
                    <a:pt x="59267" y="142894"/>
                    <a:pt x="0" y="142894"/>
                  </a:cubicBezTo>
                  <a:lnTo>
                    <a:pt x="0" y="0"/>
                  </a:lnTo>
                  <a:cubicBezTo>
                    <a:pt x="59267" y="0"/>
                    <a:pt x="59267" y="47606"/>
                    <a:pt x="118533" y="47606"/>
                  </a:cubicBezTo>
                  <a:cubicBezTo>
                    <a:pt x="177781" y="47606"/>
                    <a:pt x="177781" y="0"/>
                    <a:pt x="237048" y="0"/>
                  </a:cubicBezTo>
                  <a:cubicBezTo>
                    <a:pt x="296315" y="0"/>
                    <a:pt x="296315" y="47606"/>
                    <a:pt x="355581" y="47606"/>
                  </a:cubicBezTo>
                  <a:cubicBezTo>
                    <a:pt x="414848" y="47606"/>
                    <a:pt x="414848" y="0"/>
                    <a:pt x="474115" y="0"/>
                  </a:cubicBezTo>
                  <a:cubicBezTo>
                    <a:pt x="533381" y="0"/>
                    <a:pt x="533381" y="47606"/>
                    <a:pt x="592667" y="47606"/>
                  </a:cubicBezTo>
                  <a:cubicBezTo>
                    <a:pt x="651933" y="47606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01600"/>
              <a:ext cx="711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493398" y="2699960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4"/>
                </a:lnTo>
                <a:lnTo>
                  <a:pt x="0" y="3958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757027" y="6141317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581647" y="7656744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056603" y="-72207"/>
            <a:ext cx="8225825" cy="10470471"/>
            <a:chOff x="0" y="0"/>
            <a:chExt cx="1685466" cy="21453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85466" cy="2145392"/>
            </a:xfrm>
            <a:custGeom>
              <a:avLst/>
              <a:gdLst/>
              <a:ahLst/>
              <a:cxnLst/>
              <a:rect r="r" b="b" t="t" l="l"/>
              <a:pathLst>
                <a:path h="2145392" w="1685466">
                  <a:moveTo>
                    <a:pt x="5147" y="0"/>
                  </a:moveTo>
                  <a:lnTo>
                    <a:pt x="1680319" y="0"/>
                  </a:lnTo>
                  <a:cubicBezTo>
                    <a:pt x="1681684" y="0"/>
                    <a:pt x="1682993" y="542"/>
                    <a:pt x="1683958" y="1508"/>
                  </a:cubicBezTo>
                  <a:cubicBezTo>
                    <a:pt x="1684924" y="2473"/>
                    <a:pt x="1685466" y="3782"/>
                    <a:pt x="1685466" y="5147"/>
                  </a:cubicBezTo>
                  <a:lnTo>
                    <a:pt x="1685466" y="2140245"/>
                  </a:lnTo>
                  <a:cubicBezTo>
                    <a:pt x="1685466" y="2143088"/>
                    <a:pt x="1683161" y="2145392"/>
                    <a:pt x="1680319" y="2145392"/>
                  </a:cubicBezTo>
                  <a:lnTo>
                    <a:pt x="5147" y="2145392"/>
                  </a:lnTo>
                  <a:cubicBezTo>
                    <a:pt x="3782" y="2145392"/>
                    <a:pt x="2473" y="2144850"/>
                    <a:pt x="1508" y="2143885"/>
                  </a:cubicBezTo>
                  <a:cubicBezTo>
                    <a:pt x="542" y="2142919"/>
                    <a:pt x="0" y="2141610"/>
                    <a:pt x="0" y="2140245"/>
                  </a:cubicBezTo>
                  <a:lnTo>
                    <a:pt x="0" y="5147"/>
                  </a:lnTo>
                  <a:cubicBezTo>
                    <a:pt x="0" y="3782"/>
                    <a:pt x="542" y="2473"/>
                    <a:pt x="1508" y="1508"/>
                  </a:cubicBezTo>
                  <a:cubicBezTo>
                    <a:pt x="2473" y="542"/>
                    <a:pt x="3782" y="0"/>
                    <a:pt x="51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52400"/>
              <a:ext cx="1685466" cy="2297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445379" y="413653"/>
            <a:ext cx="7642386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7"/>
              </a:lnSpc>
            </a:pPr>
            <a:r>
              <a:rPr lang="en-US" sz="4806" b="true">
                <a:solidFill>
                  <a:srgbClr val="6C6FDB"/>
                </a:solidFill>
                <a:latin typeface="Loubag Bold"/>
                <a:ea typeface="Loubag Bold"/>
                <a:cs typeface="Loubag Bold"/>
                <a:sym typeface="Loubag Bold"/>
              </a:rPr>
              <a:t>Project Overview &amp; Objectives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668109" y="-1200235"/>
            <a:ext cx="2400469" cy="2400469"/>
            <a:chOff x="0" y="0"/>
            <a:chExt cx="558800" cy="55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9FEFB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44450" y="-107950"/>
              <a:ext cx="4699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291720" y="1965923"/>
            <a:ext cx="7518809" cy="8189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022" b="true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 Healthcare Challenge:</a:t>
            </a:r>
          </a:p>
          <a:p>
            <a:pPr algn="l" marL="436684" indent="-218342" lvl="1">
              <a:lnSpc>
                <a:spcPts val="3640"/>
              </a:lnSpc>
              <a:buFont typeface="Arial"/>
              <a:buChar char="•"/>
            </a:pPr>
            <a:r>
              <a:rPr lang="en-US" sz="2022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Asthma is one of the most widespread chronic respiratory diseases globally, posing a major challenge for early prediction, clinical management, and tracking prevalence variations caused by environmental, lifestyle, and genetic factors.</a:t>
            </a:r>
          </a:p>
          <a:p>
            <a:pPr algn="l">
              <a:lnSpc>
                <a:spcPts val="3640"/>
              </a:lnSpc>
            </a:pPr>
            <a:r>
              <a:rPr lang="en-US" sz="2022" b="true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 Project Objectives:</a:t>
            </a:r>
          </a:p>
          <a:p>
            <a:pPr algn="l" marL="436684" indent="-218342" lvl="1">
              <a:lnSpc>
                <a:spcPts val="3640"/>
              </a:lnSpc>
              <a:buFont typeface="Arial"/>
              <a:buChar char="•"/>
            </a:pPr>
            <a:r>
              <a:rPr lang="en-US" sz="2022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Macro-Level Analysis (Global Trends): Study and track global and regional asthma prevalence, evaluating historical and geographical evolution across countries using WHO and GBD datasets.</a:t>
            </a:r>
          </a:p>
          <a:p>
            <a:pPr algn="l" marL="436684" indent="-218342" lvl="1">
              <a:lnSpc>
                <a:spcPts val="3640"/>
              </a:lnSpc>
              <a:buFont typeface="Arial"/>
              <a:buChar char="•"/>
            </a:pPr>
            <a:r>
              <a:rPr lang="en-US" sz="2022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Patient-Level Prediction (AI &amp; ML): Build a highly robust Machine Learning model capable of predicting accurate patient diagnosis based on clinical, environmental, and lifestyle metrics.</a:t>
            </a:r>
          </a:p>
          <a:p>
            <a:pPr algn="l" marL="436684" indent="-218342" lvl="1">
              <a:lnSpc>
                <a:spcPts val="3640"/>
              </a:lnSpc>
              <a:buFont typeface="Arial"/>
              <a:buChar char="•"/>
            </a:pPr>
            <a:r>
              <a:rPr lang="en-US" sz="2022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Comprehensive Solutions (End-to-End Hub): Deliver an interactive, multi-tool reporting ecosystem (Dashboards) optimized for healthcare administrators and clinical decision-makers at all levels.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817975" y="8439534"/>
            <a:ext cx="2882650" cy="2264191"/>
          </a:xfrm>
          <a:custGeom>
            <a:avLst/>
            <a:gdLst/>
            <a:ahLst/>
            <a:cxnLst/>
            <a:rect r="r" b="b" t="t" l="l"/>
            <a:pathLst>
              <a:path h="2264191" w="2882650">
                <a:moveTo>
                  <a:pt x="0" y="0"/>
                </a:moveTo>
                <a:lnTo>
                  <a:pt x="2882650" y="0"/>
                </a:lnTo>
                <a:lnTo>
                  <a:pt x="2882650" y="2264191"/>
                </a:lnTo>
                <a:lnTo>
                  <a:pt x="0" y="22641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012110" y="1581642"/>
            <a:ext cx="4024438" cy="3640693"/>
            <a:chOff x="0" y="0"/>
            <a:chExt cx="1006683" cy="9106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6683" cy="910692"/>
            </a:xfrm>
            <a:custGeom>
              <a:avLst/>
              <a:gdLst/>
              <a:ahLst/>
              <a:cxnLst/>
              <a:rect r="r" b="b" t="t" l="l"/>
              <a:pathLst>
                <a:path h="910692" w="1006683">
                  <a:moveTo>
                    <a:pt x="28856" y="0"/>
                  </a:moveTo>
                  <a:lnTo>
                    <a:pt x="977827" y="0"/>
                  </a:lnTo>
                  <a:cubicBezTo>
                    <a:pt x="993764" y="0"/>
                    <a:pt x="1006683" y="12919"/>
                    <a:pt x="1006683" y="28856"/>
                  </a:cubicBezTo>
                  <a:lnTo>
                    <a:pt x="1006683" y="881836"/>
                  </a:lnTo>
                  <a:cubicBezTo>
                    <a:pt x="1006683" y="897773"/>
                    <a:pt x="993764" y="910692"/>
                    <a:pt x="977827" y="910692"/>
                  </a:cubicBezTo>
                  <a:lnTo>
                    <a:pt x="28856" y="910692"/>
                  </a:lnTo>
                  <a:cubicBezTo>
                    <a:pt x="21203" y="910692"/>
                    <a:pt x="13863" y="907652"/>
                    <a:pt x="8452" y="902240"/>
                  </a:cubicBezTo>
                  <a:cubicBezTo>
                    <a:pt x="3040" y="896829"/>
                    <a:pt x="0" y="889489"/>
                    <a:pt x="0" y="881836"/>
                  </a:cubicBezTo>
                  <a:lnTo>
                    <a:pt x="0" y="28856"/>
                  </a:lnTo>
                  <a:cubicBezTo>
                    <a:pt x="0" y="12919"/>
                    <a:pt x="12919" y="0"/>
                    <a:pt x="28856" y="0"/>
                  </a:cubicBezTo>
                  <a:close/>
                </a:path>
              </a:pathLst>
            </a:custGeom>
            <a:blipFill>
              <a:blip r:embed="rId10"/>
              <a:stretch>
                <a:fillRect l="-13147" t="0" r="-22425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30265" y="5650487"/>
            <a:ext cx="6169594" cy="3483023"/>
            <a:chOff x="0" y="0"/>
            <a:chExt cx="3442654" cy="19435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42654" cy="1943539"/>
            </a:xfrm>
            <a:custGeom>
              <a:avLst/>
              <a:gdLst/>
              <a:ahLst/>
              <a:cxnLst/>
              <a:rect r="r" b="b" t="t" l="l"/>
              <a:pathLst>
                <a:path h="1943539" w="3442654">
                  <a:moveTo>
                    <a:pt x="18823" y="0"/>
                  </a:moveTo>
                  <a:lnTo>
                    <a:pt x="3423831" y="0"/>
                  </a:lnTo>
                  <a:cubicBezTo>
                    <a:pt x="3434226" y="0"/>
                    <a:pt x="3442654" y="8427"/>
                    <a:pt x="3442654" y="18823"/>
                  </a:cubicBezTo>
                  <a:lnTo>
                    <a:pt x="3442654" y="1924716"/>
                  </a:lnTo>
                  <a:cubicBezTo>
                    <a:pt x="3442654" y="1935111"/>
                    <a:pt x="3434226" y="1943539"/>
                    <a:pt x="3423831" y="1943539"/>
                  </a:cubicBezTo>
                  <a:lnTo>
                    <a:pt x="18823" y="1943539"/>
                  </a:lnTo>
                  <a:cubicBezTo>
                    <a:pt x="8427" y="1943539"/>
                    <a:pt x="0" y="1935111"/>
                    <a:pt x="0" y="1924716"/>
                  </a:cubicBezTo>
                  <a:lnTo>
                    <a:pt x="0" y="18823"/>
                  </a:lnTo>
                  <a:cubicBezTo>
                    <a:pt x="0" y="8427"/>
                    <a:pt x="8427" y="0"/>
                    <a:pt x="18823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-9098" r="0" b="-9098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332732" y="3201496"/>
            <a:ext cx="3427687" cy="2939820"/>
            <a:chOff x="0" y="0"/>
            <a:chExt cx="1061822" cy="9106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61822" cy="910692"/>
            </a:xfrm>
            <a:custGeom>
              <a:avLst/>
              <a:gdLst/>
              <a:ahLst/>
              <a:cxnLst/>
              <a:rect r="r" b="b" t="t" l="l"/>
              <a:pathLst>
                <a:path h="910692" w="1061822">
                  <a:moveTo>
                    <a:pt x="33880" y="0"/>
                  </a:moveTo>
                  <a:lnTo>
                    <a:pt x="1027943" y="0"/>
                  </a:lnTo>
                  <a:cubicBezTo>
                    <a:pt x="1046654" y="0"/>
                    <a:pt x="1061822" y="15168"/>
                    <a:pt x="1061822" y="33880"/>
                  </a:cubicBezTo>
                  <a:lnTo>
                    <a:pt x="1061822" y="876812"/>
                  </a:lnTo>
                  <a:cubicBezTo>
                    <a:pt x="1061822" y="885798"/>
                    <a:pt x="1058253" y="894415"/>
                    <a:pt x="1051899" y="900769"/>
                  </a:cubicBezTo>
                  <a:cubicBezTo>
                    <a:pt x="1045546" y="907122"/>
                    <a:pt x="1036928" y="910692"/>
                    <a:pt x="1027943" y="910692"/>
                  </a:cubicBezTo>
                  <a:lnTo>
                    <a:pt x="33880" y="910692"/>
                  </a:lnTo>
                  <a:cubicBezTo>
                    <a:pt x="24894" y="910692"/>
                    <a:pt x="16277" y="907122"/>
                    <a:pt x="9923" y="900769"/>
                  </a:cubicBezTo>
                  <a:cubicBezTo>
                    <a:pt x="3569" y="894415"/>
                    <a:pt x="0" y="885798"/>
                    <a:pt x="0" y="876812"/>
                  </a:cubicBezTo>
                  <a:lnTo>
                    <a:pt x="0" y="33880"/>
                  </a:lnTo>
                  <a:cubicBezTo>
                    <a:pt x="0" y="24894"/>
                    <a:pt x="3569" y="16277"/>
                    <a:pt x="9923" y="9923"/>
                  </a:cubicBezTo>
                  <a:cubicBezTo>
                    <a:pt x="16277" y="3569"/>
                    <a:pt x="24894" y="0"/>
                    <a:pt x="33880" y="0"/>
                  </a:cubicBezTo>
                  <a:close/>
                </a:path>
              </a:pathLst>
            </a:custGeom>
            <a:blipFill>
              <a:blip r:embed="rId12"/>
              <a:stretch>
                <a:fillRect l="-14618" t="0" r="-14618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C6F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078639"/>
            <a:ext cx="5971159" cy="2626719"/>
            <a:chOff x="0" y="0"/>
            <a:chExt cx="1060547" cy="4665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0547" cy="466535"/>
            </a:xfrm>
            <a:custGeom>
              <a:avLst/>
              <a:gdLst/>
              <a:ahLst/>
              <a:cxnLst/>
              <a:rect r="r" b="b" t="t" l="l"/>
              <a:pathLst>
                <a:path h="466535" w="1060547">
                  <a:moveTo>
                    <a:pt x="25931" y="0"/>
                  </a:moveTo>
                  <a:lnTo>
                    <a:pt x="1034616" y="0"/>
                  </a:lnTo>
                  <a:cubicBezTo>
                    <a:pt x="1041493" y="0"/>
                    <a:pt x="1048089" y="2732"/>
                    <a:pt x="1052952" y="7595"/>
                  </a:cubicBezTo>
                  <a:cubicBezTo>
                    <a:pt x="1057815" y="12458"/>
                    <a:pt x="1060547" y="19054"/>
                    <a:pt x="1060547" y="25931"/>
                  </a:cubicBezTo>
                  <a:lnTo>
                    <a:pt x="1060547" y="440604"/>
                  </a:lnTo>
                  <a:cubicBezTo>
                    <a:pt x="1060547" y="454926"/>
                    <a:pt x="1048937" y="466535"/>
                    <a:pt x="1034616" y="466535"/>
                  </a:cubicBezTo>
                  <a:lnTo>
                    <a:pt x="25931" y="466535"/>
                  </a:lnTo>
                  <a:cubicBezTo>
                    <a:pt x="19054" y="466535"/>
                    <a:pt x="12458" y="463803"/>
                    <a:pt x="7595" y="458940"/>
                  </a:cubicBezTo>
                  <a:cubicBezTo>
                    <a:pt x="2732" y="454077"/>
                    <a:pt x="0" y="447482"/>
                    <a:pt x="0" y="440604"/>
                  </a:cubicBezTo>
                  <a:lnTo>
                    <a:pt x="0" y="25931"/>
                  </a:lnTo>
                  <a:cubicBezTo>
                    <a:pt x="0" y="11610"/>
                    <a:pt x="11610" y="0"/>
                    <a:pt x="2593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19644" r="0" b="-11964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86016" y="3531510"/>
            <a:ext cx="3427687" cy="3070559"/>
            <a:chOff x="0" y="0"/>
            <a:chExt cx="837433" cy="7501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37433" cy="750182"/>
            </a:xfrm>
            <a:custGeom>
              <a:avLst/>
              <a:gdLst/>
              <a:ahLst/>
              <a:cxnLst/>
              <a:rect r="r" b="b" t="t" l="l"/>
              <a:pathLst>
                <a:path h="750182" w="837433">
                  <a:moveTo>
                    <a:pt x="45173" y="0"/>
                  </a:moveTo>
                  <a:lnTo>
                    <a:pt x="792260" y="0"/>
                  </a:lnTo>
                  <a:cubicBezTo>
                    <a:pt x="817209" y="0"/>
                    <a:pt x="837433" y="20225"/>
                    <a:pt x="837433" y="45173"/>
                  </a:cubicBezTo>
                  <a:lnTo>
                    <a:pt x="837433" y="705009"/>
                  </a:lnTo>
                  <a:cubicBezTo>
                    <a:pt x="837433" y="729957"/>
                    <a:pt x="817209" y="750182"/>
                    <a:pt x="792260" y="750182"/>
                  </a:cubicBezTo>
                  <a:lnTo>
                    <a:pt x="45173" y="750182"/>
                  </a:lnTo>
                  <a:cubicBezTo>
                    <a:pt x="33192" y="750182"/>
                    <a:pt x="21702" y="745422"/>
                    <a:pt x="13231" y="736951"/>
                  </a:cubicBezTo>
                  <a:cubicBezTo>
                    <a:pt x="4759" y="728479"/>
                    <a:pt x="0" y="716989"/>
                    <a:pt x="0" y="705009"/>
                  </a:cubicBezTo>
                  <a:lnTo>
                    <a:pt x="0" y="45173"/>
                  </a:lnTo>
                  <a:cubicBezTo>
                    <a:pt x="0" y="20225"/>
                    <a:pt x="20225" y="0"/>
                    <a:pt x="45173" y="0"/>
                  </a:cubicBezTo>
                  <a:close/>
                </a:path>
              </a:pathLst>
            </a:custGeom>
            <a:blipFill>
              <a:blip r:embed="rId3"/>
              <a:stretch>
                <a:fillRect l="-17143" t="0" r="-1714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581642"/>
            <a:ext cx="4007848" cy="3581386"/>
            <a:chOff x="0" y="0"/>
            <a:chExt cx="809096" cy="7230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9096" cy="723003"/>
            </a:xfrm>
            <a:custGeom>
              <a:avLst/>
              <a:gdLst/>
              <a:ahLst/>
              <a:cxnLst/>
              <a:rect r="r" b="b" t="t" l="l"/>
              <a:pathLst>
                <a:path h="723003" w="809096">
                  <a:moveTo>
                    <a:pt x="38634" y="0"/>
                  </a:moveTo>
                  <a:lnTo>
                    <a:pt x="770462" y="0"/>
                  </a:lnTo>
                  <a:cubicBezTo>
                    <a:pt x="780708" y="0"/>
                    <a:pt x="790535" y="4070"/>
                    <a:pt x="797780" y="11316"/>
                  </a:cubicBezTo>
                  <a:cubicBezTo>
                    <a:pt x="805025" y="18561"/>
                    <a:pt x="809096" y="28387"/>
                    <a:pt x="809096" y="38634"/>
                  </a:cubicBezTo>
                  <a:lnTo>
                    <a:pt x="809096" y="684369"/>
                  </a:lnTo>
                  <a:cubicBezTo>
                    <a:pt x="809096" y="694615"/>
                    <a:pt x="805025" y="704442"/>
                    <a:pt x="797780" y="711687"/>
                  </a:cubicBezTo>
                  <a:cubicBezTo>
                    <a:pt x="790535" y="718932"/>
                    <a:pt x="780708" y="723003"/>
                    <a:pt x="770462" y="723003"/>
                  </a:cubicBezTo>
                  <a:lnTo>
                    <a:pt x="38634" y="723003"/>
                  </a:lnTo>
                  <a:cubicBezTo>
                    <a:pt x="28387" y="723003"/>
                    <a:pt x="18561" y="718932"/>
                    <a:pt x="11316" y="711687"/>
                  </a:cubicBezTo>
                  <a:cubicBezTo>
                    <a:pt x="4070" y="704442"/>
                    <a:pt x="0" y="694615"/>
                    <a:pt x="0" y="684369"/>
                  </a:cubicBezTo>
                  <a:lnTo>
                    <a:pt x="0" y="38634"/>
                  </a:lnTo>
                  <a:cubicBezTo>
                    <a:pt x="0" y="28387"/>
                    <a:pt x="4070" y="18561"/>
                    <a:pt x="11316" y="11316"/>
                  </a:cubicBezTo>
                  <a:cubicBezTo>
                    <a:pt x="18561" y="4070"/>
                    <a:pt x="28387" y="0"/>
                    <a:pt x="38634" y="0"/>
                  </a:cubicBezTo>
                  <a:close/>
                </a:path>
              </a:pathLst>
            </a:custGeom>
            <a:blipFill>
              <a:blip r:embed="rId4"/>
              <a:stretch>
                <a:fillRect l="-17061" t="0" r="-1706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097058" y="-72207"/>
            <a:ext cx="8185369" cy="11785754"/>
            <a:chOff x="0" y="0"/>
            <a:chExt cx="1684232" cy="24250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84232" cy="2425052"/>
            </a:xfrm>
            <a:custGeom>
              <a:avLst/>
              <a:gdLst/>
              <a:ahLst/>
              <a:cxnLst/>
              <a:rect r="r" b="b" t="t" l="l"/>
              <a:pathLst>
                <a:path h="2425052" w="1684232">
                  <a:moveTo>
                    <a:pt x="5172" y="0"/>
                  </a:moveTo>
                  <a:lnTo>
                    <a:pt x="1679060" y="0"/>
                  </a:lnTo>
                  <a:cubicBezTo>
                    <a:pt x="1681917" y="0"/>
                    <a:pt x="1684232" y="2316"/>
                    <a:pt x="1684232" y="5172"/>
                  </a:cubicBezTo>
                  <a:lnTo>
                    <a:pt x="1684232" y="2419880"/>
                  </a:lnTo>
                  <a:cubicBezTo>
                    <a:pt x="1684232" y="2422737"/>
                    <a:pt x="1681917" y="2425052"/>
                    <a:pt x="1679060" y="2425052"/>
                  </a:cubicBezTo>
                  <a:lnTo>
                    <a:pt x="5172" y="2425052"/>
                  </a:lnTo>
                  <a:cubicBezTo>
                    <a:pt x="2316" y="2425052"/>
                    <a:pt x="0" y="2422737"/>
                    <a:pt x="0" y="2419880"/>
                  </a:cubicBezTo>
                  <a:lnTo>
                    <a:pt x="0" y="5172"/>
                  </a:lnTo>
                  <a:cubicBezTo>
                    <a:pt x="0" y="2316"/>
                    <a:pt x="2316" y="0"/>
                    <a:pt x="5172" y="0"/>
                  </a:cubicBezTo>
                  <a:close/>
                </a:path>
              </a:pathLst>
            </a:custGeom>
            <a:solidFill>
              <a:srgbClr val="9FEFB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52400"/>
              <a:ext cx="1684232" cy="2577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34450" y="3333603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6543" y="1581642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-1108600" y="9571630"/>
            <a:ext cx="3086100" cy="826634"/>
            <a:chOff x="0" y="0"/>
            <a:chExt cx="711200" cy="190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1200" cy="190500"/>
            </a:xfrm>
            <a:custGeom>
              <a:avLst/>
              <a:gdLst/>
              <a:ahLst/>
              <a:cxnLst/>
              <a:rect r="r" b="b" t="t" l="l"/>
              <a:pathLst>
                <a:path h="190500" w="711200">
                  <a:moveTo>
                    <a:pt x="711200" y="0"/>
                  </a:moveTo>
                  <a:lnTo>
                    <a:pt x="711200" y="142894"/>
                  </a:lnTo>
                  <a:cubicBezTo>
                    <a:pt x="651933" y="142894"/>
                    <a:pt x="651933" y="190500"/>
                    <a:pt x="592667" y="190500"/>
                  </a:cubicBezTo>
                  <a:cubicBezTo>
                    <a:pt x="533381" y="190500"/>
                    <a:pt x="533381" y="142894"/>
                    <a:pt x="474115" y="142894"/>
                  </a:cubicBezTo>
                  <a:cubicBezTo>
                    <a:pt x="414848" y="142894"/>
                    <a:pt x="414848" y="190500"/>
                    <a:pt x="355581" y="190500"/>
                  </a:cubicBezTo>
                  <a:cubicBezTo>
                    <a:pt x="296315" y="190500"/>
                    <a:pt x="296315" y="142894"/>
                    <a:pt x="237048" y="142894"/>
                  </a:cubicBezTo>
                  <a:cubicBezTo>
                    <a:pt x="177781" y="142894"/>
                    <a:pt x="177781" y="190500"/>
                    <a:pt x="118533" y="190500"/>
                  </a:cubicBezTo>
                  <a:cubicBezTo>
                    <a:pt x="59267" y="190500"/>
                    <a:pt x="59267" y="142894"/>
                    <a:pt x="0" y="142894"/>
                  </a:cubicBezTo>
                  <a:lnTo>
                    <a:pt x="0" y="0"/>
                  </a:lnTo>
                  <a:cubicBezTo>
                    <a:pt x="59267" y="0"/>
                    <a:pt x="59267" y="47606"/>
                    <a:pt x="118533" y="47606"/>
                  </a:cubicBezTo>
                  <a:cubicBezTo>
                    <a:pt x="177781" y="47606"/>
                    <a:pt x="177781" y="0"/>
                    <a:pt x="237048" y="0"/>
                  </a:cubicBezTo>
                  <a:cubicBezTo>
                    <a:pt x="296315" y="0"/>
                    <a:pt x="296315" y="47606"/>
                    <a:pt x="355581" y="47606"/>
                  </a:cubicBezTo>
                  <a:cubicBezTo>
                    <a:pt x="414848" y="47606"/>
                    <a:pt x="414848" y="0"/>
                    <a:pt x="474115" y="0"/>
                  </a:cubicBezTo>
                  <a:cubicBezTo>
                    <a:pt x="533381" y="0"/>
                    <a:pt x="533381" y="47606"/>
                    <a:pt x="592667" y="47606"/>
                  </a:cubicBezTo>
                  <a:cubicBezTo>
                    <a:pt x="651933" y="47606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01600"/>
              <a:ext cx="711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493398" y="2699960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4"/>
                </a:lnTo>
                <a:lnTo>
                  <a:pt x="0" y="395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757027" y="6141317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581647" y="7656744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056603" y="-72207"/>
            <a:ext cx="8225825" cy="10470471"/>
            <a:chOff x="0" y="0"/>
            <a:chExt cx="1685466" cy="21453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85466" cy="2145392"/>
            </a:xfrm>
            <a:custGeom>
              <a:avLst/>
              <a:gdLst/>
              <a:ahLst/>
              <a:cxnLst/>
              <a:rect r="r" b="b" t="t" l="l"/>
              <a:pathLst>
                <a:path h="2145392" w="1685466">
                  <a:moveTo>
                    <a:pt x="5147" y="0"/>
                  </a:moveTo>
                  <a:lnTo>
                    <a:pt x="1680319" y="0"/>
                  </a:lnTo>
                  <a:cubicBezTo>
                    <a:pt x="1681684" y="0"/>
                    <a:pt x="1682993" y="542"/>
                    <a:pt x="1683958" y="1508"/>
                  </a:cubicBezTo>
                  <a:cubicBezTo>
                    <a:pt x="1684924" y="2473"/>
                    <a:pt x="1685466" y="3782"/>
                    <a:pt x="1685466" y="5147"/>
                  </a:cubicBezTo>
                  <a:lnTo>
                    <a:pt x="1685466" y="2140245"/>
                  </a:lnTo>
                  <a:cubicBezTo>
                    <a:pt x="1685466" y="2143088"/>
                    <a:pt x="1683161" y="2145392"/>
                    <a:pt x="1680319" y="2145392"/>
                  </a:cubicBezTo>
                  <a:lnTo>
                    <a:pt x="5147" y="2145392"/>
                  </a:lnTo>
                  <a:cubicBezTo>
                    <a:pt x="3782" y="2145392"/>
                    <a:pt x="2473" y="2144850"/>
                    <a:pt x="1508" y="2143885"/>
                  </a:cubicBezTo>
                  <a:cubicBezTo>
                    <a:pt x="542" y="2142919"/>
                    <a:pt x="0" y="2141610"/>
                    <a:pt x="0" y="2140245"/>
                  </a:cubicBezTo>
                  <a:lnTo>
                    <a:pt x="0" y="5147"/>
                  </a:lnTo>
                  <a:cubicBezTo>
                    <a:pt x="0" y="3782"/>
                    <a:pt x="542" y="2473"/>
                    <a:pt x="1508" y="1508"/>
                  </a:cubicBezTo>
                  <a:cubicBezTo>
                    <a:pt x="2473" y="542"/>
                    <a:pt x="3782" y="0"/>
                    <a:pt x="514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52400"/>
              <a:ext cx="1685466" cy="2297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445379" y="413653"/>
            <a:ext cx="7642386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7"/>
              </a:lnSpc>
            </a:pPr>
            <a:r>
              <a:rPr lang="en-US" sz="4806" b="true">
                <a:solidFill>
                  <a:srgbClr val="6C6FDB"/>
                </a:solidFill>
                <a:latin typeface="Loubag Bold"/>
                <a:ea typeface="Loubag Bold"/>
                <a:cs typeface="Loubag Bold"/>
                <a:sym typeface="Loubag Bold"/>
              </a:rPr>
              <a:t>Data Brief &amp;</a:t>
            </a:r>
          </a:p>
          <a:p>
            <a:pPr algn="l">
              <a:lnSpc>
                <a:spcPts val="5767"/>
              </a:lnSpc>
            </a:pPr>
            <a:r>
              <a:rPr lang="en-US" sz="4806" b="true">
                <a:solidFill>
                  <a:srgbClr val="6C6FDB"/>
                </a:solidFill>
                <a:latin typeface="Loubag Bold"/>
                <a:ea typeface="Loubag Bold"/>
                <a:cs typeface="Loubag Bold"/>
                <a:sym typeface="Loubag Bold"/>
              </a:rPr>
              <a:t> Features Spectrum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6668109" y="-1200235"/>
            <a:ext cx="2400469" cy="2400469"/>
            <a:chOff x="0" y="0"/>
            <a:chExt cx="558800" cy="55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9FEFB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44450" y="-107950"/>
              <a:ext cx="4699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291720" y="1965923"/>
            <a:ext cx="7796045" cy="8236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5"/>
              </a:lnSpc>
            </a:pPr>
            <a:r>
              <a:rPr lang="en-US" sz="1858" b="true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1. Global Asthma Prevalence Dataset:</a:t>
            </a:r>
          </a:p>
          <a:p>
            <a:pPr algn="l" marL="401331" indent="-200666" lvl="1">
              <a:lnSpc>
                <a:spcPts val="3345"/>
              </a:lnSpc>
              <a:buFont typeface="Arial"/>
              <a:buChar char="•"/>
            </a:pPr>
            <a:r>
              <a:rPr lang="en-US" sz="185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Sources: IHME - GBD Results Tool and Our World in Data.</a:t>
            </a:r>
          </a:p>
          <a:p>
            <a:pPr algn="l" marL="401331" indent="-200666" lvl="1">
              <a:lnSpc>
                <a:spcPts val="3345"/>
              </a:lnSpc>
              <a:buFont typeface="Arial"/>
              <a:buChar char="•"/>
            </a:pPr>
            <a:r>
              <a:rPr lang="en-US" sz="185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Content: Aggregated metrics mapped across countries (location_name), years (year), age groups (age_name), and gender (sex_name).</a:t>
            </a:r>
          </a:p>
          <a:p>
            <a:pPr algn="l">
              <a:lnSpc>
                <a:spcPts val="3345"/>
              </a:lnSpc>
            </a:pPr>
            <a:r>
              <a:rPr lang="en-US" sz="1858" b="true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2. Clinical Patient Dataset:</a:t>
            </a:r>
          </a:p>
          <a:p>
            <a:pPr algn="l" marL="401331" indent="-200666" lvl="1">
              <a:lnSpc>
                <a:spcPts val="3345"/>
              </a:lnSpc>
              <a:buFont typeface="Arial"/>
              <a:buChar char="•"/>
            </a:pPr>
            <a:r>
              <a:rPr lang="en-US" sz="185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Source: Originally sourced from Kaggle and optimized into our refined dataset (asthma_disease_data_realistic.csv). </a:t>
            </a:r>
          </a:p>
          <a:p>
            <a:pPr algn="l" marL="401331" indent="-200666" lvl="1">
              <a:lnSpc>
                <a:spcPts val="3345"/>
              </a:lnSpc>
              <a:buFont typeface="Arial"/>
              <a:buChar char="•"/>
            </a:pPr>
            <a:r>
              <a:rPr lang="en-US" sz="185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 Dimensions: Contains 2,392 patient profiles and 29 comprehensive features. </a:t>
            </a:r>
          </a:p>
          <a:p>
            <a:pPr algn="l" marL="401331" indent="-200666" lvl="1">
              <a:lnSpc>
                <a:spcPts val="3345"/>
              </a:lnSpc>
              <a:buFont typeface="Arial"/>
              <a:buChar char="•"/>
            </a:pPr>
            <a:r>
              <a:rPr lang="en-US" sz="185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Key Features Breakdown:</a:t>
            </a:r>
          </a:p>
          <a:p>
            <a:pPr algn="l" marL="802662" indent="-267554" lvl="2">
              <a:lnSpc>
                <a:spcPts val="3345"/>
              </a:lnSpc>
              <a:buFont typeface="Arial"/>
              <a:buChar char="⚬"/>
            </a:pPr>
            <a:r>
              <a:rPr lang="en-US" sz="185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Demographics &amp; Lifestyle: Age, Gender, BMI, Smoking status, Diet quality, Sleep quality, and Physical activity. </a:t>
            </a:r>
          </a:p>
          <a:p>
            <a:pPr algn="l" marL="802662" indent="-267554" lvl="2">
              <a:lnSpc>
                <a:spcPts val="3345"/>
              </a:lnSpc>
              <a:buFont typeface="Arial"/>
              <a:buChar char="⚬"/>
            </a:pPr>
            <a:r>
              <a:rPr lang="en-US" sz="185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Environmental &amp; Hereditary Risks: Pollution exposure, Dust exposure, Pollen exposure, Family history of asthma, and Pet allergies. </a:t>
            </a:r>
          </a:p>
          <a:p>
            <a:pPr algn="l" marL="802662" indent="-267554" lvl="2">
              <a:lnSpc>
                <a:spcPts val="3345"/>
              </a:lnSpc>
              <a:buFont typeface="Arial"/>
              <a:buChar char="⚬"/>
            </a:pPr>
            <a:r>
              <a:rPr lang="en-US" sz="185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Clinical Lung Function Metrics: Forced Expiratory Volume (LungFunctionFEV1) and Forced Vital Capacity (LungFunctionFVC). </a:t>
            </a:r>
          </a:p>
          <a:p>
            <a:pPr algn="l" marL="802662" indent="-267554" lvl="2">
              <a:lnSpc>
                <a:spcPts val="3345"/>
              </a:lnSpc>
              <a:buFont typeface="Arial"/>
              <a:buChar char="⚬"/>
            </a:pPr>
            <a:r>
              <a:rPr lang="en-US" sz="185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Current Symptoms: Wheezing, Shortness of breath, Chest tightness, Coughing, and Nighttime symptoms. </a:t>
            </a:r>
          </a:p>
          <a:p>
            <a:pPr algn="l" marL="802662" indent="-267554" lvl="2">
              <a:lnSpc>
                <a:spcPts val="3345"/>
              </a:lnSpc>
              <a:buFont typeface="Arial"/>
              <a:buChar char="⚬"/>
            </a:pPr>
            <a:r>
              <a:rPr lang="en-US" sz="185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Target Variable: Final clinical Diagnosis (Healthy vs. Asthma). </a:t>
            </a:r>
          </a:p>
          <a:p>
            <a:pPr algn="l">
              <a:lnSpc>
                <a:spcPts val="3345"/>
              </a:lnSpc>
            </a:pP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817975" y="8439534"/>
            <a:ext cx="2882650" cy="2264191"/>
          </a:xfrm>
          <a:custGeom>
            <a:avLst/>
            <a:gdLst/>
            <a:ahLst/>
            <a:cxnLst/>
            <a:rect r="r" b="b" t="t" l="l"/>
            <a:pathLst>
              <a:path h="2264191" w="2882650">
                <a:moveTo>
                  <a:pt x="0" y="0"/>
                </a:moveTo>
                <a:lnTo>
                  <a:pt x="2882650" y="0"/>
                </a:lnTo>
                <a:lnTo>
                  <a:pt x="2882650" y="2264191"/>
                </a:lnTo>
                <a:lnTo>
                  <a:pt x="0" y="22641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45600" y="5244050"/>
            <a:ext cx="3652263" cy="4014250"/>
            <a:chOff x="0" y="0"/>
            <a:chExt cx="760890" cy="83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0890" cy="836304"/>
            </a:xfrm>
            <a:custGeom>
              <a:avLst/>
              <a:gdLst/>
              <a:ahLst/>
              <a:cxnLst/>
              <a:rect r="r" b="b" t="t" l="l"/>
              <a:pathLst>
                <a:path h="836304" w="760890">
                  <a:moveTo>
                    <a:pt x="31796" y="0"/>
                  </a:moveTo>
                  <a:lnTo>
                    <a:pt x="729093" y="0"/>
                  </a:lnTo>
                  <a:cubicBezTo>
                    <a:pt x="737526" y="0"/>
                    <a:pt x="745614" y="3350"/>
                    <a:pt x="751577" y="9313"/>
                  </a:cubicBezTo>
                  <a:cubicBezTo>
                    <a:pt x="757540" y="15276"/>
                    <a:pt x="760890" y="23363"/>
                    <a:pt x="760890" y="31796"/>
                  </a:cubicBezTo>
                  <a:lnTo>
                    <a:pt x="760890" y="804507"/>
                  </a:lnTo>
                  <a:cubicBezTo>
                    <a:pt x="760890" y="812940"/>
                    <a:pt x="757540" y="821028"/>
                    <a:pt x="751577" y="826991"/>
                  </a:cubicBezTo>
                  <a:cubicBezTo>
                    <a:pt x="745614" y="832954"/>
                    <a:pt x="737526" y="836304"/>
                    <a:pt x="729093" y="836304"/>
                  </a:cubicBezTo>
                  <a:lnTo>
                    <a:pt x="31796" y="836304"/>
                  </a:lnTo>
                  <a:cubicBezTo>
                    <a:pt x="23363" y="836304"/>
                    <a:pt x="15276" y="832954"/>
                    <a:pt x="9313" y="826991"/>
                  </a:cubicBezTo>
                  <a:cubicBezTo>
                    <a:pt x="3350" y="821028"/>
                    <a:pt x="0" y="812940"/>
                    <a:pt x="0" y="804507"/>
                  </a:cubicBezTo>
                  <a:lnTo>
                    <a:pt x="0" y="31796"/>
                  </a:lnTo>
                  <a:cubicBezTo>
                    <a:pt x="0" y="23363"/>
                    <a:pt x="3350" y="15276"/>
                    <a:pt x="9313" y="9313"/>
                  </a:cubicBezTo>
                  <a:cubicBezTo>
                    <a:pt x="15276" y="3350"/>
                    <a:pt x="23363" y="0"/>
                    <a:pt x="3179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666" r="0" b="-18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45600" y="1028700"/>
            <a:ext cx="3652263" cy="4014250"/>
            <a:chOff x="0" y="0"/>
            <a:chExt cx="760890" cy="83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0890" cy="836304"/>
            </a:xfrm>
            <a:custGeom>
              <a:avLst/>
              <a:gdLst/>
              <a:ahLst/>
              <a:cxnLst/>
              <a:rect r="r" b="b" t="t" l="l"/>
              <a:pathLst>
                <a:path h="836304" w="760890">
                  <a:moveTo>
                    <a:pt x="31796" y="0"/>
                  </a:moveTo>
                  <a:lnTo>
                    <a:pt x="729093" y="0"/>
                  </a:lnTo>
                  <a:cubicBezTo>
                    <a:pt x="737526" y="0"/>
                    <a:pt x="745614" y="3350"/>
                    <a:pt x="751577" y="9313"/>
                  </a:cubicBezTo>
                  <a:cubicBezTo>
                    <a:pt x="757540" y="15276"/>
                    <a:pt x="760890" y="23363"/>
                    <a:pt x="760890" y="31796"/>
                  </a:cubicBezTo>
                  <a:lnTo>
                    <a:pt x="760890" y="804507"/>
                  </a:lnTo>
                  <a:cubicBezTo>
                    <a:pt x="760890" y="812940"/>
                    <a:pt x="757540" y="821028"/>
                    <a:pt x="751577" y="826991"/>
                  </a:cubicBezTo>
                  <a:cubicBezTo>
                    <a:pt x="745614" y="832954"/>
                    <a:pt x="737526" y="836304"/>
                    <a:pt x="729093" y="836304"/>
                  </a:cubicBezTo>
                  <a:lnTo>
                    <a:pt x="31796" y="836304"/>
                  </a:lnTo>
                  <a:cubicBezTo>
                    <a:pt x="23363" y="836304"/>
                    <a:pt x="15276" y="832954"/>
                    <a:pt x="9313" y="826991"/>
                  </a:cubicBezTo>
                  <a:cubicBezTo>
                    <a:pt x="3350" y="821028"/>
                    <a:pt x="0" y="812940"/>
                    <a:pt x="0" y="804507"/>
                  </a:cubicBezTo>
                  <a:lnTo>
                    <a:pt x="0" y="31796"/>
                  </a:lnTo>
                  <a:cubicBezTo>
                    <a:pt x="0" y="23363"/>
                    <a:pt x="3350" y="15276"/>
                    <a:pt x="9313" y="9313"/>
                  </a:cubicBezTo>
                  <a:cubicBezTo>
                    <a:pt x="15276" y="3350"/>
                    <a:pt x="23363" y="0"/>
                    <a:pt x="31796" y="0"/>
                  </a:cubicBezTo>
                  <a:close/>
                </a:path>
              </a:pathLst>
            </a:custGeom>
            <a:blipFill>
              <a:blip r:embed="rId3"/>
              <a:stretch>
                <a:fillRect l="-32485" t="0" r="-3248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099037" y="1028700"/>
            <a:ext cx="3652263" cy="8229600"/>
            <a:chOff x="0" y="0"/>
            <a:chExt cx="760890" cy="17145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0890" cy="1714503"/>
            </a:xfrm>
            <a:custGeom>
              <a:avLst/>
              <a:gdLst/>
              <a:ahLst/>
              <a:cxnLst/>
              <a:rect r="r" b="b" t="t" l="l"/>
              <a:pathLst>
                <a:path h="1714503" w="760890">
                  <a:moveTo>
                    <a:pt x="31796" y="0"/>
                  </a:moveTo>
                  <a:lnTo>
                    <a:pt x="729093" y="0"/>
                  </a:lnTo>
                  <a:cubicBezTo>
                    <a:pt x="737526" y="0"/>
                    <a:pt x="745614" y="3350"/>
                    <a:pt x="751577" y="9313"/>
                  </a:cubicBezTo>
                  <a:cubicBezTo>
                    <a:pt x="757540" y="15276"/>
                    <a:pt x="760890" y="23363"/>
                    <a:pt x="760890" y="31796"/>
                  </a:cubicBezTo>
                  <a:lnTo>
                    <a:pt x="760890" y="1682707"/>
                  </a:lnTo>
                  <a:cubicBezTo>
                    <a:pt x="760890" y="1691140"/>
                    <a:pt x="757540" y="1699227"/>
                    <a:pt x="751577" y="1705190"/>
                  </a:cubicBezTo>
                  <a:cubicBezTo>
                    <a:pt x="745614" y="1711153"/>
                    <a:pt x="737526" y="1714503"/>
                    <a:pt x="729093" y="1714503"/>
                  </a:cubicBezTo>
                  <a:lnTo>
                    <a:pt x="31796" y="1714503"/>
                  </a:lnTo>
                  <a:cubicBezTo>
                    <a:pt x="23363" y="1714503"/>
                    <a:pt x="15276" y="1711153"/>
                    <a:pt x="9313" y="1705190"/>
                  </a:cubicBezTo>
                  <a:cubicBezTo>
                    <a:pt x="3350" y="1699227"/>
                    <a:pt x="0" y="1691140"/>
                    <a:pt x="0" y="1682707"/>
                  </a:cubicBezTo>
                  <a:lnTo>
                    <a:pt x="0" y="31796"/>
                  </a:lnTo>
                  <a:cubicBezTo>
                    <a:pt x="0" y="23363"/>
                    <a:pt x="3350" y="15276"/>
                    <a:pt x="9313" y="9313"/>
                  </a:cubicBezTo>
                  <a:cubicBezTo>
                    <a:pt x="15276" y="3350"/>
                    <a:pt x="23363" y="0"/>
                    <a:pt x="31796" y="0"/>
                  </a:cubicBezTo>
                  <a:close/>
                </a:path>
              </a:pathLst>
            </a:custGeom>
            <a:blipFill>
              <a:blip r:embed="rId4"/>
              <a:stretch>
                <a:fillRect l="-25203" t="0" r="-25203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84566" y="2181786"/>
            <a:ext cx="6558591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5250" b="true">
                <a:solidFill>
                  <a:srgbClr val="1C1C1C"/>
                </a:solidFill>
                <a:latin typeface="Loubag Bold"/>
                <a:ea typeface="Loubag Bold"/>
                <a:cs typeface="Loubag Bold"/>
                <a:sym typeface="Loubag Bold"/>
              </a:rPr>
              <a:t>1️⃣ Python &amp; Machine Learning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6607" y="4009894"/>
            <a:ext cx="7350472" cy="4797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1"/>
              </a:lnSpc>
            </a:pPr>
            <a:r>
              <a:rPr lang="en-US" sz="3039" b="true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📌 Slide Title:</a:t>
            </a:r>
          </a:p>
          <a:p>
            <a:pPr algn="l" marL="656219" indent="-328109" lvl="1">
              <a:lnSpc>
                <a:spcPts val="5471"/>
              </a:lnSpc>
              <a:buFont typeface="Arial"/>
              <a:buChar char="•"/>
            </a:pPr>
            <a:r>
              <a:rPr lang="en-US" sz="3039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Section I: Python &amp; Machine Learning</a:t>
            </a:r>
          </a:p>
          <a:p>
            <a:pPr algn="l">
              <a:lnSpc>
                <a:spcPts val="5471"/>
              </a:lnSpc>
            </a:pPr>
            <a:r>
              <a:rPr lang="en-US" sz="3039" b="true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📝 Slide Content:</a:t>
            </a:r>
          </a:p>
          <a:p>
            <a:pPr algn="l" marL="656219" indent="-328109" lvl="1">
              <a:lnSpc>
                <a:spcPts val="5471"/>
              </a:lnSpc>
              <a:buFont typeface="Arial"/>
              <a:buChar char="•"/>
            </a:pPr>
            <a:r>
              <a:rPr lang="en-US" sz="3039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Exploratory Data Analysis (EDA) </a:t>
            </a:r>
          </a:p>
          <a:p>
            <a:pPr algn="l" marL="656219" indent="-328109" lvl="1">
              <a:lnSpc>
                <a:spcPts val="5471"/>
              </a:lnSpc>
              <a:buFont typeface="Arial"/>
              <a:buChar char="•"/>
            </a:pPr>
            <a:r>
              <a:rPr lang="en-US" sz="3039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Predictive Modeling (XGBoost) </a:t>
            </a:r>
          </a:p>
          <a:p>
            <a:pPr algn="l" marL="656219" indent="-328109" lvl="1">
              <a:lnSpc>
                <a:spcPts val="5471"/>
              </a:lnSpc>
              <a:buFont typeface="Arial"/>
              <a:buChar char="•"/>
            </a:pPr>
            <a:r>
              <a:rPr lang="en-US" sz="3039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Interactive Web Application (Streamlit) </a:t>
            </a:r>
          </a:p>
          <a:p>
            <a:pPr algn="l">
              <a:lnSpc>
                <a:spcPts val="5471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1028700"/>
            <a:ext cx="2365333" cy="501651"/>
            <a:chOff x="0" y="0"/>
            <a:chExt cx="486694" cy="1032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6694" cy="103220"/>
            </a:xfrm>
            <a:custGeom>
              <a:avLst/>
              <a:gdLst/>
              <a:ahLst/>
              <a:cxnLst/>
              <a:rect r="r" b="b" t="t" l="l"/>
              <a:pathLst>
                <a:path h="103220" w="486694">
                  <a:moveTo>
                    <a:pt x="17900" y="0"/>
                  </a:moveTo>
                  <a:lnTo>
                    <a:pt x="468794" y="0"/>
                  </a:lnTo>
                  <a:cubicBezTo>
                    <a:pt x="473542" y="0"/>
                    <a:pt x="478095" y="1886"/>
                    <a:pt x="481451" y="5243"/>
                  </a:cubicBezTo>
                  <a:cubicBezTo>
                    <a:pt x="484808" y="8600"/>
                    <a:pt x="486694" y="13152"/>
                    <a:pt x="486694" y="17900"/>
                  </a:cubicBezTo>
                  <a:lnTo>
                    <a:pt x="486694" y="85321"/>
                  </a:lnTo>
                  <a:cubicBezTo>
                    <a:pt x="486694" y="90068"/>
                    <a:pt x="484808" y="94621"/>
                    <a:pt x="481451" y="97978"/>
                  </a:cubicBezTo>
                  <a:cubicBezTo>
                    <a:pt x="478095" y="101335"/>
                    <a:pt x="473542" y="103220"/>
                    <a:pt x="468794" y="103220"/>
                  </a:cubicBezTo>
                  <a:lnTo>
                    <a:pt x="17900" y="103220"/>
                  </a:lnTo>
                  <a:cubicBezTo>
                    <a:pt x="13152" y="103220"/>
                    <a:pt x="8600" y="101335"/>
                    <a:pt x="5243" y="97978"/>
                  </a:cubicBezTo>
                  <a:cubicBezTo>
                    <a:pt x="1886" y="94621"/>
                    <a:pt x="0" y="90068"/>
                    <a:pt x="0" y="85321"/>
                  </a:cubicBezTo>
                  <a:lnTo>
                    <a:pt x="0" y="17900"/>
                  </a:lnTo>
                  <a:cubicBezTo>
                    <a:pt x="0" y="13152"/>
                    <a:pt x="1886" y="8600"/>
                    <a:pt x="5243" y="5243"/>
                  </a:cubicBezTo>
                  <a:cubicBezTo>
                    <a:pt x="8600" y="1886"/>
                    <a:pt x="13152" y="0"/>
                    <a:pt x="17900" y="0"/>
                  </a:cubicBezTo>
                  <a:close/>
                </a:path>
              </a:pathLst>
            </a:custGeom>
            <a:solidFill>
              <a:srgbClr val="9FEFB6"/>
            </a:solidFill>
            <a:ln w="19050" cap="sq">
              <a:solidFill>
                <a:srgbClr val="6C6FDB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52400"/>
              <a:ext cx="486694" cy="25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92390" y="1128028"/>
            <a:ext cx="292176" cy="295398"/>
          </a:xfrm>
          <a:custGeom>
            <a:avLst/>
            <a:gdLst/>
            <a:ahLst/>
            <a:cxnLst/>
            <a:rect r="r" b="b" t="t" l="l"/>
            <a:pathLst>
              <a:path h="295398" w="292176">
                <a:moveTo>
                  <a:pt x="0" y="0"/>
                </a:moveTo>
                <a:lnTo>
                  <a:pt x="292176" y="0"/>
                </a:lnTo>
                <a:lnTo>
                  <a:pt x="292176" y="295398"/>
                </a:lnTo>
                <a:lnTo>
                  <a:pt x="0" y="295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74909" y="962343"/>
            <a:ext cx="1724594" cy="49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0B0A0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Primary Clinic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016194" y="8637753"/>
            <a:ext cx="2882650" cy="2264191"/>
          </a:xfrm>
          <a:custGeom>
            <a:avLst/>
            <a:gdLst/>
            <a:ahLst/>
            <a:cxnLst/>
            <a:rect r="r" b="b" t="t" l="l"/>
            <a:pathLst>
              <a:path h="2264191" w="2882650">
                <a:moveTo>
                  <a:pt x="0" y="0"/>
                </a:moveTo>
                <a:lnTo>
                  <a:pt x="2882650" y="0"/>
                </a:lnTo>
                <a:lnTo>
                  <a:pt x="2882650" y="2264191"/>
                </a:lnTo>
                <a:lnTo>
                  <a:pt x="0" y="22641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243182" y="6666156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30793" y="2579002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4" y="0"/>
                </a:lnTo>
                <a:lnTo>
                  <a:pt x="395814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-1108600" y="9571630"/>
            <a:ext cx="3086100" cy="826634"/>
            <a:chOff x="0" y="0"/>
            <a:chExt cx="711200" cy="190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1200" cy="190500"/>
            </a:xfrm>
            <a:custGeom>
              <a:avLst/>
              <a:gdLst/>
              <a:ahLst/>
              <a:cxnLst/>
              <a:rect r="r" b="b" t="t" l="l"/>
              <a:pathLst>
                <a:path h="190500" w="711200">
                  <a:moveTo>
                    <a:pt x="711200" y="0"/>
                  </a:moveTo>
                  <a:lnTo>
                    <a:pt x="711200" y="142894"/>
                  </a:lnTo>
                  <a:cubicBezTo>
                    <a:pt x="651933" y="142894"/>
                    <a:pt x="651933" y="190500"/>
                    <a:pt x="592667" y="190500"/>
                  </a:cubicBezTo>
                  <a:cubicBezTo>
                    <a:pt x="533381" y="190500"/>
                    <a:pt x="533381" y="142894"/>
                    <a:pt x="474115" y="142894"/>
                  </a:cubicBezTo>
                  <a:cubicBezTo>
                    <a:pt x="414848" y="142894"/>
                    <a:pt x="414848" y="190500"/>
                    <a:pt x="355581" y="190500"/>
                  </a:cubicBezTo>
                  <a:cubicBezTo>
                    <a:pt x="296315" y="190500"/>
                    <a:pt x="296315" y="142894"/>
                    <a:pt x="237048" y="142894"/>
                  </a:cubicBezTo>
                  <a:cubicBezTo>
                    <a:pt x="177781" y="142894"/>
                    <a:pt x="177781" y="190500"/>
                    <a:pt x="118533" y="190500"/>
                  </a:cubicBezTo>
                  <a:cubicBezTo>
                    <a:pt x="59267" y="190500"/>
                    <a:pt x="59267" y="142894"/>
                    <a:pt x="0" y="142894"/>
                  </a:cubicBezTo>
                  <a:lnTo>
                    <a:pt x="0" y="0"/>
                  </a:lnTo>
                  <a:cubicBezTo>
                    <a:pt x="59267" y="0"/>
                    <a:pt x="59267" y="47606"/>
                    <a:pt x="118533" y="47606"/>
                  </a:cubicBezTo>
                  <a:cubicBezTo>
                    <a:pt x="177781" y="47606"/>
                    <a:pt x="177781" y="0"/>
                    <a:pt x="237048" y="0"/>
                  </a:cubicBezTo>
                  <a:cubicBezTo>
                    <a:pt x="296315" y="0"/>
                    <a:pt x="296315" y="47606"/>
                    <a:pt x="355581" y="47606"/>
                  </a:cubicBezTo>
                  <a:cubicBezTo>
                    <a:pt x="414848" y="47606"/>
                    <a:pt x="414848" y="0"/>
                    <a:pt x="474115" y="0"/>
                  </a:cubicBezTo>
                  <a:cubicBezTo>
                    <a:pt x="533381" y="0"/>
                    <a:pt x="533381" y="47606"/>
                    <a:pt x="592667" y="47606"/>
                  </a:cubicBezTo>
                  <a:cubicBezTo>
                    <a:pt x="651933" y="47606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6C6FD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01600"/>
              <a:ext cx="711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087765" y="-1272442"/>
            <a:ext cx="2400469" cy="2400469"/>
            <a:chOff x="0" y="0"/>
            <a:chExt cx="558800" cy="55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6C6FD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44450" y="-107950"/>
              <a:ext cx="4699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491043" y="2183187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72512" y="-1339813"/>
            <a:ext cx="7512758" cy="11886519"/>
            <a:chOff x="0" y="0"/>
            <a:chExt cx="1545835" cy="24457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5835" cy="2445786"/>
            </a:xfrm>
            <a:custGeom>
              <a:avLst/>
              <a:gdLst/>
              <a:ahLst/>
              <a:cxnLst/>
              <a:rect r="r" b="b" t="t" l="l"/>
              <a:pathLst>
                <a:path h="2445786" w="1545835">
                  <a:moveTo>
                    <a:pt x="5636" y="0"/>
                  </a:moveTo>
                  <a:lnTo>
                    <a:pt x="1540200" y="0"/>
                  </a:lnTo>
                  <a:cubicBezTo>
                    <a:pt x="1541694" y="0"/>
                    <a:pt x="1543128" y="594"/>
                    <a:pt x="1544185" y="1651"/>
                  </a:cubicBezTo>
                  <a:cubicBezTo>
                    <a:pt x="1545241" y="2707"/>
                    <a:pt x="1545835" y="4141"/>
                    <a:pt x="1545835" y="5636"/>
                  </a:cubicBezTo>
                  <a:lnTo>
                    <a:pt x="1545835" y="2440150"/>
                  </a:lnTo>
                  <a:cubicBezTo>
                    <a:pt x="1545835" y="2441645"/>
                    <a:pt x="1545241" y="2443078"/>
                    <a:pt x="1544185" y="2444135"/>
                  </a:cubicBezTo>
                  <a:cubicBezTo>
                    <a:pt x="1543128" y="2445192"/>
                    <a:pt x="1541694" y="2445786"/>
                    <a:pt x="1540200" y="2445786"/>
                  </a:cubicBezTo>
                  <a:lnTo>
                    <a:pt x="5636" y="2445786"/>
                  </a:lnTo>
                  <a:cubicBezTo>
                    <a:pt x="2523" y="2445786"/>
                    <a:pt x="0" y="2443263"/>
                    <a:pt x="0" y="2440150"/>
                  </a:cubicBezTo>
                  <a:lnTo>
                    <a:pt x="0" y="5636"/>
                  </a:lnTo>
                  <a:cubicBezTo>
                    <a:pt x="0" y="4141"/>
                    <a:pt x="594" y="2707"/>
                    <a:pt x="1651" y="1651"/>
                  </a:cubicBezTo>
                  <a:cubicBezTo>
                    <a:pt x="2707" y="594"/>
                    <a:pt x="4141" y="0"/>
                    <a:pt x="5636" y="0"/>
                  </a:cubicBezTo>
                  <a:close/>
                </a:path>
              </a:pathLst>
            </a:custGeom>
            <a:solidFill>
              <a:srgbClr val="72C3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1545835" cy="2598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12625" y="8521081"/>
            <a:ext cx="2882650" cy="2264191"/>
          </a:xfrm>
          <a:custGeom>
            <a:avLst/>
            <a:gdLst/>
            <a:ahLst/>
            <a:cxnLst/>
            <a:rect r="r" b="b" t="t" l="l"/>
            <a:pathLst>
              <a:path h="2264191" w="2882650">
                <a:moveTo>
                  <a:pt x="0" y="0"/>
                </a:moveTo>
                <a:lnTo>
                  <a:pt x="2882650" y="0"/>
                </a:lnTo>
                <a:lnTo>
                  <a:pt x="2882650" y="2264191"/>
                </a:lnTo>
                <a:lnTo>
                  <a:pt x="0" y="2264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45665" y="419735"/>
            <a:ext cx="6966452" cy="9645502"/>
            <a:chOff x="0" y="0"/>
            <a:chExt cx="9288603" cy="1286066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27903" y="0"/>
              <a:ext cx="9232798" cy="4301632"/>
              <a:chOff x="0" y="0"/>
              <a:chExt cx="1050794" cy="48957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50794" cy="489573"/>
              </a:xfrm>
              <a:custGeom>
                <a:avLst/>
                <a:gdLst/>
                <a:ahLst/>
                <a:cxnLst/>
                <a:rect r="r" b="b" t="t" l="l"/>
                <a:pathLst>
                  <a:path h="489573" w="1050794">
                    <a:moveTo>
                      <a:pt x="33541" y="0"/>
                    </a:moveTo>
                    <a:lnTo>
                      <a:pt x="1017253" y="0"/>
                    </a:lnTo>
                    <a:cubicBezTo>
                      <a:pt x="1035777" y="0"/>
                      <a:pt x="1050794" y="15017"/>
                      <a:pt x="1050794" y="33541"/>
                    </a:cubicBezTo>
                    <a:lnTo>
                      <a:pt x="1050794" y="456032"/>
                    </a:lnTo>
                    <a:cubicBezTo>
                      <a:pt x="1050794" y="474556"/>
                      <a:pt x="1035777" y="489573"/>
                      <a:pt x="1017253" y="489573"/>
                    </a:cubicBezTo>
                    <a:lnTo>
                      <a:pt x="33541" y="489573"/>
                    </a:lnTo>
                    <a:cubicBezTo>
                      <a:pt x="15017" y="489573"/>
                      <a:pt x="0" y="474556"/>
                      <a:pt x="0" y="456032"/>
                    </a:cubicBezTo>
                    <a:lnTo>
                      <a:pt x="0" y="33541"/>
                    </a:lnTo>
                    <a:cubicBezTo>
                      <a:pt x="0" y="15017"/>
                      <a:pt x="15017" y="0"/>
                      <a:pt x="33541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0" t="-590" r="0" b="-1763"/>
                </a:stretch>
              </a:blipFill>
              <a:ln cap="rnd">
                <a:noFill/>
                <a:prstDash val="solid"/>
                <a:round/>
              </a:ln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8723497" y="7701382"/>
              <a:ext cx="527753" cy="527753"/>
            </a:xfrm>
            <a:custGeom>
              <a:avLst/>
              <a:gdLst/>
              <a:ahLst/>
              <a:cxnLst/>
              <a:rect r="r" b="b" t="t" l="l"/>
              <a:pathLst>
                <a:path h="527753" w="527753">
                  <a:moveTo>
                    <a:pt x="0" y="0"/>
                  </a:moveTo>
                  <a:lnTo>
                    <a:pt x="527753" y="0"/>
                  </a:lnTo>
                  <a:lnTo>
                    <a:pt x="527753" y="527753"/>
                  </a:lnTo>
                  <a:lnTo>
                    <a:pt x="0" y="527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723497" y="6618961"/>
              <a:ext cx="527753" cy="527753"/>
            </a:xfrm>
            <a:custGeom>
              <a:avLst/>
              <a:gdLst/>
              <a:ahLst/>
              <a:cxnLst/>
              <a:rect r="r" b="b" t="t" l="l"/>
              <a:pathLst>
                <a:path h="527753" w="527753">
                  <a:moveTo>
                    <a:pt x="0" y="0"/>
                  </a:moveTo>
                  <a:lnTo>
                    <a:pt x="527753" y="0"/>
                  </a:lnTo>
                  <a:lnTo>
                    <a:pt x="527753" y="527753"/>
                  </a:lnTo>
                  <a:lnTo>
                    <a:pt x="0" y="527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0" y="8356135"/>
              <a:ext cx="9288603" cy="4504534"/>
              <a:chOff x="0" y="0"/>
              <a:chExt cx="1048525" cy="50848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48525" cy="508485"/>
              </a:xfrm>
              <a:custGeom>
                <a:avLst/>
                <a:gdLst/>
                <a:ahLst/>
                <a:cxnLst/>
                <a:rect r="r" b="b" t="t" l="l"/>
                <a:pathLst>
                  <a:path h="508485" w="1048525">
                    <a:moveTo>
                      <a:pt x="33339" y="0"/>
                    </a:moveTo>
                    <a:lnTo>
                      <a:pt x="1015185" y="0"/>
                    </a:lnTo>
                    <a:cubicBezTo>
                      <a:pt x="1033598" y="0"/>
                      <a:pt x="1048525" y="14927"/>
                      <a:pt x="1048525" y="33339"/>
                    </a:cubicBezTo>
                    <a:lnTo>
                      <a:pt x="1048525" y="475146"/>
                    </a:lnTo>
                    <a:cubicBezTo>
                      <a:pt x="1048525" y="493558"/>
                      <a:pt x="1033598" y="508485"/>
                      <a:pt x="1015185" y="508485"/>
                    </a:cubicBezTo>
                    <a:lnTo>
                      <a:pt x="33339" y="508485"/>
                    </a:lnTo>
                    <a:cubicBezTo>
                      <a:pt x="14927" y="508485"/>
                      <a:pt x="0" y="493558"/>
                      <a:pt x="0" y="475146"/>
                    </a:cubicBezTo>
                    <a:lnTo>
                      <a:pt x="0" y="33339"/>
                    </a:lnTo>
                    <a:cubicBezTo>
                      <a:pt x="0" y="14927"/>
                      <a:pt x="14927" y="0"/>
                      <a:pt x="33339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59" t="0" r="-59" b="0"/>
                </a:stretch>
              </a:blipFill>
              <a:ln cap="rnd">
                <a:noFill/>
                <a:prstDash val="solid"/>
                <a:round/>
              </a:ln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9450" y="4428632"/>
              <a:ext cx="9269703" cy="3800503"/>
              <a:chOff x="0" y="0"/>
              <a:chExt cx="980331" cy="40192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80331" cy="401928"/>
              </a:xfrm>
              <a:custGeom>
                <a:avLst/>
                <a:gdLst/>
                <a:ahLst/>
                <a:cxnLst/>
                <a:rect r="r" b="b" t="t" l="l"/>
                <a:pathLst>
                  <a:path h="401928" w="980331">
                    <a:moveTo>
                      <a:pt x="33407" y="0"/>
                    </a:moveTo>
                    <a:lnTo>
                      <a:pt x="946924" y="0"/>
                    </a:lnTo>
                    <a:cubicBezTo>
                      <a:pt x="955784" y="0"/>
                      <a:pt x="964281" y="3520"/>
                      <a:pt x="970546" y="9785"/>
                    </a:cubicBezTo>
                    <a:cubicBezTo>
                      <a:pt x="976811" y="16050"/>
                      <a:pt x="980331" y="24547"/>
                      <a:pt x="980331" y="33407"/>
                    </a:cubicBezTo>
                    <a:lnTo>
                      <a:pt x="980331" y="368520"/>
                    </a:lnTo>
                    <a:cubicBezTo>
                      <a:pt x="980331" y="386971"/>
                      <a:pt x="965374" y="401928"/>
                      <a:pt x="946924" y="401928"/>
                    </a:cubicBezTo>
                    <a:lnTo>
                      <a:pt x="33407" y="401928"/>
                    </a:lnTo>
                    <a:cubicBezTo>
                      <a:pt x="24547" y="401928"/>
                      <a:pt x="16050" y="398408"/>
                      <a:pt x="9785" y="392143"/>
                    </a:cubicBezTo>
                    <a:cubicBezTo>
                      <a:pt x="3520" y="385878"/>
                      <a:pt x="0" y="377381"/>
                      <a:pt x="0" y="368520"/>
                    </a:cubicBezTo>
                    <a:lnTo>
                      <a:pt x="0" y="33407"/>
                    </a:lnTo>
                    <a:cubicBezTo>
                      <a:pt x="0" y="24547"/>
                      <a:pt x="3520" y="16050"/>
                      <a:pt x="9785" y="9785"/>
                    </a:cubicBezTo>
                    <a:cubicBezTo>
                      <a:pt x="16050" y="3520"/>
                      <a:pt x="24547" y="0"/>
                      <a:pt x="33407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-1409" t="0" r="-1409" b="0"/>
                </a:stretch>
              </a:blipFill>
              <a:ln cap="rnd">
                <a:noFill/>
                <a:prstDash val="solid"/>
                <a:round/>
              </a:ln>
            </p:spPr>
          </p:sp>
        </p:grpSp>
      </p:grpSp>
      <p:grpSp>
        <p:nvGrpSpPr>
          <p:cNvPr name="Group 15" id="15"/>
          <p:cNvGrpSpPr/>
          <p:nvPr/>
        </p:nvGrpSpPr>
        <p:grpSpPr>
          <a:xfrm rot="0">
            <a:off x="17087765" y="-1272442"/>
            <a:ext cx="2400469" cy="2400469"/>
            <a:chOff x="0" y="0"/>
            <a:chExt cx="558800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9FEFB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44450" y="-107950"/>
              <a:ext cx="4699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104514" y="419735"/>
            <a:ext cx="480804" cy="480804"/>
          </a:xfrm>
          <a:custGeom>
            <a:avLst/>
            <a:gdLst/>
            <a:ahLst/>
            <a:cxnLst/>
            <a:rect r="r" b="b" t="t" l="l"/>
            <a:pathLst>
              <a:path h="480804" w="480804">
                <a:moveTo>
                  <a:pt x="0" y="0"/>
                </a:moveTo>
                <a:lnTo>
                  <a:pt x="480804" y="0"/>
                </a:lnTo>
                <a:lnTo>
                  <a:pt x="480804" y="480804"/>
                </a:lnTo>
                <a:lnTo>
                  <a:pt x="0" y="4808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104514" y="3771747"/>
            <a:ext cx="480804" cy="480804"/>
          </a:xfrm>
          <a:custGeom>
            <a:avLst/>
            <a:gdLst/>
            <a:ahLst/>
            <a:cxnLst/>
            <a:rect r="r" b="b" t="t" l="l"/>
            <a:pathLst>
              <a:path h="480804" w="480804">
                <a:moveTo>
                  <a:pt x="0" y="0"/>
                </a:moveTo>
                <a:lnTo>
                  <a:pt x="480804" y="0"/>
                </a:lnTo>
                <a:lnTo>
                  <a:pt x="480804" y="480804"/>
                </a:lnTo>
                <a:lnTo>
                  <a:pt x="0" y="4808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104514" y="6670784"/>
            <a:ext cx="480804" cy="480804"/>
          </a:xfrm>
          <a:custGeom>
            <a:avLst/>
            <a:gdLst/>
            <a:ahLst/>
            <a:cxnLst/>
            <a:rect r="r" b="b" t="t" l="l"/>
            <a:pathLst>
              <a:path h="480804" w="480804">
                <a:moveTo>
                  <a:pt x="0" y="0"/>
                </a:moveTo>
                <a:lnTo>
                  <a:pt x="480804" y="0"/>
                </a:lnTo>
                <a:lnTo>
                  <a:pt x="480804" y="480805"/>
                </a:lnTo>
                <a:lnTo>
                  <a:pt x="0" y="4808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11479" y="707762"/>
            <a:ext cx="8609374" cy="132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5"/>
              </a:lnSpc>
            </a:pPr>
            <a:r>
              <a:rPr lang="en-US" sz="4722">
                <a:solidFill>
                  <a:srgbClr val="6C6FDB"/>
                </a:solidFill>
                <a:latin typeface="Loubag"/>
                <a:ea typeface="Loubag"/>
                <a:cs typeface="Loubag"/>
                <a:sym typeface="Loubag"/>
              </a:rPr>
              <a:t>Streamlit Hub - Page 1:</a:t>
            </a:r>
          </a:p>
          <a:p>
            <a:pPr algn="l" marL="0" indent="0" lvl="0">
              <a:lnSpc>
                <a:spcPts val="5195"/>
              </a:lnSpc>
              <a:spcBef>
                <a:spcPct val="0"/>
              </a:spcBef>
            </a:pPr>
            <a:r>
              <a:rPr lang="en-US" sz="4722">
                <a:solidFill>
                  <a:srgbClr val="6C6FDB"/>
                </a:solidFill>
                <a:latin typeface="Loubag"/>
                <a:ea typeface="Loubag"/>
                <a:cs typeface="Loubag"/>
                <a:sym typeface="Loubag"/>
              </a:rPr>
              <a:t> Global Asthma Analytics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1479" y="2052799"/>
            <a:ext cx="9373383" cy="819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411" indent="-246706" lvl="1">
              <a:lnSpc>
                <a:spcPts val="4113"/>
              </a:lnSpc>
              <a:buFont typeface="Arial"/>
              <a:buChar char="•"/>
            </a:pPr>
            <a:r>
              <a:rPr lang="en-US" b="true" sz="2285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Objective: </a:t>
            </a:r>
            <a:r>
              <a:rPr lang="en-US" sz="2285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Mapping and visualizing global macro-level healthcare metrics and geographical asthma trends.</a:t>
            </a:r>
          </a:p>
          <a:p>
            <a:pPr algn="l" marL="493411" indent="-246706" lvl="1">
              <a:lnSpc>
                <a:spcPts val="4113"/>
              </a:lnSpc>
              <a:buFont typeface="Arial"/>
              <a:buChar char="•"/>
            </a:pPr>
            <a:r>
              <a:rPr lang="en-US" b="true" sz="2285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Core Functionalities:</a:t>
            </a:r>
          </a:p>
          <a:p>
            <a:pPr algn="l" marL="986823" indent="-328941" lvl="2">
              <a:lnSpc>
                <a:spcPts val="4113"/>
              </a:lnSpc>
              <a:buFont typeface="Arial"/>
              <a:buChar char="⚬"/>
            </a:pPr>
            <a:r>
              <a:rPr lang="en-US" sz="2285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Dynamic Global Filtering: Interactive sidebar to filter insights by measures, metrics, gender, and selected countries.</a:t>
            </a:r>
          </a:p>
          <a:p>
            <a:pPr algn="l" marL="986823" indent="-328941" lvl="2">
              <a:lnSpc>
                <a:spcPts val="4113"/>
              </a:lnSpc>
              <a:buFont typeface="Arial"/>
              <a:buChar char="⚬"/>
            </a:pPr>
            <a:r>
              <a:rPr lang="en-US" sz="2285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Global</a:t>
            </a:r>
            <a:r>
              <a:rPr lang="en-US" sz="2285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Choropleth Map: Heat-mapped world view visualizing the international distribution and impact of asthma.</a:t>
            </a:r>
          </a:p>
          <a:p>
            <a:pPr algn="l" marL="986823" indent="-328941" lvl="2">
              <a:lnSpc>
                <a:spcPts val="4113"/>
              </a:lnSpc>
              <a:buFont typeface="Arial"/>
              <a:buChar char="⚬"/>
            </a:pPr>
            <a:r>
              <a:rPr lang="en-US" sz="2285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Multi-Dimensional Analytics:</a:t>
            </a:r>
          </a:p>
          <a:p>
            <a:pPr algn="l" marL="1480234" indent="-370059" lvl="3">
              <a:lnSpc>
                <a:spcPts val="4113"/>
              </a:lnSpc>
              <a:buFont typeface="Arial"/>
              <a:buChar char="￭"/>
            </a:pPr>
            <a:r>
              <a:rPr lang="en-US" sz="2285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Age × Year Heatmap: Tracking disease weight across timelines and generations.</a:t>
            </a:r>
          </a:p>
          <a:p>
            <a:pPr algn="l" marL="1480234" indent="-370059" lvl="3">
              <a:lnSpc>
                <a:spcPts val="4113"/>
              </a:lnSpc>
              <a:buFont typeface="Arial"/>
              <a:buChar char="￭"/>
            </a:pPr>
            <a:r>
              <a:rPr lang="en-US" sz="2285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Stacked &amp; Horizontal Bar Charts: Detailed demographic breakdown (Age vs. Sex) and measurement comparisons.</a:t>
            </a:r>
          </a:p>
          <a:p>
            <a:pPr algn="l" marL="986823" indent="-328941" lvl="2">
              <a:lnSpc>
                <a:spcPts val="4113"/>
              </a:lnSpc>
              <a:buFont typeface="Arial"/>
              <a:buChar char="⚬"/>
            </a:pPr>
            <a:r>
              <a:rPr lang="en-US" sz="2285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Statistical Reliability: Incorporates Confidence Intervals (Upper/Lower boundaries via Error Bars) to evaluate data certainty.</a:t>
            </a:r>
          </a:p>
          <a:p>
            <a:pPr algn="l">
              <a:lnSpc>
                <a:spcPts val="4113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72512" y="-1339813"/>
            <a:ext cx="7512758" cy="11886519"/>
            <a:chOff x="0" y="0"/>
            <a:chExt cx="1545835" cy="24457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5835" cy="2445786"/>
            </a:xfrm>
            <a:custGeom>
              <a:avLst/>
              <a:gdLst/>
              <a:ahLst/>
              <a:cxnLst/>
              <a:rect r="r" b="b" t="t" l="l"/>
              <a:pathLst>
                <a:path h="2445786" w="1545835">
                  <a:moveTo>
                    <a:pt x="5636" y="0"/>
                  </a:moveTo>
                  <a:lnTo>
                    <a:pt x="1540200" y="0"/>
                  </a:lnTo>
                  <a:cubicBezTo>
                    <a:pt x="1541694" y="0"/>
                    <a:pt x="1543128" y="594"/>
                    <a:pt x="1544185" y="1651"/>
                  </a:cubicBezTo>
                  <a:cubicBezTo>
                    <a:pt x="1545241" y="2707"/>
                    <a:pt x="1545835" y="4141"/>
                    <a:pt x="1545835" y="5636"/>
                  </a:cubicBezTo>
                  <a:lnTo>
                    <a:pt x="1545835" y="2440150"/>
                  </a:lnTo>
                  <a:cubicBezTo>
                    <a:pt x="1545835" y="2441645"/>
                    <a:pt x="1545241" y="2443078"/>
                    <a:pt x="1544185" y="2444135"/>
                  </a:cubicBezTo>
                  <a:cubicBezTo>
                    <a:pt x="1543128" y="2445192"/>
                    <a:pt x="1541694" y="2445786"/>
                    <a:pt x="1540200" y="2445786"/>
                  </a:cubicBezTo>
                  <a:lnTo>
                    <a:pt x="5636" y="2445786"/>
                  </a:lnTo>
                  <a:cubicBezTo>
                    <a:pt x="2523" y="2445786"/>
                    <a:pt x="0" y="2443263"/>
                    <a:pt x="0" y="2440150"/>
                  </a:cubicBezTo>
                  <a:lnTo>
                    <a:pt x="0" y="5636"/>
                  </a:lnTo>
                  <a:cubicBezTo>
                    <a:pt x="0" y="4141"/>
                    <a:pt x="594" y="2707"/>
                    <a:pt x="1651" y="1651"/>
                  </a:cubicBezTo>
                  <a:cubicBezTo>
                    <a:pt x="2707" y="594"/>
                    <a:pt x="4141" y="0"/>
                    <a:pt x="5636" y="0"/>
                  </a:cubicBezTo>
                  <a:close/>
                </a:path>
              </a:pathLst>
            </a:custGeom>
            <a:solidFill>
              <a:srgbClr val="72C3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1545835" cy="2598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829846" y="8487599"/>
            <a:ext cx="2882650" cy="2264191"/>
          </a:xfrm>
          <a:custGeom>
            <a:avLst/>
            <a:gdLst/>
            <a:ahLst/>
            <a:cxnLst/>
            <a:rect r="r" b="b" t="t" l="l"/>
            <a:pathLst>
              <a:path h="2264191" w="2882650">
                <a:moveTo>
                  <a:pt x="0" y="0"/>
                </a:moveTo>
                <a:lnTo>
                  <a:pt x="2882650" y="0"/>
                </a:lnTo>
                <a:lnTo>
                  <a:pt x="2882650" y="2264191"/>
                </a:lnTo>
                <a:lnTo>
                  <a:pt x="0" y="2264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45665" y="419735"/>
            <a:ext cx="6966452" cy="9645502"/>
            <a:chOff x="0" y="0"/>
            <a:chExt cx="9288603" cy="1286066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27903" y="0"/>
              <a:ext cx="9232798" cy="4301632"/>
              <a:chOff x="0" y="0"/>
              <a:chExt cx="1050794" cy="48957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50794" cy="489573"/>
              </a:xfrm>
              <a:custGeom>
                <a:avLst/>
                <a:gdLst/>
                <a:ahLst/>
                <a:cxnLst/>
                <a:rect r="r" b="b" t="t" l="l"/>
                <a:pathLst>
                  <a:path h="489573" w="1050794">
                    <a:moveTo>
                      <a:pt x="33541" y="0"/>
                    </a:moveTo>
                    <a:lnTo>
                      <a:pt x="1017253" y="0"/>
                    </a:lnTo>
                    <a:cubicBezTo>
                      <a:pt x="1035777" y="0"/>
                      <a:pt x="1050794" y="15017"/>
                      <a:pt x="1050794" y="33541"/>
                    </a:cubicBezTo>
                    <a:lnTo>
                      <a:pt x="1050794" y="456032"/>
                    </a:lnTo>
                    <a:cubicBezTo>
                      <a:pt x="1050794" y="474556"/>
                      <a:pt x="1035777" y="489573"/>
                      <a:pt x="1017253" y="489573"/>
                    </a:cubicBezTo>
                    <a:lnTo>
                      <a:pt x="33541" y="489573"/>
                    </a:lnTo>
                    <a:cubicBezTo>
                      <a:pt x="15017" y="489573"/>
                      <a:pt x="0" y="474556"/>
                      <a:pt x="0" y="456032"/>
                    </a:cubicBezTo>
                    <a:lnTo>
                      <a:pt x="0" y="33541"/>
                    </a:lnTo>
                    <a:cubicBezTo>
                      <a:pt x="0" y="15017"/>
                      <a:pt x="15017" y="0"/>
                      <a:pt x="33541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0" t="-1109" r="0" b="-1109"/>
                </a:stretch>
              </a:blipFill>
              <a:ln cap="rnd">
                <a:noFill/>
                <a:prstDash val="solid"/>
                <a:round/>
              </a:ln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8723497" y="7701382"/>
              <a:ext cx="527753" cy="527753"/>
            </a:xfrm>
            <a:custGeom>
              <a:avLst/>
              <a:gdLst/>
              <a:ahLst/>
              <a:cxnLst/>
              <a:rect r="r" b="b" t="t" l="l"/>
              <a:pathLst>
                <a:path h="527753" w="527753">
                  <a:moveTo>
                    <a:pt x="0" y="0"/>
                  </a:moveTo>
                  <a:lnTo>
                    <a:pt x="527753" y="0"/>
                  </a:lnTo>
                  <a:lnTo>
                    <a:pt x="527753" y="527753"/>
                  </a:lnTo>
                  <a:lnTo>
                    <a:pt x="0" y="527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723497" y="6618961"/>
              <a:ext cx="527753" cy="527753"/>
            </a:xfrm>
            <a:custGeom>
              <a:avLst/>
              <a:gdLst/>
              <a:ahLst/>
              <a:cxnLst/>
              <a:rect r="r" b="b" t="t" l="l"/>
              <a:pathLst>
                <a:path h="527753" w="527753">
                  <a:moveTo>
                    <a:pt x="0" y="0"/>
                  </a:moveTo>
                  <a:lnTo>
                    <a:pt x="527753" y="0"/>
                  </a:lnTo>
                  <a:lnTo>
                    <a:pt x="527753" y="527753"/>
                  </a:lnTo>
                  <a:lnTo>
                    <a:pt x="0" y="527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0" y="8356135"/>
              <a:ext cx="9288603" cy="4504534"/>
              <a:chOff x="0" y="0"/>
              <a:chExt cx="1048525" cy="50848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48525" cy="508485"/>
              </a:xfrm>
              <a:custGeom>
                <a:avLst/>
                <a:gdLst/>
                <a:ahLst/>
                <a:cxnLst/>
                <a:rect r="r" b="b" t="t" l="l"/>
                <a:pathLst>
                  <a:path h="508485" w="1048525">
                    <a:moveTo>
                      <a:pt x="33339" y="0"/>
                    </a:moveTo>
                    <a:lnTo>
                      <a:pt x="1015185" y="0"/>
                    </a:lnTo>
                    <a:cubicBezTo>
                      <a:pt x="1033598" y="0"/>
                      <a:pt x="1048525" y="14927"/>
                      <a:pt x="1048525" y="33339"/>
                    </a:cubicBezTo>
                    <a:lnTo>
                      <a:pt x="1048525" y="475146"/>
                    </a:lnTo>
                    <a:cubicBezTo>
                      <a:pt x="1048525" y="493558"/>
                      <a:pt x="1033598" y="508485"/>
                      <a:pt x="1015185" y="508485"/>
                    </a:cubicBezTo>
                    <a:lnTo>
                      <a:pt x="33339" y="508485"/>
                    </a:lnTo>
                    <a:cubicBezTo>
                      <a:pt x="14927" y="508485"/>
                      <a:pt x="0" y="493558"/>
                      <a:pt x="0" y="475146"/>
                    </a:cubicBezTo>
                    <a:lnTo>
                      <a:pt x="0" y="33339"/>
                    </a:lnTo>
                    <a:cubicBezTo>
                      <a:pt x="0" y="14927"/>
                      <a:pt x="14927" y="0"/>
                      <a:pt x="33339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714" t="0" r="-714" b="0"/>
                </a:stretch>
              </a:blipFill>
              <a:ln cap="rnd">
                <a:noFill/>
                <a:prstDash val="solid"/>
                <a:round/>
              </a:ln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9450" y="4428632"/>
              <a:ext cx="9269703" cy="3800503"/>
              <a:chOff x="0" y="0"/>
              <a:chExt cx="980331" cy="40192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80331" cy="401928"/>
              </a:xfrm>
              <a:custGeom>
                <a:avLst/>
                <a:gdLst/>
                <a:ahLst/>
                <a:cxnLst/>
                <a:rect r="r" b="b" t="t" l="l"/>
                <a:pathLst>
                  <a:path h="401928" w="980331">
                    <a:moveTo>
                      <a:pt x="33407" y="0"/>
                    </a:moveTo>
                    <a:lnTo>
                      <a:pt x="946924" y="0"/>
                    </a:lnTo>
                    <a:cubicBezTo>
                      <a:pt x="955784" y="0"/>
                      <a:pt x="964281" y="3520"/>
                      <a:pt x="970546" y="9785"/>
                    </a:cubicBezTo>
                    <a:cubicBezTo>
                      <a:pt x="976811" y="16050"/>
                      <a:pt x="980331" y="24547"/>
                      <a:pt x="980331" y="33407"/>
                    </a:cubicBezTo>
                    <a:lnTo>
                      <a:pt x="980331" y="368520"/>
                    </a:lnTo>
                    <a:cubicBezTo>
                      <a:pt x="980331" y="386971"/>
                      <a:pt x="965374" y="401928"/>
                      <a:pt x="946924" y="401928"/>
                    </a:cubicBezTo>
                    <a:lnTo>
                      <a:pt x="33407" y="401928"/>
                    </a:lnTo>
                    <a:cubicBezTo>
                      <a:pt x="24547" y="401928"/>
                      <a:pt x="16050" y="398408"/>
                      <a:pt x="9785" y="392143"/>
                    </a:cubicBezTo>
                    <a:cubicBezTo>
                      <a:pt x="3520" y="385878"/>
                      <a:pt x="0" y="377381"/>
                      <a:pt x="0" y="368520"/>
                    </a:cubicBezTo>
                    <a:lnTo>
                      <a:pt x="0" y="33407"/>
                    </a:lnTo>
                    <a:cubicBezTo>
                      <a:pt x="0" y="24547"/>
                      <a:pt x="3520" y="16050"/>
                      <a:pt x="9785" y="9785"/>
                    </a:cubicBezTo>
                    <a:cubicBezTo>
                      <a:pt x="16050" y="3520"/>
                      <a:pt x="24547" y="0"/>
                      <a:pt x="33407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0" t="-1372" r="0" b="-1372"/>
                </a:stretch>
              </a:blipFill>
              <a:ln cap="rnd">
                <a:noFill/>
                <a:prstDash val="solid"/>
                <a:round/>
              </a:ln>
            </p:spPr>
          </p:sp>
        </p:grpSp>
      </p:grpSp>
      <p:grpSp>
        <p:nvGrpSpPr>
          <p:cNvPr name="Group 15" id="15"/>
          <p:cNvGrpSpPr/>
          <p:nvPr/>
        </p:nvGrpSpPr>
        <p:grpSpPr>
          <a:xfrm rot="0">
            <a:off x="17087765" y="-1272442"/>
            <a:ext cx="2400469" cy="2400469"/>
            <a:chOff x="0" y="0"/>
            <a:chExt cx="558800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9FEFB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44450" y="-107950"/>
              <a:ext cx="4699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104514" y="419735"/>
            <a:ext cx="480804" cy="480804"/>
          </a:xfrm>
          <a:custGeom>
            <a:avLst/>
            <a:gdLst/>
            <a:ahLst/>
            <a:cxnLst/>
            <a:rect r="r" b="b" t="t" l="l"/>
            <a:pathLst>
              <a:path h="480804" w="480804">
                <a:moveTo>
                  <a:pt x="0" y="0"/>
                </a:moveTo>
                <a:lnTo>
                  <a:pt x="480804" y="0"/>
                </a:lnTo>
                <a:lnTo>
                  <a:pt x="480804" y="480804"/>
                </a:lnTo>
                <a:lnTo>
                  <a:pt x="0" y="4808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104514" y="3771747"/>
            <a:ext cx="480804" cy="480804"/>
          </a:xfrm>
          <a:custGeom>
            <a:avLst/>
            <a:gdLst/>
            <a:ahLst/>
            <a:cxnLst/>
            <a:rect r="r" b="b" t="t" l="l"/>
            <a:pathLst>
              <a:path h="480804" w="480804">
                <a:moveTo>
                  <a:pt x="0" y="0"/>
                </a:moveTo>
                <a:lnTo>
                  <a:pt x="480804" y="0"/>
                </a:lnTo>
                <a:lnTo>
                  <a:pt x="480804" y="480804"/>
                </a:lnTo>
                <a:lnTo>
                  <a:pt x="0" y="4808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104514" y="6670784"/>
            <a:ext cx="480804" cy="480804"/>
          </a:xfrm>
          <a:custGeom>
            <a:avLst/>
            <a:gdLst/>
            <a:ahLst/>
            <a:cxnLst/>
            <a:rect r="r" b="b" t="t" l="l"/>
            <a:pathLst>
              <a:path h="480804" w="480804">
                <a:moveTo>
                  <a:pt x="0" y="0"/>
                </a:moveTo>
                <a:lnTo>
                  <a:pt x="480804" y="0"/>
                </a:lnTo>
                <a:lnTo>
                  <a:pt x="480804" y="480805"/>
                </a:lnTo>
                <a:lnTo>
                  <a:pt x="0" y="4808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11479" y="707762"/>
            <a:ext cx="8609374" cy="132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95"/>
              </a:lnSpc>
              <a:spcBef>
                <a:spcPct val="0"/>
              </a:spcBef>
            </a:pPr>
            <a:r>
              <a:rPr lang="en-US" sz="4722">
                <a:solidFill>
                  <a:srgbClr val="6C6FDB"/>
                </a:solidFill>
                <a:latin typeface="Loubag"/>
                <a:ea typeface="Loubag"/>
                <a:cs typeface="Loubag"/>
                <a:sym typeface="Loubag"/>
              </a:rPr>
              <a:t> Streamlit Hub - Page 2: Clinical Patient Dashboard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1479" y="2071849"/>
            <a:ext cx="8719991" cy="7584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5549" indent="-212774" lvl="1">
              <a:lnSpc>
                <a:spcPts val="3547"/>
              </a:lnSpc>
              <a:buFont typeface="Arial"/>
              <a:buChar char="•"/>
            </a:pPr>
            <a:r>
              <a:rPr lang="en-US" b="true" sz="1971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Objective:</a:t>
            </a:r>
            <a:r>
              <a:rPr lang="en-US" sz="1971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Providing exploratory data analysis (EDA) and drill-down insights into patient-level clinical records.</a:t>
            </a:r>
          </a:p>
          <a:p>
            <a:pPr algn="l" marL="425549" indent="-212774" lvl="1">
              <a:lnSpc>
                <a:spcPts val="3547"/>
              </a:lnSpc>
              <a:buFont typeface="Arial"/>
              <a:buChar char="•"/>
            </a:pPr>
            <a:r>
              <a:rPr lang="en-US" b="true" sz="1971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Core Functionalities:</a:t>
            </a:r>
          </a:p>
          <a:p>
            <a:pPr algn="l" marL="425549" indent="-212774" lvl="1">
              <a:lnSpc>
                <a:spcPts val="3547"/>
              </a:lnSpc>
              <a:buFont typeface="Arial"/>
              <a:buChar char="•"/>
            </a:pPr>
            <a:r>
              <a:rPr lang="en-US" sz="1971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</a:t>
            </a:r>
            <a:r>
              <a:rPr lang="en-US" sz="1971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ohort Selection: Interactive filtering based on Smoking status, Gender, and customizable Age ranges to segment patient cohorts.</a:t>
            </a:r>
          </a:p>
          <a:p>
            <a:pPr algn="l" marL="425549" indent="-212774" lvl="1">
              <a:lnSpc>
                <a:spcPts val="3547"/>
              </a:lnSpc>
              <a:buFont typeface="Arial"/>
              <a:buChar char="•"/>
            </a:pPr>
            <a:r>
              <a:rPr lang="en-US" sz="1971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Dynamic Visu</a:t>
            </a:r>
            <a:r>
              <a:rPr lang="en-US" sz="1971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</a:t>
            </a:r>
            <a:r>
              <a:rPr lang="en-US" sz="1971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Switching: Enables users to select any specific variable (from Demographics, Symptoms, or Medical History) to generate instant tailored charts.</a:t>
            </a:r>
          </a:p>
          <a:p>
            <a:pPr algn="l" marL="425549" indent="-212774" lvl="1">
              <a:lnSpc>
                <a:spcPts val="3547"/>
              </a:lnSpc>
              <a:buFont typeface="Arial"/>
              <a:buChar char="•"/>
            </a:pPr>
            <a:r>
              <a:rPr lang="en-US" sz="1971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Advanced Distribution Metrics: Features dynamic Donut charts, 100% Stacked bars (Variable vs. Diagnosis), Histograms, and Box/Violin plots.</a:t>
            </a:r>
          </a:p>
          <a:p>
            <a:pPr algn="l" marL="425549" indent="-212774" lvl="1">
              <a:lnSpc>
                <a:spcPts val="3547"/>
              </a:lnSpc>
              <a:buFont typeface="Arial"/>
              <a:buChar char="•"/>
            </a:pPr>
            <a:r>
              <a:rPr lang="en-US" sz="1971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</a:t>
            </a:r>
            <a:r>
              <a:rPr lang="en-US" sz="1971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inical Scatter Plots: Mapping the direct relationship between critical lung functions (LungFunctionFEV1 vs. LungFunctionFVC) color-coded by final diagnosis.</a:t>
            </a:r>
          </a:p>
          <a:p>
            <a:pPr algn="l" marL="425549" indent="-212774" lvl="1">
              <a:lnSpc>
                <a:spcPts val="3547"/>
              </a:lnSpc>
              <a:buFont typeface="Arial"/>
              <a:buChar char="•"/>
            </a:pPr>
            <a:r>
              <a:rPr lang="en-US" sz="1971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Full Feature Spearman Correlation Matrix: A comprehensive matrix plot highlighting linear and non-linear relationships between all 29 lifestyle/clinical attributes and the target diagnosis.</a:t>
            </a:r>
          </a:p>
          <a:p>
            <a:pPr algn="l">
              <a:lnSpc>
                <a:spcPts val="3547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17432" y="-1339813"/>
            <a:ext cx="9867838" cy="11886519"/>
            <a:chOff x="0" y="0"/>
            <a:chExt cx="2030419" cy="24457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0419" cy="2445786"/>
            </a:xfrm>
            <a:custGeom>
              <a:avLst/>
              <a:gdLst/>
              <a:ahLst/>
              <a:cxnLst/>
              <a:rect r="r" b="b" t="t" l="l"/>
              <a:pathLst>
                <a:path h="2445786" w="2030419">
                  <a:moveTo>
                    <a:pt x="4291" y="0"/>
                  </a:moveTo>
                  <a:lnTo>
                    <a:pt x="2026129" y="0"/>
                  </a:lnTo>
                  <a:cubicBezTo>
                    <a:pt x="2027267" y="0"/>
                    <a:pt x="2028358" y="452"/>
                    <a:pt x="2029163" y="1257"/>
                  </a:cubicBezTo>
                  <a:cubicBezTo>
                    <a:pt x="2029967" y="2061"/>
                    <a:pt x="2030419" y="3153"/>
                    <a:pt x="2030419" y="4291"/>
                  </a:cubicBezTo>
                  <a:lnTo>
                    <a:pt x="2030419" y="2441495"/>
                  </a:lnTo>
                  <a:cubicBezTo>
                    <a:pt x="2030419" y="2442633"/>
                    <a:pt x="2029967" y="2443724"/>
                    <a:pt x="2029163" y="2444529"/>
                  </a:cubicBezTo>
                  <a:cubicBezTo>
                    <a:pt x="2028358" y="2445334"/>
                    <a:pt x="2027267" y="2445786"/>
                    <a:pt x="2026129" y="2445786"/>
                  </a:cubicBezTo>
                  <a:lnTo>
                    <a:pt x="4291" y="2445786"/>
                  </a:lnTo>
                  <a:cubicBezTo>
                    <a:pt x="3153" y="2445786"/>
                    <a:pt x="2061" y="2445334"/>
                    <a:pt x="1257" y="2444529"/>
                  </a:cubicBezTo>
                  <a:cubicBezTo>
                    <a:pt x="452" y="2443724"/>
                    <a:pt x="0" y="2442633"/>
                    <a:pt x="0" y="2441495"/>
                  </a:cubicBezTo>
                  <a:lnTo>
                    <a:pt x="0" y="4291"/>
                  </a:lnTo>
                  <a:cubicBezTo>
                    <a:pt x="0" y="3153"/>
                    <a:pt x="452" y="2061"/>
                    <a:pt x="1257" y="1257"/>
                  </a:cubicBezTo>
                  <a:cubicBezTo>
                    <a:pt x="2061" y="452"/>
                    <a:pt x="3153" y="0"/>
                    <a:pt x="4291" y="0"/>
                  </a:cubicBezTo>
                  <a:close/>
                </a:path>
              </a:pathLst>
            </a:custGeom>
            <a:solidFill>
              <a:srgbClr val="72C3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2030419" cy="2598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54325" y="417506"/>
            <a:ext cx="9594052" cy="4185940"/>
            <a:chOff x="0" y="0"/>
            <a:chExt cx="980331" cy="4277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0331" cy="427724"/>
            </a:xfrm>
            <a:custGeom>
              <a:avLst/>
              <a:gdLst/>
              <a:ahLst/>
              <a:cxnLst/>
              <a:rect r="r" b="b" t="t" l="l"/>
              <a:pathLst>
                <a:path h="427724" w="980331">
                  <a:moveTo>
                    <a:pt x="24208" y="0"/>
                  </a:moveTo>
                  <a:lnTo>
                    <a:pt x="956123" y="0"/>
                  </a:lnTo>
                  <a:cubicBezTo>
                    <a:pt x="962543" y="0"/>
                    <a:pt x="968701" y="2551"/>
                    <a:pt x="973241" y="7091"/>
                  </a:cubicBezTo>
                  <a:cubicBezTo>
                    <a:pt x="977781" y="11630"/>
                    <a:pt x="980331" y="17788"/>
                    <a:pt x="980331" y="24208"/>
                  </a:cubicBezTo>
                  <a:lnTo>
                    <a:pt x="980331" y="403516"/>
                  </a:lnTo>
                  <a:cubicBezTo>
                    <a:pt x="980331" y="416886"/>
                    <a:pt x="969493" y="427724"/>
                    <a:pt x="956123" y="427724"/>
                  </a:cubicBezTo>
                  <a:lnTo>
                    <a:pt x="24208" y="427724"/>
                  </a:lnTo>
                  <a:cubicBezTo>
                    <a:pt x="10839" y="427724"/>
                    <a:pt x="0" y="416886"/>
                    <a:pt x="0" y="403516"/>
                  </a:cubicBezTo>
                  <a:lnTo>
                    <a:pt x="0" y="24208"/>
                  </a:lnTo>
                  <a:cubicBezTo>
                    <a:pt x="0" y="10839"/>
                    <a:pt x="10839" y="0"/>
                    <a:pt x="2420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51" r="0" b="-351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7087765" y="-1272442"/>
            <a:ext cx="2400469" cy="2400469"/>
            <a:chOff x="0" y="0"/>
            <a:chExt cx="558800" cy="55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9FEFB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44450" y="-107950"/>
              <a:ext cx="4699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932947" y="4748034"/>
            <a:ext cx="4036809" cy="4828126"/>
          </a:xfrm>
          <a:custGeom>
            <a:avLst/>
            <a:gdLst/>
            <a:ahLst/>
            <a:cxnLst/>
            <a:rect r="r" b="b" t="t" l="l"/>
            <a:pathLst>
              <a:path h="4828126" w="4036809">
                <a:moveTo>
                  <a:pt x="0" y="0"/>
                </a:moveTo>
                <a:lnTo>
                  <a:pt x="4036809" y="0"/>
                </a:lnTo>
                <a:lnTo>
                  <a:pt x="4036809" y="4828126"/>
                </a:lnTo>
                <a:lnTo>
                  <a:pt x="0" y="48281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22" r="0" b="-722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95362" y="688712"/>
            <a:ext cx="7722070" cy="1204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9"/>
              </a:lnSpc>
              <a:spcBef>
                <a:spcPct val="0"/>
              </a:spcBef>
            </a:pPr>
            <a:r>
              <a:rPr lang="en-US" sz="4236">
                <a:solidFill>
                  <a:srgbClr val="6C6FDB"/>
                </a:solidFill>
                <a:latin typeface="Loubag"/>
                <a:ea typeface="Loubag"/>
                <a:cs typeface="Loubag"/>
                <a:sym typeface="Loubag"/>
              </a:rPr>
              <a:t> Streamlit Hub - Page 2: Clinical Patient Dashboard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1479" y="1972349"/>
            <a:ext cx="6775454" cy="807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1"/>
              </a:lnSpc>
            </a:pPr>
          </a:p>
          <a:p>
            <a:pPr algn="l" marL="405640" indent="-202820" lvl="1">
              <a:lnSpc>
                <a:spcPts val="3381"/>
              </a:lnSpc>
              <a:buFont typeface="Arial"/>
              <a:buChar char="•"/>
            </a:pPr>
            <a:r>
              <a:rPr lang="en-US" sz="187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Objective: Deploying the trained XGBoost machine learning model into a user-friendly, real-time clinical tool.</a:t>
            </a:r>
          </a:p>
          <a:p>
            <a:pPr algn="l" marL="405640" indent="-202820" lvl="1">
              <a:lnSpc>
                <a:spcPts val="3381"/>
              </a:lnSpc>
              <a:buFont typeface="Arial"/>
              <a:buChar char="•"/>
            </a:pPr>
            <a:r>
              <a:rPr lang="en-US" sz="187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Core Functionalities:</a:t>
            </a:r>
          </a:p>
          <a:p>
            <a:pPr algn="l" marL="405640" indent="-202820" lvl="1">
              <a:lnSpc>
                <a:spcPts val="3381"/>
              </a:lnSpc>
              <a:buFont typeface="Arial"/>
              <a:buChar char="•"/>
            </a:pPr>
            <a:r>
              <a:rPr lang="en-US" sz="187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</a:t>
            </a:r>
            <a:r>
              <a:rPr lang="en-US" sz="187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omprehensive Metrics Input Form: Organized 3-column input layout</a:t>
            </a:r>
            <a:r>
              <a:rPr lang="en-US" sz="187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187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allo</a:t>
            </a:r>
            <a:r>
              <a:rPr lang="en-US" sz="187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wing clinicians to input custom patient data:</a:t>
            </a:r>
          </a:p>
          <a:p>
            <a:pPr algn="l" marL="405640" indent="-202820" lvl="1">
              <a:lnSpc>
                <a:spcPts val="3381"/>
              </a:lnSpc>
              <a:buFont typeface="Arial"/>
              <a:buChar char="•"/>
            </a:pPr>
            <a:r>
              <a:rPr lang="en-US" sz="187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Demographics &amp; Lifestyle: Age, BMI, Smoking status.</a:t>
            </a:r>
          </a:p>
          <a:p>
            <a:pPr algn="l" marL="405640" indent="-202820" lvl="1">
              <a:lnSpc>
                <a:spcPts val="3381"/>
              </a:lnSpc>
              <a:buFont typeface="Arial"/>
              <a:buChar char="•"/>
            </a:pPr>
            <a:r>
              <a:rPr lang="en-US" sz="187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187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nvironment &amp; Quality of Life: Scores for Pollution, Dust, Pollen, Sleep, and Diet quality.</a:t>
            </a:r>
          </a:p>
          <a:p>
            <a:pPr algn="l" marL="405640" indent="-202820" lvl="1">
              <a:lnSpc>
                <a:spcPts val="3381"/>
              </a:lnSpc>
              <a:buFont typeface="Arial"/>
              <a:buChar char="•"/>
            </a:pPr>
            <a:r>
              <a:rPr lang="en-US" sz="187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</a:t>
            </a:r>
            <a:r>
              <a:rPr lang="en-US" sz="187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inical Systems &amp; History: Medical history toggles (GERD, Allergies, Eczema) and specific lung functions.</a:t>
            </a:r>
          </a:p>
          <a:p>
            <a:pPr algn="l" marL="405640" indent="-202820" lvl="1">
              <a:lnSpc>
                <a:spcPts val="3381"/>
              </a:lnSpc>
              <a:buFont typeface="Arial"/>
              <a:buChar char="•"/>
            </a:pPr>
            <a:r>
              <a:rPr lang="en-US" sz="187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Imbalance-Aware Prediction Engine: Utilizes our optimized XGBoost model equipped with scale_pos_weight to ensure reliable classifications. </a:t>
            </a:r>
          </a:p>
          <a:p>
            <a:pPr algn="l" marL="405640" indent="-202820" lvl="1">
              <a:lnSpc>
                <a:spcPts val="3381"/>
              </a:lnSpc>
              <a:buFont typeface="Arial"/>
              <a:buChar char="•"/>
            </a:pPr>
            <a:r>
              <a:rPr lang="en-US" sz="1878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Instant Diagnostic Output: Generates immediate binary classification (Positive Case Detected vs. Healthy Patient) accompanied by a model probability/confidence progress bar.</a:t>
            </a:r>
          </a:p>
          <a:p>
            <a:pPr algn="l">
              <a:lnSpc>
                <a:spcPts val="3381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144000" y="7523383"/>
            <a:ext cx="2541891" cy="2527990"/>
          </a:xfrm>
          <a:custGeom>
            <a:avLst/>
            <a:gdLst/>
            <a:ahLst/>
            <a:cxnLst/>
            <a:rect r="r" b="b" t="t" l="l"/>
            <a:pathLst>
              <a:path h="2527990" w="2541891">
                <a:moveTo>
                  <a:pt x="0" y="0"/>
                </a:moveTo>
                <a:lnTo>
                  <a:pt x="2541891" y="0"/>
                </a:lnTo>
                <a:lnTo>
                  <a:pt x="2541891" y="2527990"/>
                </a:lnTo>
                <a:lnTo>
                  <a:pt x="0" y="25279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960384" y="7800246"/>
            <a:ext cx="2481814" cy="2260707"/>
          </a:xfrm>
          <a:custGeom>
            <a:avLst/>
            <a:gdLst/>
            <a:ahLst/>
            <a:cxnLst/>
            <a:rect r="r" b="b" t="t" l="l"/>
            <a:pathLst>
              <a:path h="2260707" w="2481814">
                <a:moveTo>
                  <a:pt x="0" y="0"/>
                </a:moveTo>
                <a:lnTo>
                  <a:pt x="2481814" y="0"/>
                </a:lnTo>
                <a:lnTo>
                  <a:pt x="2481814" y="2260707"/>
                </a:lnTo>
                <a:lnTo>
                  <a:pt x="0" y="22607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777030" y="177104"/>
            <a:ext cx="480804" cy="480804"/>
          </a:xfrm>
          <a:custGeom>
            <a:avLst/>
            <a:gdLst/>
            <a:ahLst/>
            <a:cxnLst/>
            <a:rect r="r" b="b" t="t" l="l"/>
            <a:pathLst>
              <a:path h="480804" w="480804">
                <a:moveTo>
                  <a:pt x="0" y="0"/>
                </a:moveTo>
                <a:lnTo>
                  <a:pt x="480804" y="0"/>
                </a:lnTo>
                <a:lnTo>
                  <a:pt x="480804" y="480804"/>
                </a:lnTo>
                <a:lnTo>
                  <a:pt x="0" y="480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5860" y="-224373"/>
            <a:ext cx="15773400" cy="3516213"/>
            <a:chOff x="0" y="0"/>
            <a:chExt cx="21031200" cy="4688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4688284"/>
            </a:xfrm>
            <a:custGeom>
              <a:avLst/>
              <a:gdLst/>
              <a:ahLst/>
              <a:cxnLst/>
              <a:rect r="r" b="b" t="t" l="l"/>
              <a:pathLst>
                <a:path h="468828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4688284"/>
                  </a:lnTo>
                  <a:lnTo>
                    <a:pt x="0" y="46882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55" r="0" b="-10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031200" cy="46978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6C6FD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Dashboards &amp; Data Ecosystem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2733675"/>
            <a:ext cx="3928110" cy="5642610"/>
            <a:chOff x="0" y="0"/>
            <a:chExt cx="5237480" cy="7523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37480" cy="7523480"/>
            </a:xfrm>
            <a:custGeom>
              <a:avLst/>
              <a:gdLst/>
              <a:ahLst/>
              <a:cxnLst/>
              <a:rect r="r" b="b" t="t" l="l"/>
              <a:pathLst>
                <a:path h="7523480" w="523748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5053711" y="0"/>
                  </a:lnTo>
                  <a:cubicBezTo>
                    <a:pt x="5155184" y="0"/>
                    <a:pt x="5237480" y="82296"/>
                    <a:pt x="5237480" y="183769"/>
                  </a:cubicBezTo>
                  <a:lnTo>
                    <a:pt x="5237480" y="7339711"/>
                  </a:lnTo>
                  <a:cubicBezTo>
                    <a:pt x="5237480" y="7441184"/>
                    <a:pt x="5155184" y="7523480"/>
                    <a:pt x="5053711" y="7523480"/>
                  </a:cubicBezTo>
                  <a:lnTo>
                    <a:pt x="183769" y="7523480"/>
                  </a:lnTo>
                  <a:cubicBezTo>
                    <a:pt x="82296" y="7523480"/>
                    <a:pt x="0" y="7441184"/>
                    <a:pt x="0" y="7339711"/>
                  </a:cubicBezTo>
                  <a:close/>
                </a:path>
              </a:pathLst>
            </a:custGeom>
            <a:solidFill>
              <a:srgbClr val="10333F"/>
            </a:solidFill>
            <a:ln w="19050" cap="sq">
              <a:solidFill>
                <a:srgbClr val="1E4A5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160270" y="3291840"/>
            <a:ext cx="1234440" cy="1234440"/>
            <a:chOff x="0" y="0"/>
            <a:chExt cx="1645920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160270" y="3291840"/>
            <a:ext cx="1234440" cy="1234440"/>
            <a:chOff x="0" y="0"/>
            <a:chExt cx="1645920" cy="164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645920" cy="1722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5"/>
                </a:lnSpc>
              </a:pPr>
              <a:r>
                <a:rPr lang="en-US" sz="377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📗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4869180"/>
            <a:ext cx="3497580" cy="617220"/>
            <a:chOff x="0" y="0"/>
            <a:chExt cx="4663440" cy="822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63440" cy="822960"/>
            </a:xfrm>
            <a:custGeom>
              <a:avLst/>
              <a:gdLst/>
              <a:ahLst/>
              <a:cxnLst/>
              <a:rect r="r" b="b" t="t" l="l"/>
              <a:pathLst>
                <a:path h="82296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6634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Excel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5860" y="5692140"/>
            <a:ext cx="3223260" cy="2057400"/>
            <a:chOff x="0" y="0"/>
            <a:chExt cx="4297680" cy="2743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976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895" t="0" r="-3189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4297680" cy="282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87"/>
                </a:lnSpc>
              </a:pPr>
              <a:r>
                <a:rPr lang="en-US" sz="1725">
                  <a:solidFill>
                    <a:srgbClr val="F5F9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sheets · 6 KPI cards · 8 charts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065395" y="2733675"/>
            <a:ext cx="3928110" cy="5642610"/>
            <a:chOff x="0" y="0"/>
            <a:chExt cx="5237480" cy="7523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37480" cy="7523480"/>
            </a:xfrm>
            <a:custGeom>
              <a:avLst/>
              <a:gdLst/>
              <a:ahLst/>
              <a:cxnLst/>
              <a:rect r="r" b="b" t="t" l="l"/>
              <a:pathLst>
                <a:path h="7523480" w="523748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5053711" y="0"/>
                  </a:lnTo>
                  <a:cubicBezTo>
                    <a:pt x="5155184" y="0"/>
                    <a:pt x="5237480" y="82296"/>
                    <a:pt x="5237480" y="183769"/>
                  </a:cubicBezTo>
                  <a:lnTo>
                    <a:pt x="5237480" y="7339711"/>
                  </a:lnTo>
                  <a:cubicBezTo>
                    <a:pt x="5237480" y="7441184"/>
                    <a:pt x="5155184" y="7523480"/>
                    <a:pt x="5053711" y="7523480"/>
                  </a:cubicBezTo>
                  <a:lnTo>
                    <a:pt x="183769" y="7523480"/>
                  </a:lnTo>
                  <a:cubicBezTo>
                    <a:pt x="82296" y="7523480"/>
                    <a:pt x="0" y="7441184"/>
                    <a:pt x="0" y="7339711"/>
                  </a:cubicBezTo>
                  <a:close/>
                </a:path>
              </a:pathLst>
            </a:custGeom>
            <a:solidFill>
              <a:srgbClr val="10333F"/>
            </a:solidFill>
            <a:ln w="19050" cap="sq">
              <a:solidFill>
                <a:srgbClr val="1E4A5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412230" y="3291840"/>
            <a:ext cx="1234440" cy="1234440"/>
            <a:chOff x="0" y="0"/>
            <a:chExt cx="1645920" cy="1645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2230" y="3291840"/>
            <a:ext cx="1234440" cy="1234440"/>
            <a:chOff x="0" y="0"/>
            <a:chExt cx="1645920" cy="1645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1645920" cy="1722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5"/>
                </a:lnSpc>
              </a:pPr>
              <a:r>
                <a:rPr lang="en-US" sz="377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📈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280660" y="4869180"/>
            <a:ext cx="3497580" cy="617220"/>
            <a:chOff x="0" y="0"/>
            <a:chExt cx="4663440" cy="822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63440" cy="822960"/>
            </a:xfrm>
            <a:custGeom>
              <a:avLst/>
              <a:gdLst/>
              <a:ahLst/>
              <a:cxnLst/>
              <a:rect r="r" b="b" t="t" l="l"/>
              <a:pathLst>
                <a:path h="82296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46634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Power BI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417820" y="5692140"/>
            <a:ext cx="3223260" cy="2057400"/>
            <a:chOff x="0" y="0"/>
            <a:chExt cx="4297680" cy="2743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976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895" t="0" r="-31895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4297680" cy="282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87"/>
                </a:lnSpc>
              </a:pPr>
              <a:r>
                <a:rPr lang="en-US" sz="1725">
                  <a:solidFill>
                    <a:srgbClr val="F5F9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pages · 8 DAX measures · 6 slicers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17355" y="2733675"/>
            <a:ext cx="3928110" cy="5642610"/>
            <a:chOff x="0" y="0"/>
            <a:chExt cx="5237480" cy="75234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37480" cy="7523480"/>
            </a:xfrm>
            <a:custGeom>
              <a:avLst/>
              <a:gdLst/>
              <a:ahLst/>
              <a:cxnLst/>
              <a:rect r="r" b="b" t="t" l="l"/>
              <a:pathLst>
                <a:path h="7523480" w="523748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5053711" y="0"/>
                  </a:lnTo>
                  <a:cubicBezTo>
                    <a:pt x="5155184" y="0"/>
                    <a:pt x="5237480" y="82296"/>
                    <a:pt x="5237480" y="183769"/>
                  </a:cubicBezTo>
                  <a:lnTo>
                    <a:pt x="5237480" y="7339711"/>
                  </a:lnTo>
                  <a:cubicBezTo>
                    <a:pt x="5237480" y="7441184"/>
                    <a:pt x="5155184" y="7523480"/>
                    <a:pt x="5053711" y="7523480"/>
                  </a:cubicBezTo>
                  <a:lnTo>
                    <a:pt x="183769" y="7523480"/>
                  </a:lnTo>
                  <a:cubicBezTo>
                    <a:pt x="82296" y="7523480"/>
                    <a:pt x="0" y="7441184"/>
                    <a:pt x="0" y="7339711"/>
                  </a:cubicBezTo>
                  <a:close/>
                </a:path>
              </a:pathLst>
            </a:custGeom>
            <a:solidFill>
              <a:srgbClr val="10333F"/>
            </a:solidFill>
            <a:ln w="19050" cap="sq">
              <a:solidFill>
                <a:srgbClr val="1E4A57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664190" y="3291840"/>
            <a:ext cx="1234440" cy="1234440"/>
            <a:chOff x="0" y="0"/>
            <a:chExt cx="1645920" cy="16459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664190" y="3291840"/>
            <a:ext cx="1234440" cy="1234440"/>
            <a:chOff x="0" y="0"/>
            <a:chExt cx="1645920" cy="16459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1645920" cy="1722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5"/>
                </a:lnSpc>
              </a:pPr>
              <a:r>
                <a:rPr lang="en-US" sz="377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🖥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32620" y="4869180"/>
            <a:ext cx="3497580" cy="617220"/>
            <a:chOff x="0" y="0"/>
            <a:chExt cx="4663440" cy="822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63440" cy="822960"/>
            </a:xfrm>
            <a:custGeom>
              <a:avLst/>
              <a:gdLst/>
              <a:ahLst/>
              <a:cxnLst/>
              <a:rect r="r" b="b" t="t" l="l"/>
              <a:pathLst>
                <a:path h="82296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46634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Tableau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69780" y="5692140"/>
            <a:ext cx="3223260" cy="2057400"/>
            <a:chOff x="0" y="0"/>
            <a:chExt cx="4297680" cy="2743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976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895" t="0" r="-31895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4297680" cy="282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87"/>
                </a:lnSpc>
              </a:pPr>
              <a:r>
                <a:rPr lang="en-US" sz="1725">
                  <a:solidFill>
                    <a:srgbClr val="F5F9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 sheets · 9 dashboards · story points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69315" y="2733675"/>
            <a:ext cx="3928110" cy="5642610"/>
            <a:chOff x="0" y="0"/>
            <a:chExt cx="5237480" cy="7523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237480" cy="7523480"/>
            </a:xfrm>
            <a:custGeom>
              <a:avLst/>
              <a:gdLst/>
              <a:ahLst/>
              <a:cxnLst/>
              <a:rect r="r" b="b" t="t" l="l"/>
              <a:pathLst>
                <a:path h="7523480" w="523748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5053711" y="0"/>
                  </a:lnTo>
                  <a:cubicBezTo>
                    <a:pt x="5155184" y="0"/>
                    <a:pt x="5237480" y="82296"/>
                    <a:pt x="5237480" y="183769"/>
                  </a:cubicBezTo>
                  <a:lnTo>
                    <a:pt x="5237480" y="7339711"/>
                  </a:lnTo>
                  <a:cubicBezTo>
                    <a:pt x="5237480" y="7441184"/>
                    <a:pt x="5155184" y="7523480"/>
                    <a:pt x="5053711" y="7523480"/>
                  </a:cubicBezTo>
                  <a:lnTo>
                    <a:pt x="183769" y="7523480"/>
                  </a:lnTo>
                  <a:cubicBezTo>
                    <a:pt x="82296" y="7523480"/>
                    <a:pt x="0" y="7441184"/>
                    <a:pt x="0" y="7339711"/>
                  </a:cubicBezTo>
                  <a:close/>
                </a:path>
              </a:pathLst>
            </a:custGeom>
            <a:solidFill>
              <a:srgbClr val="10333F"/>
            </a:solidFill>
            <a:ln w="19050" cap="sq">
              <a:solidFill>
                <a:srgbClr val="1E4A57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4916150" y="3291840"/>
            <a:ext cx="1234440" cy="1234440"/>
            <a:chOff x="0" y="0"/>
            <a:chExt cx="1645920" cy="16459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F2C14E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916150" y="3291840"/>
            <a:ext cx="1234440" cy="1234440"/>
            <a:chOff x="0" y="0"/>
            <a:chExt cx="1645920" cy="16459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76200"/>
              <a:ext cx="1645920" cy="1722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5"/>
                </a:lnSpc>
              </a:pPr>
              <a:r>
                <a:rPr lang="en-US" sz="377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🗄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784580" y="4869180"/>
            <a:ext cx="3497580" cy="617220"/>
            <a:chOff x="0" y="0"/>
            <a:chExt cx="4663440" cy="8229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663440" cy="822960"/>
            </a:xfrm>
            <a:custGeom>
              <a:avLst/>
              <a:gdLst/>
              <a:ahLst/>
              <a:cxnLst/>
              <a:rect r="r" b="b" t="t" l="l"/>
              <a:pathLst>
                <a:path h="82296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46634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SQL Layer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921740" y="5692140"/>
            <a:ext cx="3223260" cy="2057400"/>
            <a:chOff x="0" y="0"/>
            <a:chExt cx="4297680" cy="2743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2976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895" t="0" r="-31895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85725"/>
              <a:ext cx="4297680" cy="282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87"/>
                </a:lnSpc>
              </a:pPr>
              <a:r>
                <a:rPr lang="en-US" sz="1725">
                  <a:solidFill>
                    <a:srgbClr val="F5F9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Structured schema linking GBD + patient tables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7327423" y="9669780"/>
            <a:ext cx="548640" cy="411480"/>
            <a:chOff x="0" y="0"/>
            <a:chExt cx="73152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70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6540581" y="-866736"/>
            <a:ext cx="2400469" cy="2400469"/>
            <a:chOff x="0" y="0"/>
            <a:chExt cx="558800" cy="558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9FEFB6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44450" y="-107950"/>
              <a:ext cx="4699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-1376031" y="7749540"/>
            <a:ext cx="2541891" cy="2527990"/>
          </a:xfrm>
          <a:custGeom>
            <a:avLst/>
            <a:gdLst/>
            <a:ahLst/>
            <a:cxnLst/>
            <a:rect r="r" b="b" t="t" l="l"/>
            <a:pathLst>
              <a:path h="2527990" w="2541891">
                <a:moveTo>
                  <a:pt x="0" y="0"/>
                </a:moveTo>
                <a:lnTo>
                  <a:pt x="2541891" y="0"/>
                </a:lnTo>
                <a:lnTo>
                  <a:pt x="2541891" y="2527990"/>
                </a:lnTo>
                <a:lnTo>
                  <a:pt x="0" y="2527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45600" y="5244050"/>
            <a:ext cx="3652263" cy="4014250"/>
            <a:chOff x="0" y="0"/>
            <a:chExt cx="760890" cy="83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0890" cy="836304"/>
            </a:xfrm>
            <a:custGeom>
              <a:avLst/>
              <a:gdLst/>
              <a:ahLst/>
              <a:cxnLst/>
              <a:rect r="r" b="b" t="t" l="l"/>
              <a:pathLst>
                <a:path h="836304" w="760890">
                  <a:moveTo>
                    <a:pt x="31796" y="0"/>
                  </a:moveTo>
                  <a:lnTo>
                    <a:pt x="729093" y="0"/>
                  </a:lnTo>
                  <a:cubicBezTo>
                    <a:pt x="737526" y="0"/>
                    <a:pt x="745614" y="3350"/>
                    <a:pt x="751577" y="9313"/>
                  </a:cubicBezTo>
                  <a:cubicBezTo>
                    <a:pt x="757540" y="15276"/>
                    <a:pt x="760890" y="23363"/>
                    <a:pt x="760890" y="31796"/>
                  </a:cubicBezTo>
                  <a:lnTo>
                    <a:pt x="760890" y="804507"/>
                  </a:lnTo>
                  <a:cubicBezTo>
                    <a:pt x="760890" y="812940"/>
                    <a:pt x="757540" y="821028"/>
                    <a:pt x="751577" y="826991"/>
                  </a:cubicBezTo>
                  <a:cubicBezTo>
                    <a:pt x="745614" y="832954"/>
                    <a:pt x="737526" y="836304"/>
                    <a:pt x="729093" y="836304"/>
                  </a:cubicBezTo>
                  <a:lnTo>
                    <a:pt x="31796" y="836304"/>
                  </a:lnTo>
                  <a:cubicBezTo>
                    <a:pt x="23363" y="836304"/>
                    <a:pt x="15276" y="832954"/>
                    <a:pt x="9313" y="826991"/>
                  </a:cubicBezTo>
                  <a:cubicBezTo>
                    <a:pt x="3350" y="821028"/>
                    <a:pt x="0" y="812940"/>
                    <a:pt x="0" y="804507"/>
                  </a:cubicBezTo>
                  <a:lnTo>
                    <a:pt x="0" y="31796"/>
                  </a:lnTo>
                  <a:cubicBezTo>
                    <a:pt x="0" y="23363"/>
                    <a:pt x="3350" y="15276"/>
                    <a:pt x="9313" y="9313"/>
                  </a:cubicBezTo>
                  <a:cubicBezTo>
                    <a:pt x="15276" y="3350"/>
                    <a:pt x="23363" y="0"/>
                    <a:pt x="3179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666" r="0" b="-18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45600" y="1028700"/>
            <a:ext cx="3652263" cy="4014250"/>
            <a:chOff x="0" y="0"/>
            <a:chExt cx="760890" cy="83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0890" cy="836304"/>
            </a:xfrm>
            <a:custGeom>
              <a:avLst/>
              <a:gdLst/>
              <a:ahLst/>
              <a:cxnLst/>
              <a:rect r="r" b="b" t="t" l="l"/>
              <a:pathLst>
                <a:path h="836304" w="760890">
                  <a:moveTo>
                    <a:pt x="31796" y="0"/>
                  </a:moveTo>
                  <a:lnTo>
                    <a:pt x="729093" y="0"/>
                  </a:lnTo>
                  <a:cubicBezTo>
                    <a:pt x="737526" y="0"/>
                    <a:pt x="745614" y="3350"/>
                    <a:pt x="751577" y="9313"/>
                  </a:cubicBezTo>
                  <a:cubicBezTo>
                    <a:pt x="757540" y="15276"/>
                    <a:pt x="760890" y="23363"/>
                    <a:pt x="760890" y="31796"/>
                  </a:cubicBezTo>
                  <a:lnTo>
                    <a:pt x="760890" y="804507"/>
                  </a:lnTo>
                  <a:cubicBezTo>
                    <a:pt x="760890" y="812940"/>
                    <a:pt x="757540" y="821028"/>
                    <a:pt x="751577" y="826991"/>
                  </a:cubicBezTo>
                  <a:cubicBezTo>
                    <a:pt x="745614" y="832954"/>
                    <a:pt x="737526" y="836304"/>
                    <a:pt x="729093" y="836304"/>
                  </a:cubicBezTo>
                  <a:lnTo>
                    <a:pt x="31796" y="836304"/>
                  </a:lnTo>
                  <a:cubicBezTo>
                    <a:pt x="23363" y="836304"/>
                    <a:pt x="15276" y="832954"/>
                    <a:pt x="9313" y="826991"/>
                  </a:cubicBezTo>
                  <a:cubicBezTo>
                    <a:pt x="3350" y="821028"/>
                    <a:pt x="0" y="812940"/>
                    <a:pt x="0" y="804507"/>
                  </a:cubicBezTo>
                  <a:lnTo>
                    <a:pt x="0" y="31796"/>
                  </a:lnTo>
                  <a:cubicBezTo>
                    <a:pt x="0" y="23363"/>
                    <a:pt x="3350" y="15276"/>
                    <a:pt x="9313" y="9313"/>
                  </a:cubicBezTo>
                  <a:cubicBezTo>
                    <a:pt x="15276" y="3350"/>
                    <a:pt x="23363" y="0"/>
                    <a:pt x="31796" y="0"/>
                  </a:cubicBezTo>
                  <a:close/>
                </a:path>
              </a:pathLst>
            </a:custGeom>
            <a:blipFill>
              <a:blip r:embed="rId3"/>
              <a:stretch>
                <a:fillRect l="-32485" t="0" r="-3248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099037" y="1028700"/>
            <a:ext cx="3652263" cy="8229600"/>
            <a:chOff x="0" y="0"/>
            <a:chExt cx="760890" cy="17145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0890" cy="1714503"/>
            </a:xfrm>
            <a:custGeom>
              <a:avLst/>
              <a:gdLst/>
              <a:ahLst/>
              <a:cxnLst/>
              <a:rect r="r" b="b" t="t" l="l"/>
              <a:pathLst>
                <a:path h="1714503" w="760890">
                  <a:moveTo>
                    <a:pt x="31796" y="0"/>
                  </a:moveTo>
                  <a:lnTo>
                    <a:pt x="729093" y="0"/>
                  </a:lnTo>
                  <a:cubicBezTo>
                    <a:pt x="737526" y="0"/>
                    <a:pt x="745614" y="3350"/>
                    <a:pt x="751577" y="9313"/>
                  </a:cubicBezTo>
                  <a:cubicBezTo>
                    <a:pt x="757540" y="15276"/>
                    <a:pt x="760890" y="23363"/>
                    <a:pt x="760890" y="31796"/>
                  </a:cubicBezTo>
                  <a:lnTo>
                    <a:pt x="760890" y="1682707"/>
                  </a:lnTo>
                  <a:cubicBezTo>
                    <a:pt x="760890" y="1691140"/>
                    <a:pt x="757540" y="1699227"/>
                    <a:pt x="751577" y="1705190"/>
                  </a:cubicBezTo>
                  <a:cubicBezTo>
                    <a:pt x="745614" y="1711153"/>
                    <a:pt x="737526" y="1714503"/>
                    <a:pt x="729093" y="1714503"/>
                  </a:cubicBezTo>
                  <a:lnTo>
                    <a:pt x="31796" y="1714503"/>
                  </a:lnTo>
                  <a:cubicBezTo>
                    <a:pt x="23363" y="1714503"/>
                    <a:pt x="15276" y="1711153"/>
                    <a:pt x="9313" y="1705190"/>
                  </a:cubicBezTo>
                  <a:cubicBezTo>
                    <a:pt x="3350" y="1699227"/>
                    <a:pt x="0" y="1691140"/>
                    <a:pt x="0" y="1682707"/>
                  </a:cubicBezTo>
                  <a:lnTo>
                    <a:pt x="0" y="31796"/>
                  </a:lnTo>
                  <a:cubicBezTo>
                    <a:pt x="0" y="23363"/>
                    <a:pt x="3350" y="15276"/>
                    <a:pt x="9313" y="9313"/>
                  </a:cubicBezTo>
                  <a:cubicBezTo>
                    <a:pt x="15276" y="3350"/>
                    <a:pt x="23363" y="0"/>
                    <a:pt x="31796" y="0"/>
                  </a:cubicBezTo>
                  <a:close/>
                </a:path>
              </a:pathLst>
            </a:custGeom>
            <a:blipFill>
              <a:blip r:embed="rId4"/>
              <a:stretch>
                <a:fillRect l="-25203" t="0" r="-25203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84566" y="2181786"/>
            <a:ext cx="6068664" cy="79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5250" b="true">
                <a:solidFill>
                  <a:srgbClr val="1C1C1C"/>
                </a:solidFill>
                <a:latin typeface="Loubag Bold"/>
                <a:ea typeface="Loubag Bold"/>
                <a:cs typeface="Loubag Bold"/>
                <a:sym typeface="Loubag Bold"/>
              </a:rPr>
              <a:t>Excel Section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6607" y="3460592"/>
            <a:ext cx="6869714" cy="605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1"/>
              </a:lnSpc>
            </a:pPr>
            <a:r>
              <a:rPr lang="en-US" sz="2700" b="true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📌 Slide Title:</a:t>
            </a:r>
          </a:p>
          <a:p>
            <a:pPr algn="l" marL="583118" indent="-291559" lvl="1">
              <a:lnSpc>
                <a:spcPts val="4861"/>
              </a:lnSpc>
              <a:buFont typeface="Arial"/>
              <a:buChar char="•"/>
            </a:pPr>
            <a:r>
              <a:rPr lang="en-US" sz="2700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Section II: Dynamic Analytics via Excel</a:t>
            </a:r>
          </a:p>
          <a:p>
            <a:pPr algn="l">
              <a:lnSpc>
                <a:spcPts val="4861"/>
              </a:lnSpc>
            </a:pPr>
            <a:r>
              <a:rPr lang="en-US" sz="2700" b="true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📝 Slide Content:</a:t>
            </a:r>
          </a:p>
          <a:p>
            <a:pPr algn="l" marL="583118" indent="-291559" lvl="1">
              <a:lnSpc>
                <a:spcPts val="4861"/>
              </a:lnSpc>
              <a:buFont typeface="Arial"/>
              <a:buChar char="•"/>
            </a:pPr>
            <a:r>
              <a:rPr lang="en-US" sz="2700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High-Level Executive KPI Cards</a:t>
            </a:r>
          </a:p>
          <a:p>
            <a:pPr algn="l" marL="583118" indent="-291559" lvl="1">
              <a:lnSpc>
                <a:spcPts val="4861"/>
              </a:lnSpc>
              <a:buFont typeface="Arial"/>
              <a:buChar char="•"/>
            </a:pPr>
            <a:r>
              <a:rPr lang="en-US" sz="2700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Geog</a:t>
            </a:r>
            <a:r>
              <a:rPr lang="en-US" sz="2700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raphic Mapping &amp; Longitudinal Trends (1990–2023)</a:t>
            </a:r>
          </a:p>
          <a:p>
            <a:pPr algn="l" marL="583118" indent="-291559" lvl="1">
              <a:lnSpc>
                <a:spcPts val="4861"/>
              </a:lnSpc>
              <a:buFont typeface="Arial"/>
              <a:buChar char="•"/>
            </a:pPr>
            <a:r>
              <a:rPr lang="en-US" sz="2700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Regional Demographic Drill-downs &amp; Dynamic Slicers</a:t>
            </a:r>
          </a:p>
          <a:p>
            <a:pPr algn="l">
              <a:lnSpc>
                <a:spcPts val="4861"/>
              </a:lnSpc>
            </a:pPr>
          </a:p>
          <a:p>
            <a:pPr algn="l">
              <a:lnSpc>
                <a:spcPts val="4861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1028700"/>
            <a:ext cx="2365333" cy="501651"/>
            <a:chOff x="0" y="0"/>
            <a:chExt cx="486694" cy="1032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6694" cy="103220"/>
            </a:xfrm>
            <a:custGeom>
              <a:avLst/>
              <a:gdLst/>
              <a:ahLst/>
              <a:cxnLst/>
              <a:rect r="r" b="b" t="t" l="l"/>
              <a:pathLst>
                <a:path h="103220" w="486694">
                  <a:moveTo>
                    <a:pt x="17900" y="0"/>
                  </a:moveTo>
                  <a:lnTo>
                    <a:pt x="468794" y="0"/>
                  </a:lnTo>
                  <a:cubicBezTo>
                    <a:pt x="473542" y="0"/>
                    <a:pt x="478095" y="1886"/>
                    <a:pt x="481451" y="5243"/>
                  </a:cubicBezTo>
                  <a:cubicBezTo>
                    <a:pt x="484808" y="8600"/>
                    <a:pt x="486694" y="13152"/>
                    <a:pt x="486694" y="17900"/>
                  </a:cubicBezTo>
                  <a:lnTo>
                    <a:pt x="486694" y="85321"/>
                  </a:lnTo>
                  <a:cubicBezTo>
                    <a:pt x="486694" y="90068"/>
                    <a:pt x="484808" y="94621"/>
                    <a:pt x="481451" y="97978"/>
                  </a:cubicBezTo>
                  <a:cubicBezTo>
                    <a:pt x="478095" y="101335"/>
                    <a:pt x="473542" y="103220"/>
                    <a:pt x="468794" y="103220"/>
                  </a:cubicBezTo>
                  <a:lnTo>
                    <a:pt x="17900" y="103220"/>
                  </a:lnTo>
                  <a:cubicBezTo>
                    <a:pt x="13152" y="103220"/>
                    <a:pt x="8600" y="101335"/>
                    <a:pt x="5243" y="97978"/>
                  </a:cubicBezTo>
                  <a:cubicBezTo>
                    <a:pt x="1886" y="94621"/>
                    <a:pt x="0" y="90068"/>
                    <a:pt x="0" y="85321"/>
                  </a:cubicBezTo>
                  <a:lnTo>
                    <a:pt x="0" y="17900"/>
                  </a:lnTo>
                  <a:cubicBezTo>
                    <a:pt x="0" y="13152"/>
                    <a:pt x="1886" y="8600"/>
                    <a:pt x="5243" y="5243"/>
                  </a:cubicBezTo>
                  <a:cubicBezTo>
                    <a:pt x="8600" y="1886"/>
                    <a:pt x="13152" y="0"/>
                    <a:pt x="17900" y="0"/>
                  </a:cubicBezTo>
                  <a:close/>
                </a:path>
              </a:pathLst>
            </a:custGeom>
            <a:solidFill>
              <a:srgbClr val="9FEFB6"/>
            </a:solidFill>
            <a:ln w="19050" cap="sq">
              <a:solidFill>
                <a:srgbClr val="6C6FDB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52400"/>
              <a:ext cx="486694" cy="25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92390" y="1128028"/>
            <a:ext cx="292176" cy="295398"/>
          </a:xfrm>
          <a:custGeom>
            <a:avLst/>
            <a:gdLst/>
            <a:ahLst/>
            <a:cxnLst/>
            <a:rect r="r" b="b" t="t" l="l"/>
            <a:pathLst>
              <a:path h="295398" w="292176">
                <a:moveTo>
                  <a:pt x="0" y="0"/>
                </a:moveTo>
                <a:lnTo>
                  <a:pt x="292176" y="0"/>
                </a:lnTo>
                <a:lnTo>
                  <a:pt x="292176" y="295398"/>
                </a:lnTo>
                <a:lnTo>
                  <a:pt x="0" y="295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74909" y="962343"/>
            <a:ext cx="1724594" cy="49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0B0A0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Primary Clinic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016194" y="8637753"/>
            <a:ext cx="2882650" cy="2264191"/>
          </a:xfrm>
          <a:custGeom>
            <a:avLst/>
            <a:gdLst/>
            <a:ahLst/>
            <a:cxnLst/>
            <a:rect r="r" b="b" t="t" l="l"/>
            <a:pathLst>
              <a:path h="2264191" w="2882650">
                <a:moveTo>
                  <a:pt x="0" y="0"/>
                </a:moveTo>
                <a:lnTo>
                  <a:pt x="2882650" y="0"/>
                </a:lnTo>
                <a:lnTo>
                  <a:pt x="2882650" y="2264191"/>
                </a:lnTo>
                <a:lnTo>
                  <a:pt x="0" y="22641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243182" y="6666156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30793" y="2579002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4" y="0"/>
                </a:lnTo>
                <a:lnTo>
                  <a:pt x="395814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-1108600" y="9571630"/>
            <a:ext cx="3086100" cy="826634"/>
            <a:chOff x="0" y="0"/>
            <a:chExt cx="711200" cy="190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1200" cy="190500"/>
            </a:xfrm>
            <a:custGeom>
              <a:avLst/>
              <a:gdLst/>
              <a:ahLst/>
              <a:cxnLst/>
              <a:rect r="r" b="b" t="t" l="l"/>
              <a:pathLst>
                <a:path h="190500" w="711200">
                  <a:moveTo>
                    <a:pt x="711200" y="0"/>
                  </a:moveTo>
                  <a:lnTo>
                    <a:pt x="711200" y="142894"/>
                  </a:lnTo>
                  <a:cubicBezTo>
                    <a:pt x="651933" y="142894"/>
                    <a:pt x="651933" y="190500"/>
                    <a:pt x="592667" y="190500"/>
                  </a:cubicBezTo>
                  <a:cubicBezTo>
                    <a:pt x="533381" y="190500"/>
                    <a:pt x="533381" y="142894"/>
                    <a:pt x="474115" y="142894"/>
                  </a:cubicBezTo>
                  <a:cubicBezTo>
                    <a:pt x="414848" y="142894"/>
                    <a:pt x="414848" y="190500"/>
                    <a:pt x="355581" y="190500"/>
                  </a:cubicBezTo>
                  <a:cubicBezTo>
                    <a:pt x="296315" y="190500"/>
                    <a:pt x="296315" y="142894"/>
                    <a:pt x="237048" y="142894"/>
                  </a:cubicBezTo>
                  <a:cubicBezTo>
                    <a:pt x="177781" y="142894"/>
                    <a:pt x="177781" y="190500"/>
                    <a:pt x="118533" y="190500"/>
                  </a:cubicBezTo>
                  <a:cubicBezTo>
                    <a:pt x="59267" y="190500"/>
                    <a:pt x="59267" y="142894"/>
                    <a:pt x="0" y="142894"/>
                  </a:cubicBezTo>
                  <a:lnTo>
                    <a:pt x="0" y="0"/>
                  </a:lnTo>
                  <a:cubicBezTo>
                    <a:pt x="59267" y="0"/>
                    <a:pt x="59267" y="47606"/>
                    <a:pt x="118533" y="47606"/>
                  </a:cubicBezTo>
                  <a:cubicBezTo>
                    <a:pt x="177781" y="47606"/>
                    <a:pt x="177781" y="0"/>
                    <a:pt x="237048" y="0"/>
                  </a:cubicBezTo>
                  <a:cubicBezTo>
                    <a:pt x="296315" y="0"/>
                    <a:pt x="296315" y="47606"/>
                    <a:pt x="355581" y="47606"/>
                  </a:cubicBezTo>
                  <a:cubicBezTo>
                    <a:pt x="414848" y="47606"/>
                    <a:pt x="414848" y="0"/>
                    <a:pt x="474115" y="0"/>
                  </a:cubicBezTo>
                  <a:cubicBezTo>
                    <a:pt x="533381" y="0"/>
                    <a:pt x="533381" y="47606"/>
                    <a:pt x="592667" y="47606"/>
                  </a:cubicBezTo>
                  <a:cubicBezTo>
                    <a:pt x="651933" y="47606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6C6FD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01600"/>
              <a:ext cx="711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087765" y="-1272442"/>
            <a:ext cx="2400469" cy="2400469"/>
            <a:chOff x="0" y="0"/>
            <a:chExt cx="558800" cy="55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6C6FD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44450" y="-107950"/>
              <a:ext cx="4699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491043" y="2183187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8600" y="0"/>
            <a:ext cx="19940270" cy="10287000"/>
            <a:chOff x="0" y="0"/>
            <a:chExt cx="1336184" cy="689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184" cy="689325"/>
            </a:xfrm>
            <a:custGeom>
              <a:avLst/>
              <a:gdLst/>
              <a:ahLst/>
              <a:cxnLst/>
              <a:rect r="r" b="b" t="t" l="l"/>
              <a:pathLst>
                <a:path h="689325" w="1336184">
                  <a:moveTo>
                    <a:pt x="2123" y="0"/>
                  </a:moveTo>
                  <a:lnTo>
                    <a:pt x="1334061" y="0"/>
                  </a:lnTo>
                  <a:cubicBezTo>
                    <a:pt x="1334624" y="0"/>
                    <a:pt x="1335164" y="224"/>
                    <a:pt x="1335562" y="622"/>
                  </a:cubicBezTo>
                  <a:cubicBezTo>
                    <a:pt x="1335960" y="1020"/>
                    <a:pt x="1336184" y="1560"/>
                    <a:pt x="1336184" y="2123"/>
                  </a:cubicBezTo>
                  <a:lnTo>
                    <a:pt x="1336184" y="687202"/>
                  </a:lnTo>
                  <a:cubicBezTo>
                    <a:pt x="1336184" y="688374"/>
                    <a:pt x="1335234" y="689325"/>
                    <a:pt x="1334061" y="689325"/>
                  </a:cubicBezTo>
                  <a:lnTo>
                    <a:pt x="2123" y="689325"/>
                  </a:lnTo>
                  <a:cubicBezTo>
                    <a:pt x="1560" y="689325"/>
                    <a:pt x="1020" y="689101"/>
                    <a:pt x="622" y="688703"/>
                  </a:cubicBezTo>
                  <a:cubicBezTo>
                    <a:pt x="224" y="688305"/>
                    <a:pt x="0" y="687765"/>
                    <a:pt x="0" y="687202"/>
                  </a:cubicBezTo>
                  <a:lnTo>
                    <a:pt x="0" y="2123"/>
                  </a:lnTo>
                  <a:cubicBezTo>
                    <a:pt x="0" y="1560"/>
                    <a:pt x="224" y="1020"/>
                    <a:pt x="622" y="622"/>
                  </a:cubicBezTo>
                  <a:cubicBezTo>
                    <a:pt x="1020" y="224"/>
                    <a:pt x="1560" y="0"/>
                    <a:pt x="2123" y="0"/>
                  </a:cubicBezTo>
                  <a:close/>
                </a:path>
              </a:pathLst>
            </a:custGeom>
            <a:solidFill>
              <a:srgbClr val="C6CBCE"/>
            </a:solidFill>
            <a:ln w="19050" cap="sq">
              <a:solidFill>
                <a:srgbClr val="6C6FD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1336184" cy="841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773218" y="9483295"/>
            <a:ext cx="4342790" cy="501651"/>
            <a:chOff x="0" y="0"/>
            <a:chExt cx="893578" cy="1032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3578" cy="103220"/>
            </a:xfrm>
            <a:custGeom>
              <a:avLst/>
              <a:gdLst/>
              <a:ahLst/>
              <a:cxnLst/>
              <a:rect r="r" b="b" t="t" l="l"/>
              <a:pathLst>
                <a:path h="103220" w="893578">
                  <a:moveTo>
                    <a:pt x="9749" y="0"/>
                  </a:moveTo>
                  <a:lnTo>
                    <a:pt x="883829" y="0"/>
                  </a:lnTo>
                  <a:cubicBezTo>
                    <a:pt x="889213" y="0"/>
                    <a:pt x="893578" y="4365"/>
                    <a:pt x="893578" y="9749"/>
                  </a:cubicBezTo>
                  <a:lnTo>
                    <a:pt x="893578" y="93471"/>
                  </a:lnTo>
                  <a:cubicBezTo>
                    <a:pt x="893578" y="96057"/>
                    <a:pt x="892551" y="98537"/>
                    <a:pt x="890723" y="100365"/>
                  </a:cubicBezTo>
                  <a:cubicBezTo>
                    <a:pt x="888894" y="102193"/>
                    <a:pt x="886415" y="103220"/>
                    <a:pt x="883829" y="103220"/>
                  </a:cubicBezTo>
                  <a:lnTo>
                    <a:pt x="9749" y="103220"/>
                  </a:lnTo>
                  <a:cubicBezTo>
                    <a:pt x="7164" y="103220"/>
                    <a:pt x="4684" y="102193"/>
                    <a:pt x="2855" y="100365"/>
                  </a:cubicBezTo>
                  <a:cubicBezTo>
                    <a:pt x="1027" y="98537"/>
                    <a:pt x="0" y="96057"/>
                    <a:pt x="0" y="93471"/>
                  </a:cubicBezTo>
                  <a:lnTo>
                    <a:pt x="0" y="9749"/>
                  </a:lnTo>
                  <a:cubicBezTo>
                    <a:pt x="0" y="7164"/>
                    <a:pt x="1027" y="4684"/>
                    <a:pt x="2855" y="2855"/>
                  </a:cubicBezTo>
                  <a:cubicBezTo>
                    <a:pt x="4684" y="1027"/>
                    <a:pt x="7164" y="0"/>
                    <a:pt x="9749" y="0"/>
                  </a:cubicBezTo>
                  <a:close/>
                </a:path>
              </a:pathLst>
            </a:custGeom>
            <a:solidFill>
              <a:srgbClr val="9FEFB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893578" cy="25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079856" y="5977012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17975" y="8439534"/>
            <a:ext cx="2882650" cy="2264191"/>
          </a:xfrm>
          <a:custGeom>
            <a:avLst/>
            <a:gdLst/>
            <a:ahLst/>
            <a:cxnLst/>
            <a:rect r="r" b="b" t="t" l="l"/>
            <a:pathLst>
              <a:path h="2264191" w="2882650">
                <a:moveTo>
                  <a:pt x="0" y="0"/>
                </a:moveTo>
                <a:lnTo>
                  <a:pt x="2882650" y="0"/>
                </a:lnTo>
                <a:lnTo>
                  <a:pt x="2882650" y="2264191"/>
                </a:lnTo>
                <a:lnTo>
                  <a:pt x="0" y="22641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108600" y="9571630"/>
            <a:ext cx="16881818" cy="826634"/>
            <a:chOff x="0" y="0"/>
            <a:chExt cx="3890460" cy="190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90460" cy="190500"/>
            </a:xfrm>
            <a:custGeom>
              <a:avLst/>
              <a:gdLst/>
              <a:ahLst/>
              <a:cxnLst/>
              <a:rect r="r" b="b" t="t" l="l"/>
              <a:pathLst>
                <a:path h="190500" w="3890460">
                  <a:moveTo>
                    <a:pt x="3890460" y="0"/>
                  </a:moveTo>
                  <a:lnTo>
                    <a:pt x="3890460" y="142894"/>
                  </a:lnTo>
                  <a:cubicBezTo>
                    <a:pt x="3566253" y="142894"/>
                    <a:pt x="3566253" y="190500"/>
                    <a:pt x="3242052" y="190500"/>
                  </a:cubicBezTo>
                  <a:cubicBezTo>
                    <a:pt x="2917741" y="190500"/>
                    <a:pt x="2917741" y="142894"/>
                    <a:pt x="2593541" y="142894"/>
                  </a:cubicBezTo>
                  <a:cubicBezTo>
                    <a:pt x="2269333" y="142894"/>
                    <a:pt x="2269333" y="190500"/>
                    <a:pt x="1945126" y="190500"/>
                  </a:cubicBezTo>
                  <a:cubicBezTo>
                    <a:pt x="1620925" y="190500"/>
                    <a:pt x="1620925" y="142894"/>
                    <a:pt x="1296718" y="142894"/>
                  </a:cubicBezTo>
                  <a:cubicBezTo>
                    <a:pt x="972511" y="142894"/>
                    <a:pt x="972511" y="190500"/>
                    <a:pt x="648410" y="190500"/>
                  </a:cubicBezTo>
                  <a:cubicBezTo>
                    <a:pt x="324205" y="190500"/>
                    <a:pt x="324205" y="142894"/>
                    <a:pt x="0" y="142894"/>
                  </a:cubicBezTo>
                  <a:lnTo>
                    <a:pt x="0" y="0"/>
                  </a:lnTo>
                  <a:cubicBezTo>
                    <a:pt x="324205" y="0"/>
                    <a:pt x="324205" y="47606"/>
                    <a:pt x="648410" y="47606"/>
                  </a:cubicBezTo>
                  <a:cubicBezTo>
                    <a:pt x="972511" y="47606"/>
                    <a:pt x="972511" y="0"/>
                    <a:pt x="1296718" y="0"/>
                  </a:cubicBezTo>
                  <a:cubicBezTo>
                    <a:pt x="1620925" y="0"/>
                    <a:pt x="1620925" y="47606"/>
                    <a:pt x="1945126" y="47606"/>
                  </a:cubicBezTo>
                  <a:cubicBezTo>
                    <a:pt x="2269333" y="47606"/>
                    <a:pt x="2269333" y="0"/>
                    <a:pt x="2593541" y="0"/>
                  </a:cubicBezTo>
                  <a:cubicBezTo>
                    <a:pt x="2917741" y="0"/>
                    <a:pt x="2917741" y="47606"/>
                    <a:pt x="3242052" y="47606"/>
                  </a:cubicBezTo>
                  <a:cubicBezTo>
                    <a:pt x="3566253" y="47606"/>
                    <a:pt x="3566253" y="0"/>
                    <a:pt x="3890460" y="0"/>
                  </a:cubicBezTo>
                  <a:close/>
                </a:path>
              </a:pathLst>
            </a:custGeom>
            <a:solidFill>
              <a:srgbClr val="6C6FD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1600"/>
              <a:ext cx="389046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087765" y="-1272442"/>
            <a:ext cx="2400469" cy="2400469"/>
            <a:chOff x="0" y="0"/>
            <a:chExt cx="558800" cy="55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6C6FD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44450" y="-107950"/>
              <a:ext cx="4699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468298" y="1821719"/>
            <a:ext cx="13819702" cy="6384319"/>
            <a:chOff x="0" y="0"/>
            <a:chExt cx="3148747" cy="1454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48747" cy="1454633"/>
            </a:xfrm>
            <a:custGeom>
              <a:avLst/>
              <a:gdLst/>
              <a:ahLst/>
              <a:cxnLst/>
              <a:rect r="r" b="b" t="t" l="l"/>
              <a:pathLst>
                <a:path h="1454633" w="3148747">
                  <a:moveTo>
                    <a:pt x="8403" y="0"/>
                  </a:moveTo>
                  <a:lnTo>
                    <a:pt x="3140343" y="0"/>
                  </a:lnTo>
                  <a:cubicBezTo>
                    <a:pt x="3144984" y="0"/>
                    <a:pt x="3148747" y="3762"/>
                    <a:pt x="3148747" y="8403"/>
                  </a:cubicBezTo>
                  <a:lnTo>
                    <a:pt x="3148747" y="1446230"/>
                  </a:lnTo>
                  <a:cubicBezTo>
                    <a:pt x="3148747" y="1450871"/>
                    <a:pt x="3144984" y="1454633"/>
                    <a:pt x="3140343" y="1454633"/>
                  </a:cubicBezTo>
                  <a:lnTo>
                    <a:pt x="8403" y="1454633"/>
                  </a:lnTo>
                  <a:cubicBezTo>
                    <a:pt x="3762" y="1454633"/>
                    <a:pt x="0" y="1450871"/>
                    <a:pt x="0" y="1446230"/>
                  </a:cubicBezTo>
                  <a:lnTo>
                    <a:pt x="0" y="8403"/>
                  </a:lnTo>
                  <a:cubicBezTo>
                    <a:pt x="0" y="3762"/>
                    <a:pt x="3762" y="0"/>
                    <a:pt x="8403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35" r="0" b="-35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50993" y="1765906"/>
            <a:ext cx="3944844" cy="6959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6"/>
              </a:lnSpc>
            </a:pPr>
            <a:r>
              <a:rPr lang="en-US" sz="2042" b="true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Objective: </a:t>
            </a:r>
            <a:r>
              <a:rPr lang="en-US" sz="2042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summary of level global health metrics and geographic distributions.</a:t>
            </a:r>
          </a:p>
          <a:p>
            <a:pPr algn="l">
              <a:lnSpc>
                <a:spcPts val="3676"/>
              </a:lnSpc>
            </a:pPr>
            <a:r>
              <a:rPr lang="en-US" sz="2042" b="true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Core Functionalities &amp; Visuals:</a:t>
            </a:r>
          </a:p>
          <a:p>
            <a:pPr algn="l" marL="440985" indent="-220492" lvl="1">
              <a:lnSpc>
                <a:spcPts val="3676"/>
              </a:lnSpc>
              <a:buFont typeface="Arial"/>
              <a:buChar char="•"/>
            </a:pPr>
            <a:r>
              <a:rPr lang="en-US" sz="2042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Key Performance Indicators (KPIs)</a:t>
            </a:r>
          </a:p>
          <a:p>
            <a:pPr algn="l" marL="440985" indent="-220492" lvl="1">
              <a:lnSpc>
                <a:spcPts val="3676"/>
              </a:lnSpc>
              <a:buFont typeface="Arial"/>
              <a:buChar char="•"/>
            </a:pPr>
            <a:r>
              <a:rPr lang="en-US" sz="2042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</a:t>
            </a:r>
            <a:r>
              <a:rPr lang="en-US" sz="2042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ographical Choropleth Mapping Study Prevlance in 2023</a:t>
            </a:r>
          </a:p>
          <a:p>
            <a:pPr algn="l" marL="440985" indent="-220492" lvl="1">
              <a:lnSpc>
                <a:spcPts val="3676"/>
              </a:lnSpc>
              <a:buFont typeface="Arial"/>
              <a:buChar char="•"/>
            </a:pPr>
            <a:r>
              <a:rPr lang="en-US" sz="2042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Dynamic Interactive Slicers: A dedicated filter panel enabling users to seamlessly isolate and slice data by Year, Sex, Age Group, and Country name.</a:t>
            </a:r>
          </a:p>
          <a:p>
            <a:pPr algn="l">
              <a:lnSpc>
                <a:spcPts val="3676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129141"/>
            <a:ext cx="839167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3"/>
              </a:lnSpc>
            </a:pPr>
            <a:r>
              <a:rPr lang="en-US" sz="6002">
                <a:solidFill>
                  <a:srgbClr val="6C6FDB"/>
                </a:solidFill>
                <a:latin typeface="Loubag"/>
                <a:ea typeface="Loubag"/>
                <a:cs typeface="Loubag"/>
                <a:sym typeface="Loubag"/>
              </a:rPr>
              <a:t> Excel Overview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08600" y="0"/>
            <a:ext cx="19940270" cy="10287000"/>
            <a:chOff x="0" y="0"/>
            <a:chExt cx="1336184" cy="689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184" cy="689325"/>
            </a:xfrm>
            <a:custGeom>
              <a:avLst/>
              <a:gdLst/>
              <a:ahLst/>
              <a:cxnLst/>
              <a:rect r="r" b="b" t="t" l="l"/>
              <a:pathLst>
                <a:path h="689325" w="1336184">
                  <a:moveTo>
                    <a:pt x="2123" y="0"/>
                  </a:moveTo>
                  <a:lnTo>
                    <a:pt x="1334061" y="0"/>
                  </a:lnTo>
                  <a:cubicBezTo>
                    <a:pt x="1334624" y="0"/>
                    <a:pt x="1335164" y="224"/>
                    <a:pt x="1335562" y="622"/>
                  </a:cubicBezTo>
                  <a:cubicBezTo>
                    <a:pt x="1335960" y="1020"/>
                    <a:pt x="1336184" y="1560"/>
                    <a:pt x="1336184" y="2123"/>
                  </a:cubicBezTo>
                  <a:lnTo>
                    <a:pt x="1336184" y="687202"/>
                  </a:lnTo>
                  <a:cubicBezTo>
                    <a:pt x="1336184" y="688374"/>
                    <a:pt x="1335234" y="689325"/>
                    <a:pt x="1334061" y="689325"/>
                  </a:cubicBezTo>
                  <a:lnTo>
                    <a:pt x="2123" y="689325"/>
                  </a:lnTo>
                  <a:cubicBezTo>
                    <a:pt x="1560" y="689325"/>
                    <a:pt x="1020" y="689101"/>
                    <a:pt x="622" y="688703"/>
                  </a:cubicBezTo>
                  <a:cubicBezTo>
                    <a:pt x="224" y="688305"/>
                    <a:pt x="0" y="687765"/>
                    <a:pt x="0" y="687202"/>
                  </a:cubicBezTo>
                  <a:lnTo>
                    <a:pt x="0" y="2123"/>
                  </a:lnTo>
                  <a:cubicBezTo>
                    <a:pt x="0" y="1560"/>
                    <a:pt x="224" y="1020"/>
                    <a:pt x="622" y="622"/>
                  </a:cubicBezTo>
                  <a:cubicBezTo>
                    <a:pt x="1020" y="224"/>
                    <a:pt x="1560" y="0"/>
                    <a:pt x="2123" y="0"/>
                  </a:cubicBezTo>
                  <a:close/>
                </a:path>
              </a:pathLst>
            </a:custGeom>
            <a:solidFill>
              <a:srgbClr val="C6CBCE"/>
            </a:solidFill>
            <a:ln w="19050" cap="sq">
              <a:solidFill>
                <a:srgbClr val="6C6FD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1336184" cy="841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773218" y="9483295"/>
            <a:ext cx="4342790" cy="501651"/>
            <a:chOff x="0" y="0"/>
            <a:chExt cx="893578" cy="1032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3578" cy="103220"/>
            </a:xfrm>
            <a:custGeom>
              <a:avLst/>
              <a:gdLst/>
              <a:ahLst/>
              <a:cxnLst/>
              <a:rect r="r" b="b" t="t" l="l"/>
              <a:pathLst>
                <a:path h="103220" w="893578">
                  <a:moveTo>
                    <a:pt x="9749" y="0"/>
                  </a:moveTo>
                  <a:lnTo>
                    <a:pt x="883829" y="0"/>
                  </a:lnTo>
                  <a:cubicBezTo>
                    <a:pt x="889213" y="0"/>
                    <a:pt x="893578" y="4365"/>
                    <a:pt x="893578" y="9749"/>
                  </a:cubicBezTo>
                  <a:lnTo>
                    <a:pt x="893578" y="93471"/>
                  </a:lnTo>
                  <a:cubicBezTo>
                    <a:pt x="893578" y="96057"/>
                    <a:pt x="892551" y="98537"/>
                    <a:pt x="890723" y="100365"/>
                  </a:cubicBezTo>
                  <a:cubicBezTo>
                    <a:pt x="888894" y="102193"/>
                    <a:pt x="886415" y="103220"/>
                    <a:pt x="883829" y="103220"/>
                  </a:cubicBezTo>
                  <a:lnTo>
                    <a:pt x="9749" y="103220"/>
                  </a:lnTo>
                  <a:cubicBezTo>
                    <a:pt x="7164" y="103220"/>
                    <a:pt x="4684" y="102193"/>
                    <a:pt x="2855" y="100365"/>
                  </a:cubicBezTo>
                  <a:cubicBezTo>
                    <a:pt x="1027" y="98537"/>
                    <a:pt x="0" y="96057"/>
                    <a:pt x="0" y="93471"/>
                  </a:cubicBezTo>
                  <a:lnTo>
                    <a:pt x="0" y="9749"/>
                  </a:lnTo>
                  <a:cubicBezTo>
                    <a:pt x="0" y="7164"/>
                    <a:pt x="1027" y="4684"/>
                    <a:pt x="2855" y="2855"/>
                  </a:cubicBezTo>
                  <a:cubicBezTo>
                    <a:pt x="4684" y="1027"/>
                    <a:pt x="7164" y="0"/>
                    <a:pt x="9749" y="0"/>
                  </a:cubicBezTo>
                  <a:close/>
                </a:path>
              </a:pathLst>
            </a:custGeom>
            <a:solidFill>
              <a:srgbClr val="9FEFB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893578" cy="25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079856" y="5977012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17975" y="8439534"/>
            <a:ext cx="2882650" cy="2264191"/>
          </a:xfrm>
          <a:custGeom>
            <a:avLst/>
            <a:gdLst/>
            <a:ahLst/>
            <a:cxnLst/>
            <a:rect r="r" b="b" t="t" l="l"/>
            <a:pathLst>
              <a:path h="2264191" w="2882650">
                <a:moveTo>
                  <a:pt x="0" y="0"/>
                </a:moveTo>
                <a:lnTo>
                  <a:pt x="2882650" y="0"/>
                </a:lnTo>
                <a:lnTo>
                  <a:pt x="2882650" y="2264191"/>
                </a:lnTo>
                <a:lnTo>
                  <a:pt x="0" y="22641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108600" y="9571630"/>
            <a:ext cx="16881818" cy="826634"/>
            <a:chOff x="0" y="0"/>
            <a:chExt cx="3890460" cy="190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90460" cy="190500"/>
            </a:xfrm>
            <a:custGeom>
              <a:avLst/>
              <a:gdLst/>
              <a:ahLst/>
              <a:cxnLst/>
              <a:rect r="r" b="b" t="t" l="l"/>
              <a:pathLst>
                <a:path h="190500" w="3890460">
                  <a:moveTo>
                    <a:pt x="3890460" y="0"/>
                  </a:moveTo>
                  <a:lnTo>
                    <a:pt x="3890460" y="142894"/>
                  </a:lnTo>
                  <a:cubicBezTo>
                    <a:pt x="3566253" y="142894"/>
                    <a:pt x="3566253" y="190500"/>
                    <a:pt x="3242052" y="190500"/>
                  </a:cubicBezTo>
                  <a:cubicBezTo>
                    <a:pt x="2917741" y="190500"/>
                    <a:pt x="2917741" y="142894"/>
                    <a:pt x="2593541" y="142894"/>
                  </a:cubicBezTo>
                  <a:cubicBezTo>
                    <a:pt x="2269333" y="142894"/>
                    <a:pt x="2269333" y="190500"/>
                    <a:pt x="1945126" y="190500"/>
                  </a:cubicBezTo>
                  <a:cubicBezTo>
                    <a:pt x="1620925" y="190500"/>
                    <a:pt x="1620925" y="142894"/>
                    <a:pt x="1296718" y="142894"/>
                  </a:cubicBezTo>
                  <a:cubicBezTo>
                    <a:pt x="972511" y="142894"/>
                    <a:pt x="972511" y="190500"/>
                    <a:pt x="648410" y="190500"/>
                  </a:cubicBezTo>
                  <a:cubicBezTo>
                    <a:pt x="324205" y="190500"/>
                    <a:pt x="324205" y="142894"/>
                    <a:pt x="0" y="142894"/>
                  </a:cubicBezTo>
                  <a:lnTo>
                    <a:pt x="0" y="0"/>
                  </a:lnTo>
                  <a:cubicBezTo>
                    <a:pt x="324205" y="0"/>
                    <a:pt x="324205" y="47606"/>
                    <a:pt x="648410" y="47606"/>
                  </a:cubicBezTo>
                  <a:cubicBezTo>
                    <a:pt x="972511" y="47606"/>
                    <a:pt x="972511" y="0"/>
                    <a:pt x="1296718" y="0"/>
                  </a:cubicBezTo>
                  <a:cubicBezTo>
                    <a:pt x="1620925" y="0"/>
                    <a:pt x="1620925" y="47606"/>
                    <a:pt x="1945126" y="47606"/>
                  </a:cubicBezTo>
                  <a:cubicBezTo>
                    <a:pt x="2269333" y="47606"/>
                    <a:pt x="2269333" y="0"/>
                    <a:pt x="2593541" y="0"/>
                  </a:cubicBezTo>
                  <a:cubicBezTo>
                    <a:pt x="2917741" y="0"/>
                    <a:pt x="2917741" y="47606"/>
                    <a:pt x="3242052" y="47606"/>
                  </a:cubicBezTo>
                  <a:cubicBezTo>
                    <a:pt x="3566253" y="47606"/>
                    <a:pt x="3566253" y="0"/>
                    <a:pt x="3890460" y="0"/>
                  </a:cubicBezTo>
                  <a:close/>
                </a:path>
              </a:pathLst>
            </a:custGeom>
            <a:solidFill>
              <a:srgbClr val="6C6FD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1600"/>
              <a:ext cx="389046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087765" y="-1272442"/>
            <a:ext cx="2400469" cy="2400469"/>
            <a:chOff x="0" y="0"/>
            <a:chExt cx="558800" cy="55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6C6FD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44450" y="-107950"/>
              <a:ext cx="4699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0" y="129141"/>
            <a:ext cx="839167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3"/>
              </a:lnSpc>
            </a:pPr>
            <a:r>
              <a:rPr lang="en-US" sz="6002">
                <a:solidFill>
                  <a:srgbClr val="6C6FDB"/>
                </a:solidFill>
                <a:latin typeface="Loubag"/>
                <a:ea typeface="Loubag"/>
                <a:cs typeface="Loubag"/>
                <a:sym typeface="Loubag"/>
              </a:rPr>
              <a:t> Excel Overview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468298" y="1829775"/>
            <a:ext cx="13581756" cy="6609759"/>
            <a:chOff x="0" y="0"/>
            <a:chExt cx="3192737" cy="1553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92737" cy="1553792"/>
            </a:xfrm>
            <a:custGeom>
              <a:avLst/>
              <a:gdLst/>
              <a:ahLst/>
              <a:cxnLst/>
              <a:rect r="r" b="b" t="t" l="l"/>
              <a:pathLst>
                <a:path h="1553792" w="3192737">
                  <a:moveTo>
                    <a:pt x="8550" y="0"/>
                  </a:moveTo>
                  <a:lnTo>
                    <a:pt x="3184187" y="0"/>
                  </a:lnTo>
                  <a:cubicBezTo>
                    <a:pt x="3186455" y="0"/>
                    <a:pt x="3188629" y="901"/>
                    <a:pt x="3190233" y="2504"/>
                  </a:cubicBezTo>
                  <a:cubicBezTo>
                    <a:pt x="3191836" y="4108"/>
                    <a:pt x="3192737" y="6283"/>
                    <a:pt x="3192737" y="8550"/>
                  </a:cubicBezTo>
                  <a:lnTo>
                    <a:pt x="3192737" y="1545242"/>
                  </a:lnTo>
                  <a:cubicBezTo>
                    <a:pt x="3192737" y="1547509"/>
                    <a:pt x="3191836" y="1549684"/>
                    <a:pt x="3190233" y="1551288"/>
                  </a:cubicBezTo>
                  <a:cubicBezTo>
                    <a:pt x="3188629" y="1552891"/>
                    <a:pt x="3186455" y="1553792"/>
                    <a:pt x="3184187" y="1553792"/>
                  </a:cubicBezTo>
                  <a:lnTo>
                    <a:pt x="8550" y="1553792"/>
                  </a:lnTo>
                  <a:cubicBezTo>
                    <a:pt x="6283" y="1553792"/>
                    <a:pt x="4108" y="1552891"/>
                    <a:pt x="2504" y="1551288"/>
                  </a:cubicBezTo>
                  <a:cubicBezTo>
                    <a:pt x="901" y="1549684"/>
                    <a:pt x="0" y="1547509"/>
                    <a:pt x="0" y="1545242"/>
                  </a:cubicBezTo>
                  <a:lnTo>
                    <a:pt x="0" y="8550"/>
                  </a:lnTo>
                  <a:cubicBezTo>
                    <a:pt x="0" y="6283"/>
                    <a:pt x="901" y="4108"/>
                    <a:pt x="2504" y="2504"/>
                  </a:cubicBezTo>
                  <a:cubicBezTo>
                    <a:pt x="4108" y="901"/>
                    <a:pt x="6283" y="0"/>
                    <a:pt x="8550" y="0"/>
                  </a:cubicBezTo>
                  <a:close/>
                </a:path>
              </a:pathLst>
            </a:custGeom>
            <a:blipFill>
              <a:blip r:embed="rId6"/>
              <a:stretch>
                <a:fillRect l="-290" t="0" r="-29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70834" y="1836318"/>
            <a:ext cx="4025002" cy="681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2015" b="true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Objective</a:t>
            </a:r>
            <a:r>
              <a:rPr lang="en-US" sz="2015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Drillinng down into multi-dimensional data layers to evaluate age distributions, gender gaps, and specific regional metrics.</a:t>
            </a:r>
          </a:p>
          <a:p>
            <a:pPr algn="l">
              <a:lnSpc>
                <a:spcPts val="3628"/>
              </a:lnSpc>
            </a:pPr>
            <a:r>
              <a:rPr lang="en-US" sz="2015" b="true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Core Functionalities &amp; Visuals:</a:t>
            </a:r>
          </a:p>
          <a:p>
            <a:pPr algn="l" marL="435173" indent="-217587" lvl="1">
              <a:lnSpc>
                <a:spcPts val="3628"/>
              </a:lnSpc>
              <a:buFont typeface="Arial"/>
              <a:buChar char="•"/>
            </a:pPr>
            <a:r>
              <a:rPr lang="en-US" sz="2015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Ag</a:t>
            </a:r>
            <a:r>
              <a:rPr lang="en-US" sz="2015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e-Group Burden Distribution (DALYs 2023)</a:t>
            </a:r>
          </a:p>
          <a:p>
            <a:pPr algn="l" marL="435173" indent="-217587" lvl="1">
              <a:lnSpc>
                <a:spcPts val="3628"/>
              </a:lnSpc>
              <a:buFont typeface="Arial"/>
              <a:buChar char="•"/>
            </a:pPr>
            <a:r>
              <a:rPr lang="en-US" sz="2015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Gender Disparity Analysis (Male vs. Female Prevalence).</a:t>
            </a:r>
          </a:p>
          <a:p>
            <a:pPr algn="l" marL="435173" indent="-217587" lvl="1">
              <a:lnSpc>
                <a:spcPts val="3628"/>
              </a:lnSpc>
              <a:buFont typeface="Arial"/>
              <a:buChar char="•"/>
            </a:pPr>
            <a:r>
              <a:rPr lang="en-US" sz="2015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Localized Regional Tracking (Egypt Specific Case Study)</a:t>
            </a:r>
          </a:p>
          <a:p>
            <a:pPr algn="l" marL="435173" indent="-217587" lvl="1">
              <a:lnSpc>
                <a:spcPts val="3628"/>
              </a:lnSpc>
              <a:buFont typeface="Arial"/>
              <a:buChar char="•"/>
            </a:pPr>
            <a:r>
              <a:rPr lang="en-US" sz="2015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</a:t>
            </a:r>
            <a:r>
              <a:rPr lang="en-US" sz="2015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 10 High-Impact Countries</a:t>
            </a:r>
          </a:p>
          <a:p>
            <a:pPr algn="l" marL="435173" indent="-217587" lvl="1">
              <a:lnSpc>
                <a:spcPts val="3628"/>
              </a:lnSpc>
              <a:buFont typeface="Arial"/>
              <a:buChar char="•"/>
            </a:pPr>
            <a:r>
              <a:rPr lang="en-US" sz="2015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Standardized Rate Comparison Per 100,000 Population.</a:t>
            </a:r>
          </a:p>
          <a:p>
            <a:pPr algn="l">
              <a:lnSpc>
                <a:spcPts val="3628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45600" y="5244050"/>
            <a:ext cx="3652263" cy="4014250"/>
            <a:chOff x="0" y="0"/>
            <a:chExt cx="760890" cy="83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0890" cy="836304"/>
            </a:xfrm>
            <a:custGeom>
              <a:avLst/>
              <a:gdLst/>
              <a:ahLst/>
              <a:cxnLst/>
              <a:rect r="r" b="b" t="t" l="l"/>
              <a:pathLst>
                <a:path h="836304" w="760890">
                  <a:moveTo>
                    <a:pt x="31796" y="0"/>
                  </a:moveTo>
                  <a:lnTo>
                    <a:pt x="729093" y="0"/>
                  </a:lnTo>
                  <a:cubicBezTo>
                    <a:pt x="737526" y="0"/>
                    <a:pt x="745614" y="3350"/>
                    <a:pt x="751577" y="9313"/>
                  </a:cubicBezTo>
                  <a:cubicBezTo>
                    <a:pt x="757540" y="15276"/>
                    <a:pt x="760890" y="23363"/>
                    <a:pt x="760890" y="31796"/>
                  </a:cubicBezTo>
                  <a:lnTo>
                    <a:pt x="760890" y="804507"/>
                  </a:lnTo>
                  <a:cubicBezTo>
                    <a:pt x="760890" y="812940"/>
                    <a:pt x="757540" y="821028"/>
                    <a:pt x="751577" y="826991"/>
                  </a:cubicBezTo>
                  <a:cubicBezTo>
                    <a:pt x="745614" y="832954"/>
                    <a:pt x="737526" y="836304"/>
                    <a:pt x="729093" y="836304"/>
                  </a:cubicBezTo>
                  <a:lnTo>
                    <a:pt x="31796" y="836304"/>
                  </a:lnTo>
                  <a:cubicBezTo>
                    <a:pt x="23363" y="836304"/>
                    <a:pt x="15276" y="832954"/>
                    <a:pt x="9313" y="826991"/>
                  </a:cubicBezTo>
                  <a:cubicBezTo>
                    <a:pt x="3350" y="821028"/>
                    <a:pt x="0" y="812940"/>
                    <a:pt x="0" y="804507"/>
                  </a:cubicBezTo>
                  <a:lnTo>
                    <a:pt x="0" y="31796"/>
                  </a:lnTo>
                  <a:cubicBezTo>
                    <a:pt x="0" y="23363"/>
                    <a:pt x="3350" y="15276"/>
                    <a:pt x="9313" y="9313"/>
                  </a:cubicBezTo>
                  <a:cubicBezTo>
                    <a:pt x="15276" y="3350"/>
                    <a:pt x="23363" y="0"/>
                    <a:pt x="3179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666" r="0" b="-18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45600" y="1028700"/>
            <a:ext cx="3652263" cy="4014250"/>
            <a:chOff x="0" y="0"/>
            <a:chExt cx="760890" cy="83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0890" cy="836304"/>
            </a:xfrm>
            <a:custGeom>
              <a:avLst/>
              <a:gdLst/>
              <a:ahLst/>
              <a:cxnLst/>
              <a:rect r="r" b="b" t="t" l="l"/>
              <a:pathLst>
                <a:path h="836304" w="760890">
                  <a:moveTo>
                    <a:pt x="31796" y="0"/>
                  </a:moveTo>
                  <a:lnTo>
                    <a:pt x="729093" y="0"/>
                  </a:lnTo>
                  <a:cubicBezTo>
                    <a:pt x="737526" y="0"/>
                    <a:pt x="745614" y="3350"/>
                    <a:pt x="751577" y="9313"/>
                  </a:cubicBezTo>
                  <a:cubicBezTo>
                    <a:pt x="757540" y="15276"/>
                    <a:pt x="760890" y="23363"/>
                    <a:pt x="760890" y="31796"/>
                  </a:cubicBezTo>
                  <a:lnTo>
                    <a:pt x="760890" y="804507"/>
                  </a:lnTo>
                  <a:cubicBezTo>
                    <a:pt x="760890" y="812940"/>
                    <a:pt x="757540" y="821028"/>
                    <a:pt x="751577" y="826991"/>
                  </a:cubicBezTo>
                  <a:cubicBezTo>
                    <a:pt x="745614" y="832954"/>
                    <a:pt x="737526" y="836304"/>
                    <a:pt x="729093" y="836304"/>
                  </a:cubicBezTo>
                  <a:lnTo>
                    <a:pt x="31796" y="836304"/>
                  </a:lnTo>
                  <a:cubicBezTo>
                    <a:pt x="23363" y="836304"/>
                    <a:pt x="15276" y="832954"/>
                    <a:pt x="9313" y="826991"/>
                  </a:cubicBezTo>
                  <a:cubicBezTo>
                    <a:pt x="3350" y="821028"/>
                    <a:pt x="0" y="812940"/>
                    <a:pt x="0" y="804507"/>
                  </a:cubicBezTo>
                  <a:lnTo>
                    <a:pt x="0" y="31796"/>
                  </a:lnTo>
                  <a:cubicBezTo>
                    <a:pt x="0" y="23363"/>
                    <a:pt x="3350" y="15276"/>
                    <a:pt x="9313" y="9313"/>
                  </a:cubicBezTo>
                  <a:cubicBezTo>
                    <a:pt x="15276" y="3350"/>
                    <a:pt x="23363" y="0"/>
                    <a:pt x="31796" y="0"/>
                  </a:cubicBezTo>
                  <a:close/>
                </a:path>
              </a:pathLst>
            </a:custGeom>
            <a:blipFill>
              <a:blip r:embed="rId3"/>
              <a:stretch>
                <a:fillRect l="-32485" t="0" r="-3248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099037" y="1028700"/>
            <a:ext cx="3652263" cy="8229600"/>
            <a:chOff x="0" y="0"/>
            <a:chExt cx="760890" cy="17145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0890" cy="1714503"/>
            </a:xfrm>
            <a:custGeom>
              <a:avLst/>
              <a:gdLst/>
              <a:ahLst/>
              <a:cxnLst/>
              <a:rect r="r" b="b" t="t" l="l"/>
              <a:pathLst>
                <a:path h="1714503" w="760890">
                  <a:moveTo>
                    <a:pt x="31796" y="0"/>
                  </a:moveTo>
                  <a:lnTo>
                    <a:pt x="729093" y="0"/>
                  </a:lnTo>
                  <a:cubicBezTo>
                    <a:pt x="737526" y="0"/>
                    <a:pt x="745614" y="3350"/>
                    <a:pt x="751577" y="9313"/>
                  </a:cubicBezTo>
                  <a:cubicBezTo>
                    <a:pt x="757540" y="15276"/>
                    <a:pt x="760890" y="23363"/>
                    <a:pt x="760890" y="31796"/>
                  </a:cubicBezTo>
                  <a:lnTo>
                    <a:pt x="760890" y="1682707"/>
                  </a:lnTo>
                  <a:cubicBezTo>
                    <a:pt x="760890" y="1691140"/>
                    <a:pt x="757540" y="1699227"/>
                    <a:pt x="751577" y="1705190"/>
                  </a:cubicBezTo>
                  <a:cubicBezTo>
                    <a:pt x="745614" y="1711153"/>
                    <a:pt x="737526" y="1714503"/>
                    <a:pt x="729093" y="1714503"/>
                  </a:cubicBezTo>
                  <a:lnTo>
                    <a:pt x="31796" y="1714503"/>
                  </a:lnTo>
                  <a:cubicBezTo>
                    <a:pt x="23363" y="1714503"/>
                    <a:pt x="15276" y="1711153"/>
                    <a:pt x="9313" y="1705190"/>
                  </a:cubicBezTo>
                  <a:cubicBezTo>
                    <a:pt x="3350" y="1699227"/>
                    <a:pt x="0" y="1691140"/>
                    <a:pt x="0" y="1682707"/>
                  </a:cubicBezTo>
                  <a:lnTo>
                    <a:pt x="0" y="31796"/>
                  </a:lnTo>
                  <a:cubicBezTo>
                    <a:pt x="0" y="23363"/>
                    <a:pt x="3350" y="15276"/>
                    <a:pt x="9313" y="9313"/>
                  </a:cubicBezTo>
                  <a:cubicBezTo>
                    <a:pt x="15276" y="3350"/>
                    <a:pt x="23363" y="0"/>
                    <a:pt x="31796" y="0"/>
                  </a:cubicBezTo>
                  <a:close/>
                </a:path>
              </a:pathLst>
            </a:custGeom>
            <a:blipFill>
              <a:blip r:embed="rId4"/>
              <a:stretch>
                <a:fillRect l="-25203" t="0" r="-25203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84566" y="2181786"/>
            <a:ext cx="6611755" cy="79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5250" b="true">
                <a:solidFill>
                  <a:srgbClr val="1C1C1C"/>
                </a:solidFill>
                <a:latin typeface="Loubag Bold"/>
                <a:ea typeface="Loubag Bold"/>
                <a:cs typeface="Loubag Bold"/>
                <a:sym typeface="Loubag Bold"/>
              </a:rPr>
              <a:t>Power BI Section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6607" y="3254334"/>
            <a:ext cx="6869714" cy="6661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1"/>
              </a:lnSpc>
            </a:pPr>
            <a:r>
              <a:rPr lang="en-US" sz="2700" b="true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📌 Slide Title:</a:t>
            </a:r>
          </a:p>
          <a:p>
            <a:pPr algn="l" marL="583118" indent="-291559" lvl="1">
              <a:lnSpc>
                <a:spcPts val="4861"/>
              </a:lnSpc>
              <a:buFont typeface="Arial"/>
              <a:buChar char="•"/>
            </a:pPr>
            <a:r>
              <a:rPr lang="en-US" b="true" sz="2700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Section III: Business Intelligence via Power BI</a:t>
            </a:r>
          </a:p>
          <a:p>
            <a:pPr algn="l">
              <a:lnSpc>
                <a:spcPts val="4861"/>
              </a:lnSpc>
            </a:pPr>
            <a:r>
              <a:rPr lang="en-US" sz="2700" b="true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📝 Slide Content:</a:t>
            </a:r>
          </a:p>
          <a:p>
            <a:pPr algn="l" marL="583118" indent="-291559" lvl="1">
              <a:lnSpc>
                <a:spcPts val="4861"/>
              </a:lnSpc>
              <a:buFont typeface="Arial"/>
              <a:buChar char="•"/>
            </a:pPr>
            <a:r>
              <a:rPr lang="en-US" b="true" sz="2700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Strategic Executive KPI Cards</a:t>
            </a:r>
          </a:p>
          <a:p>
            <a:pPr algn="l" marL="583118" indent="-291559" lvl="1">
              <a:lnSpc>
                <a:spcPts val="4861"/>
              </a:lnSpc>
              <a:buFont typeface="Arial"/>
              <a:buChar char="•"/>
            </a:pPr>
            <a:r>
              <a:rPr lang="en-US" b="true" sz="2700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Demog</a:t>
            </a:r>
            <a:r>
              <a:rPr lang="en-US" b="true" sz="2700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raphic Dynamics &amp; Spatial Mapping (Bing Maps)</a:t>
            </a:r>
          </a:p>
          <a:p>
            <a:pPr algn="l" marL="583118" indent="-291559" lvl="1">
              <a:lnSpc>
                <a:spcPts val="4861"/>
              </a:lnSpc>
              <a:buFont typeface="Arial"/>
              <a:buChar char="•"/>
            </a:pPr>
            <a:r>
              <a:rPr lang="en-US" b="true" sz="2700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Advanced Responsive Layouts &amp; Intuitive Navigation (UI/UX)</a:t>
            </a:r>
          </a:p>
          <a:p>
            <a:pPr algn="l">
              <a:lnSpc>
                <a:spcPts val="4861"/>
              </a:lnSpc>
            </a:pPr>
          </a:p>
          <a:p>
            <a:pPr algn="l">
              <a:lnSpc>
                <a:spcPts val="4861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1028700"/>
            <a:ext cx="2365333" cy="501651"/>
            <a:chOff x="0" y="0"/>
            <a:chExt cx="486694" cy="1032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6694" cy="103220"/>
            </a:xfrm>
            <a:custGeom>
              <a:avLst/>
              <a:gdLst/>
              <a:ahLst/>
              <a:cxnLst/>
              <a:rect r="r" b="b" t="t" l="l"/>
              <a:pathLst>
                <a:path h="103220" w="486694">
                  <a:moveTo>
                    <a:pt x="17900" y="0"/>
                  </a:moveTo>
                  <a:lnTo>
                    <a:pt x="468794" y="0"/>
                  </a:lnTo>
                  <a:cubicBezTo>
                    <a:pt x="473542" y="0"/>
                    <a:pt x="478095" y="1886"/>
                    <a:pt x="481451" y="5243"/>
                  </a:cubicBezTo>
                  <a:cubicBezTo>
                    <a:pt x="484808" y="8600"/>
                    <a:pt x="486694" y="13152"/>
                    <a:pt x="486694" y="17900"/>
                  </a:cubicBezTo>
                  <a:lnTo>
                    <a:pt x="486694" y="85321"/>
                  </a:lnTo>
                  <a:cubicBezTo>
                    <a:pt x="486694" y="90068"/>
                    <a:pt x="484808" y="94621"/>
                    <a:pt x="481451" y="97978"/>
                  </a:cubicBezTo>
                  <a:cubicBezTo>
                    <a:pt x="478095" y="101335"/>
                    <a:pt x="473542" y="103220"/>
                    <a:pt x="468794" y="103220"/>
                  </a:cubicBezTo>
                  <a:lnTo>
                    <a:pt x="17900" y="103220"/>
                  </a:lnTo>
                  <a:cubicBezTo>
                    <a:pt x="13152" y="103220"/>
                    <a:pt x="8600" y="101335"/>
                    <a:pt x="5243" y="97978"/>
                  </a:cubicBezTo>
                  <a:cubicBezTo>
                    <a:pt x="1886" y="94621"/>
                    <a:pt x="0" y="90068"/>
                    <a:pt x="0" y="85321"/>
                  </a:cubicBezTo>
                  <a:lnTo>
                    <a:pt x="0" y="17900"/>
                  </a:lnTo>
                  <a:cubicBezTo>
                    <a:pt x="0" y="13152"/>
                    <a:pt x="1886" y="8600"/>
                    <a:pt x="5243" y="5243"/>
                  </a:cubicBezTo>
                  <a:cubicBezTo>
                    <a:pt x="8600" y="1886"/>
                    <a:pt x="13152" y="0"/>
                    <a:pt x="17900" y="0"/>
                  </a:cubicBezTo>
                  <a:close/>
                </a:path>
              </a:pathLst>
            </a:custGeom>
            <a:solidFill>
              <a:srgbClr val="9FEFB6"/>
            </a:solidFill>
            <a:ln w="19050" cap="sq">
              <a:solidFill>
                <a:srgbClr val="6C6FDB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52400"/>
              <a:ext cx="486694" cy="25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92390" y="1128028"/>
            <a:ext cx="292176" cy="295398"/>
          </a:xfrm>
          <a:custGeom>
            <a:avLst/>
            <a:gdLst/>
            <a:ahLst/>
            <a:cxnLst/>
            <a:rect r="r" b="b" t="t" l="l"/>
            <a:pathLst>
              <a:path h="295398" w="292176">
                <a:moveTo>
                  <a:pt x="0" y="0"/>
                </a:moveTo>
                <a:lnTo>
                  <a:pt x="292176" y="0"/>
                </a:lnTo>
                <a:lnTo>
                  <a:pt x="292176" y="295398"/>
                </a:lnTo>
                <a:lnTo>
                  <a:pt x="0" y="295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916510" y="1014530"/>
            <a:ext cx="4342790" cy="501651"/>
            <a:chOff x="0" y="0"/>
            <a:chExt cx="893578" cy="1032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93578" cy="103220"/>
            </a:xfrm>
            <a:custGeom>
              <a:avLst/>
              <a:gdLst/>
              <a:ahLst/>
              <a:cxnLst/>
              <a:rect r="r" b="b" t="t" l="l"/>
              <a:pathLst>
                <a:path h="103220" w="893578">
                  <a:moveTo>
                    <a:pt x="9749" y="0"/>
                  </a:moveTo>
                  <a:lnTo>
                    <a:pt x="883829" y="0"/>
                  </a:lnTo>
                  <a:cubicBezTo>
                    <a:pt x="889213" y="0"/>
                    <a:pt x="893578" y="4365"/>
                    <a:pt x="893578" y="9749"/>
                  </a:cubicBezTo>
                  <a:lnTo>
                    <a:pt x="893578" y="93471"/>
                  </a:lnTo>
                  <a:cubicBezTo>
                    <a:pt x="893578" y="96057"/>
                    <a:pt x="892551" y="98537"/>
                    <a:pt x="890723" y="100365"/>
                  </a:cubicBezTo>
                  <a:cubicBezTo>
                    <a:pt x="888894" y="102193"/>
                    <a:pt x="886415" y="103220"/>
                    <a:pt x="883829" y="103220"/>
                  </a:cubicBezTo>
                  <a:lnTo>
                    <a:pt x="9749" y="103220"/>
                  </a:lnTo>
                  <a:cubicBezTo>
                    <a:pt x="7164" y="103220"/>
                    <a:pt x="4684" y="102193"/>
                    <a:pt x="2855" y="100365"/>
                  </a:cubicBezTo>
                  <a:cubicBezTo>
                    <a:pt x="1027" y="98537"/>
                    <a:pt x="0" y="96057"/>
                    <a:pt x="0" y="93471"/>
                  </a:cubicBezTo>
                  <a:lnTo>
                    <a:pt x="0" y="9749"/>
                  </a:lnTo>
                  <a:cubicBezTo>
                    <a:pt x="0" y="7164"/>
                    <a:pt x="1027" y="4684"/>
                    <a:pt x="2855" y="2855"/>
                  </a:cubicBezTo>
                  <a:cubicBezTo>
                    <a:pt x="4684" y="1027"/>
                    <a:pt x="7164" y="0"/>
                    <a:pt x="9749" y="0"/>
                  </a:cubicBezTo>
                  <a:close/>
                </a:path>
              </a:pathLst>
            </a:custGeom>
            <a:solidFill>
              <a:srgbClr val="9FEFB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52400"/>
              <a:ext cx="893578" cy="25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574909" y="962343"/>
            <a:ext cx="1724594" cy="49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0B0A0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Primary Clinic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77764" y="948173"/>
            <a:ext cx="3620283" cy="49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0B0A0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www.reallygreatsite.com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016194" y="8637753"/>
            <a:ext cx="2882650" cy="2264191"/>
          </a:xfrm>
          <a:custGeom>
            <a:avLst/>
            <a:gdLst/>
            <a:ahLst/>
            <a:cxnLst/>
            <a:rect r="r" b="b" t="t" l="l"/>
            <a:pathLst>
              <a:path h="2264191" w="2882650">
                <a:moveTo>
                  <a:pt x="0" y="0"/>
                </a:moveTo>
                <a:lnTo>
                  <a:pt x="2882650" y="0"/>
                </a:lnTo>
                <a:lnTo>
                  <a:pt x="2882650" y="2264191"/>
                </a:lnTo>
                <a:lnTo>
                  <a:pt x="0" y="22641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243182" y="6666156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30793" y="2579002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4" y="0"/>
                </a:lnTo>
                <a:lnTo>
                  <a:pt x="395814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-1108600" y="9571630"/>
            <a:ext cx="3086100" cy="826634"/>
            <a:chOff x="0" y="0"/>
            <a:chExt cx="711200" cy="190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1200" cy="190500"/>
            </a:xfrm>
            <a:custGeom>
              <a:avLst/>
              <a:gdLst/>
              <a:ahLst/>
              <a:cxnLst/>
              <a:rect r="r" b="b" t="t" l="l"/>
              <a:pathLst>
                <a:path h="190500" w="711200">
                  <a:moveTo>
                    <a:pt x="711200" y="0"/>
                  </a:moveTo>
                  <a:lnTo>
                    <a:pt x="711200" y="142894"/>
                  </a:lnTo>
                  <a:cubicBezTo>
                    <a:pt x="651933" y="142894"/>
                    <a:pt x="651933" y="190500"/>
                    <a:pt x="592667" y="190500"/>
                  </a:cubicBezTo>
                  <a:cubicBezTo>
                    <a:pt x="533381" y="190500"/>
                    <a:pt x="533381" y="142894"/>
                    <a:pt x="474115" y="142894"/>
                  </a:cubicBezTo>
                  <a:cubicBezTo>
                    <a:pt x="414848" y="142894"/>
                    <a:pt x="414848" y="190500"/>
                    <a:pt x="355581" y="190500"/>
                  </a:cubicBezTo>
                  <a:cubicBezTo>
                    <a:pt x="296315" y="190500"/>
                    <a:pt x="296315" y="142894"/>
                    <a:pt x="237048" y="142894"/>
                  </a:cubicBezTo>
                  <a:cubicBezTo>
                    <a:pt x="177781" y="142894"/>
                    <a:pt x="177781" y="190500"/>
                    <a:pt x="118533" y="190500"/>
                  </a:cubicBezTo>
                  <a:cubicBezTo>
                    <a:pt x="59267" y="190500"/>
                    <a:pt x="59267" y="142894"/>
                    <a:pt x="0" y="142894"/>
                  </a:cubicBezTo>
                  <a:lnTo>
                    <a:pt x="0" y="0"/>
                  </a:lnTo>
                  <a:cubicBezTo>
                    <a:pt x="59267" y="0"/>
                    <a:pt x="59267" y="47606"/>
                    <a:pt x="118533" y="47606"/>
                  </a:cubicBezTo>
                  <a:cubicBezTo>
                    <a:pt x="177781" y="47606"/>
                    <a:pt x="177781" y="0"/>
                    <a:pt x="237048" y="0"/>
                  </a:cubicBezTo>
                  <a:cubicBezTo>
                    <a:pt x="296315" y="0"/>
                    <a:pt x="296315" y="47606"/>
                    <a:pt x="355581" y="47606"/>
                  </a:cubicBezTo>
                  <a:cubicBezTo>
                    <a:pt x="414848" y="47606"/>
                    <a:pt x="414848" y="0"/>
                    <a:pt x="474115" y="0"/>
                  </a:cubicBezTo>
                  <a:cubicBezTo>
                    <a:pt x="533381" y="0"/>
                    <a:pt x="533381" y="47606"/>
                    <a:pt x="592667" y="47606"/>
                  </a:cubicBezTo>
                  <a:cubicBezTo>
                    <a:pt x="651933" y="47606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6C6FD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01600"/>
              <a:ext cx="711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7087765" y="-1272442"/>
            <a:ext cx="2400469" cy="2400469"/>
            <a:chOff x="0" y="0"/>
            <a:chExt cx="558800" cy="558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6C6FD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44450" y="-107950"/>
              <a:ext cx="4699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8491043" y="2183187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52427" y="0"/>
            <a:ext cx="8460260" cy="10287000"/>
            <a:chOff x="0" y="0"/>
            <a:chExt cx="1740794" cy="2116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40794" cy="2116667"/>
            </a:xfrm>
            <a:custGeom>
              <a:avLst/>
              <a:gdLst/>
              <a:ahLst/>
              <a:cxnLst/>
              <a:rect r="r" b="b" t="t" l="l"/>
              <a:pathLst>
                <a:path h="2116667" w="1740794">
                  <a:moveTo>
                    <a:pt x="5004" y="0"/>
                  </a:moveTo>
                  <a:lnTo>
                    <a:pt x="1735790" y="0"/>
                  </a:lnTo>
                  <a:cubicBezTo>
                    <a:pt x="1738554" y="0"/>
                    <a:pt x="1740794" y="2241"/>
                    <a:pt x="1740794" y="5004"/>
                  </a:cubicBezTo>
                  <a:lnTo>
                    <a:pt x="1740794" y="2111662"/>
                  </a:lnTo>
                  <a:cubicBezTo>
                    <a:pt x="1740794" y="2114426"/>
                    <a:pt x="1738554" y="2116667"/>
                    <a:pt x="1735790" y="2116667"/>
                  </a:cubicBezTo>
                  <a:lnTo>
                    <a:pt x="5004" y="2116667"/>
                  </a:lnTo>
                  <a:cubicBezTo>
                    <a:pt x="3677" y="2116667"/>
                    <a:pt x="2404" y="2116139"/>
                    <a:pt x="1466" y="2115201"/>
                  </a:cubicBezTo>
                  <a:cubicBezTo>
                    <a:pt x="527" y="2114262"/>
                    <a:pt x="0" y="2112990"/>
                    <a:pt x="0" y="2111662"/>
                  </a:cubicBezTo>
                  <a:lnTo>
                    <a:pt x="0" y="5004"/>
                  </a:lnTo>
                  <a:cubicBezTo>
                    <a:pt x="0" y="2241"/>
                    <a:pt x="2241" y="0"/>
                    <a:pt x="5004" y="0"/>
                  </a:cubicBezTo>
                  <a:close/>
                </a:path>
              </a:pathLst>
            </a:custGeom>
            <a:solidFill>
              <a:srgbClr val="D4CEC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1740794" cy="2269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169975" y="8126205"/>
            <a:ext cx="2882650" cy="2264191"/>
          </a:xfrm>
          <a:custGeom>
            <a:avLst/>
            <a:gdLst/>
            <a:ahLst/>
            <a:cxnLst/>
            <a:rect r="r" b="b" t="t" l="l"/>
            <a:pathLst>
              <a:path h="2264191" w="2882650">
                <a:moveTo>
                  <a:pt x="0" y="0"/>
                </a:moveTo>
                <a:lnTo>
                  <a:pt x="2882650" y="0"/>
                </a:lnTo>
                <a:lnTo>
                  <a:pt x="2882650" y="2264190"/>
                </a:lnTo>
                <a:lnTo>
                  <a:pt x="0" y="2264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88288" y="6195771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88288" y="5383956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087765" y="-1272442"/>
            <a:ext cx="2400469" cy="2400469"/>
            <a:chOff x="0" y="0"/>
            <a:chExt cx="5588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9FEFB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44450" y="-107950"/>
              <a:ext cx="4699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56460" y="1264536"/>
            <a:ext cx="8387540" cy="7624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593" indent="-242796" lvl="1">
              <a:lnSpc>
                <a:spcPts val="4048"/>
              </a:lnSpc>
              <a:buFont typeface="Arial"/>
              <a:buChar char="•"/>
            </a:pPr>
            <a:r>
              <a:rPr lang="en-US" sz="2249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Objective: Delivering an integrated Business Intelligence solution connecting macro metrics with spatial and demographic analysis.</a:t>
            </a:r>
          </a:p>
          <a:p>
            <a:pPr algn="l" marL="485593" indent="-242796" lvl="1">
              <a:lnSpc>
                <a:spcPts val="4048"/>
              </a:lnSpc>
              <a:buFont typeface="Arial"/>
              <a:buChar char="•"/>
            </a:pPr>
            <a:r>
              <a:rPr lang="en-US" sz="2249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Key Visuals &amp; Features:</a:t>
            </a:r>
          </a:p>
          <a:p>
            <a:pPr algn="l" marL="485593" indent="-242796" lvl="1">
              <a:lnSpc>
                <a:spcPts val="4048"/>
              </a:lnSpc>
              <a:buFont typeface="Arial"/>
              <a:buChar char="•"/>
            </a:pPr>
            <a:r>
              <a:rPr lang="en-US" sz="2249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</a:t>
            </a:r>
            <a:r>
              <a:rPr lang="en-US" sz="2249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ecutive KPI Cards: Instant tracking of Total Deaths (59K), Average Prevalence (6.20%), and New Cases (62.4K).</a:t>
            </a:r>
          </a:p>
          <a:p>
            <a:pPr algn="l" marL="485593" indent="-242796" lvl="1">
              <a:lnSpc>
                <a:spcPts val="4048"/>
              </a:lnSpc>
              <a:buFont typeface="Arial"/>
              <a:buChar char="•"/>
            </a:pPr>
            <a:r>
              <a:rPr lang="en-US" sz="2249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Adv</a:t>
            </a:r>
            <a:r>
              <a:rPr lang="en-US" sz="2249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ance</a:t>
            </a:r>
            <a:r>
              <a:rPr lang="en-US" sz="2249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 UI: Seamless top and left navigation bars designed for easy executive dashboard switching.</a:t>
            </a:r>
          </a:p>
          <a:p>
            <a:pPr algn="l" marL="485593" indent="-242796" lvl="1">
              <a:lnSpc>
                <a:spcPts val="4048"/>
              </a:lnSpc>
              <a:buFont typeface="Arial"/>
              <a:buChar char="•"/>
            </a:pPr>
            <a:r>
              <a:rPr lang="en-US" sz="2249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Bing Maps Integration: Live geographic mapping layers to pinpoint global disease hotspots and density.</a:t>
            </a:r>
          </a:p>
          <a:p>
            <a:pPr algn="l" marL="485593" indent="-242796" lvl="1">
              <a:lnSpc>
                <a:spcPts val="4048"/>
              </a:lnSpc>
              <a:buFont typeface="Arial"/>
              <a:buChar char="•"/>
            </a:pPr>
            <a:r>
              <a:rPr lang="en-US" sz="2249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2249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emographic Analytics: Side-by-sid</a:t>
            </a:r>
            <a:r>
              <a:rPr lang="en-US" sz="2249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2249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charts comparing metrics between sexes and displaying DALYs distribution by age.</a:t>
            </a:r>
          </a:p>
          <a:p>
            <a:pPr algn="l" marL="485593" indent="-242796" lvl="1">
              <a:lnSpc>
                <a:spcPts val="4048"/>
              </a:lnSpc>
              <a:buFont typeface="Arial"/>
              <a:buChar char="•"/>
            </a:pPr>
            <a:r>
              <a:rPr lang="en-US" sz="2249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Unified Filter Pane: Dedicated interactive panel for instantaneous data slicing and deep drill-downs.</a:t>
            </a:r>
          </a:p>
          <a:p>
            <a:pPr algn="l">
              <a:lnSpc>
                <a:spcPts val="4048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9879841" y="4357017"/>
            <a:ext cx="8062782" cy="4469137"/>
            <a:chOff x="0" y="0"/>
            <a:chExt cx="3441626" cy="19076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41626" cy="1907667"/>
            </a:xfrm>
            <a:custGeom>
              <a:avLst/>
              <a:gdLst/>
              <a:ahLst/>
              <a:cxnLst/>
              <a:rect r="r" b="b" t="t" l="l"/>
              <a:pathLst>
                <a:path h="1907667" w="3441626">
                  <a:moveTo>
                    <a:pt x="14403" y="0"/>
                  </a:moveTo>
                  <a:lnTo>
                    <a:pt x="3427223" y="0"/>
                  </a:lnTo>
                  <a:cubicBezTo>
                    <a:pt x="3435178" y="0"/>
                    <a:pt x="3441626" y="6448"/>
                    <a:pt x="3441626" y="14403"/>
                  </a:cubicBezTo>
                  <a:lnTo>
                    <a:pt x="3441626" y="1893264"/>
                  </a:lnTo>
                  <a:cubicBezTo>
                    <a:pt x="3441626" y="1897083"/>
                    <a:pt x="3440109" y="1900747"/>
                    <a:pt x="3437407" y="1903448"/>
                  </a:cubicBezTo>
                  <a:cubicBezTo>
                    <a:pt x="3434706" y="1906149"/>
                    <a:pt x="3431043" y="1907667"/>
                    <a:pt x="3427223" y="1907667"/>
                  </a:cubicBezTo>
                  <a:lnTo>
                    <a:pt x="14403" y="1907667"/>
                  </a:lnTo>
                  <a:cubicBezTo>
                    <a:pt x="6448" y="1907667"/>
                    <a:pt x="0" y="1901218"/>
                    <a:pt x="0" y="1893264"/>
                  </a:cubicBezTo>
                  <a:lnTo>
                    <a:pt x="0" y="14403"/>
                  </a:lnTo>
                  <a:cubicBezTo>
                    <a:pt x="0" y="6448"/>
                    <a:pt x="6448" y="0"/>
                    <a:pt x="14403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6" r="0" b="-1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992894" y="801704"/>
            <a:ext cx="6266406" cy="261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66"/>
              </a:lnSpc>
              <a:spcBef>
                <a:spcPct val="0"/>
              </a:spcBef>
            </a:pPr>
            <a:r>
              <a:rPr lang="en-US" sz="4696">
                <a:solidFill>
                  <a:srgbClr val="6C6FDB"/>
                </a:solidFill>
                <a:latin typeface="Loubag"/>
                <a:ea typeface="Loubag"/>
                <a:cs typeface="Loubag"/>
                <a:sym typeface="Loubag"/>
              </a:rPr>
              <a:t>Power BI Hub - Enterprise Business Intelligence Platform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45600" y="5244050"/>
            <a:ext cx="3652263" cy="4014250"/>
            <a:chOff x="0" y="0"/>
            <a:chExt cx="760890" cy="83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0890" cy="836304"/>
            </a:xfrm>
            <a:custGeom>
              <a:avLst/>
              <a:gdLst/>
              <a:ahLst/>
              <a:cxnLst/>
              <a:rect r="r" b="b" t="t" l="l"/>
              <a:pathLst>
                <a:path h="836304" w="760890">
                  <a:moveTo>
                    <a:pt x="31796" y="0"/>
                  </a:moveTo>
                  <a:lnTo>
                    <a:pt x="729093" y="0"/>
                  </a:lnTo>
                  <a:cubicBezTo>
                    <a:pt x="737526" y="0"/>
                    <a:pt x="745614" y="3350"/>
                    <a:pt x="751577" y="9313"/>
                  </a:cubicBezTo>
                  <a:cubicBezTo>
                    <a:pt x="757540" y="15276"/>
                    <a:pt x="760890" y="23363"/>
                    <a:pt x="760890" y="31796"/>
                  </a:cubicBezTo>
                  <a:lnTo>
                    <a:pt x="760890" y="804507"/>
                  </a:lnTo>
                  <a:cubicBezTo>
                    <a:pt x="760890" y="812940"/>
                    <a:pt x="757540" y="821028"/>
                    <a:pt x="751577" y="826991"/>
                  </a:cubicBezTo>
                  <a:cubicBezTo>
                    <a:pt x="745614" y="832954"/>
                    <a:pt x="737526" y="836304"/>
                    <a:pt x="729093" y="836304"/>
                  </a:cubicBezTo>
                  <a:lnTo>
                    <a:pt x="31796" y="836304"/>
                  </a:lnTo>
                  <a:cubicBezTo>
                    <a:pt x="23363" y="836304"/>
                    <a:pt x="15276" y="832954"/>
                    <a:pt x="9313" y="826991"/>
                  </a:cubicBezTo>
                  <a:cubicBezTo>
                    <a:pt x="3350" y="821028"/>
                    <a:pt x="0" y="812940"/>
                    <a:pt x="0" y="804507"/>
                  </a:cubicBezTo>
                  <a:lnTo>
                    <a:pt x="0" y="31796"/>
                  </a:lnTo>
                  <a:cubicBezTo>
                    <a:pt x="0" y="23363"/>
                    <a:pt x="3350" y="15276"/>
                    <a:pt x="9313" y="9313"/>
                  </a:cubicBezTo>
                  <a:cubicBezTo>
                    <a:pt x="15276" y="3350"/>
                    <a:pt x="23363" y="0"/>
                    <a:pt x="3179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666" r="0" b="-18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45600" y="1028700"/>
            <a:ext cx="3652263" cy="4014250"/>
            <a:chOff x="0" y="0"/>
            <a:chExt cx="760890" cy="83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0890" cy="836304"/>
            </a:xfrm>
            <a:custGeom>
              <a:avLst/>
              <a:gdLst/>
              <a:ahLst/>
              <a:cxnLst/>
              <a:rect r="r" b="b" t="t" l="l"/>
              <a:pathLst>
                <a:path h="836304" w="760890">
                  <a:moveTo>
                    <a:pt x="31796" y="0"/>
                  </a:moveTo>
                  <a:lnTo>
                    <a:pt x="729093" y="0"/>
                  </a:lnTo>
                  <a:cubicBezTo>
                    <a:pt x="737526" y="0"/>
                    <a:pt x="745614" y="3350"/>
                    <a:pt x="751577" y="9313"/>
                  </a:cubicBezTo>
                  <a:cubicBezTo>
                    <a:pt x="757540" y="15276"/>
                    <a:pt x="760890" y="23363"/>
                    <a:pt x="760890" y="31796"/>
                  </a:cubicBezTo>
                  <a:lnTo>
                    <a:pt x="760890" y="804507"/>
                  </a:lnTo>
                  <a:cubicBezTo>
                    <a:pt x="760890" y="812940"/>
                    <a:pt x="757540" y="821028"/>
                    <a:pt x="751577" y="826991"/>
                  </a:cubicBezTo>
                  <a:cubicBezTo>
                    <a:pt x="745614" y="832954"/>
                    <a:pt x="737526" y="836304"/>
                    <a:pt x="729093" y="836304"/>
                  </a:cubicBezTo>
                  <a:lnTo>
                    <a:pt x="31796" y="836304"/>
                  </a:lnTo>
                  <a:cubicBezTo>
                    <a:pt x="23363" y="836304"/>
                    <a:pt x="15276" y="832954"/>
                    <a:pt x="9313" y="826991"/>
                  </a:cubicBezTo>
                  <a:cubicBezTo>
                    <a:pt x="3350" y="821028"/>
                    <a:pt x="0" y="812940"/>
                    <a:pt x="0" y="804507"/>
                  </a:cubicBezTo>
                  <a:lnTo>
                    <a:pt x="0" y="31796"/>
                  </a:lnTo>
                  <a:cubicBezTo>
                    <a:pt x="0" y="23363"/>
                    <a:pt x="3350" y="15276"/>
                    <a:pt x="9313" y="9313"/>
                  </a:cubicBezTo>
                  <a:cubicBezTo>
                    <a:pt x="15276" y="3350"/>
                    <a:pt x="23363" y="0"/>
                    <a:pt x="31796" y="0"/>
                  </a:cubicBezTo>
                  <a:close/>
                </a:path>
              </a:pathLst>
            </a:custGeom>
            <a:blipFill>
              <a:blip r:embed="rId3"/>
              <a:stretch>
                <a:fillRect l="-32485" t="0" r="-3248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099037" y="1028700"/>
            <a:ext cx="3652263" cy="8229600"/>
            <a:chOff x="0" y="0"/>
            <a:chExt cx="760890" cy="17145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0890" cy="1714503"/>
            </a:xfrm>
            <a:custGeom>
              <a:avLst/>
              <a:gdLst/>
              <a:ahLst/>
              <a:cxnLst/>
              <a:rect r="r" b="b" t="t" l="l"/>
              <a:pathLst>
                <a:path h="1714503" w="760890">
                  <a:moveTo>
                    <a:pt x="31796" y="0"/>
                  </a:moveTo>
                  <a:lnTo>
                    <a:pt x="729093" y="0"/>
                  </a:lnTo>
                  <a:cubicBezTo>
                    <a:pt x="737526" y="0"/>
                    <a:pt x="745614" y="3350"/>
                    <a:pt x="751577" y="9313"/>
                  </a:cubicBezTo>
                  <a:cubicBezTo>
                    <a:pt x="757540" y="15276"/>
                    <a:pt x="760890" y="23363"/>
                    <a:pt x="760890" y="31796"/>
                  </a:cubicBezTo>
                  <a:lnTo>
                    <a:pt x="760890" y="1682707"/>
                  </a:lnTo>
                  <a:cubicBezTo>
                    <a:pt x="760890" y="1691140"/>
                    <a:pt x="757540" y="1699227"/>
                    <a:pt x="751577" y="1705190"/>
                  </a:cubicBezTo>
                  <a:cubicBezTo>
                    <a:pt x="745614" y="1711153"/>
                    <a:pt x="737526" y="1714503"/>
                    <a:pt x="729093" y="1714503"/>
                  </a:cubicBezTo>
                  <a:lnTo>
                    <a:pt x="31796" y="1714503"/>
                  </a:lnTo>
                  <a:cubicBezTo>
                    <a:pt x="23363" y="1714503"/>
                    <a:pt x="15276" y="1711153"/>
                    <a:pt x="9313" y="1705190"/>
                  </a:cubicBezTo>
                  <a:cubicBezTo>
                    <a:pt x="3350" y="1699227"/>
                    <a:pt x="0" y="1691140"/>
                    <a:pt x="0" y="1682707"/>
                  </a:cubicBezTo>
                  <a:lnTo>
                    <a:pt x="0" y="31796"/>
                  </a:lnTo>
                  <a:cubicBezTo>
                    <a:pt x="0" y="23363"/>
                    <a:pt x="3350" y="15276"/>
                    <a:pt x="9313" y="9313"/>
                  </a:cubicBezTo>
                  <a:cubicBezTo>
                    <a:pt x="15276" y="3350"/>
                    <a:pt x="23363" y="0"/>
                    <a:pt x="31796" y="0"/>
                  </a:cubicBezTo>
                  <a:close/>
                </a:path>
              </a:pathLst>
            </a:custGeom>
            <a:blipFill>
              <a:blip r:embed="rId4"/>
              <a:stretch>
                <a:fillRect l="-25203" t="0" r="-25203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84566" y="2181786"/>
            <a:ext cx="6068664" cy="79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5250" b="true">
                <a:solidFill>
                  <a:srgbClr val="1C1C1C"/>
                </a:solidFill>
                <a:latin typeface="Loubag Bold"/>
                <a:ea typeface="Loubag Bold"/>
                <a:cs typeface="Loubag Bold"/>
                <a:sym typeface="Loubag Bold"/>
              </a:rPr>
              <a:t>Tableau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6607" y="3460592"/>
            <a:ext cx="6869714" cy="605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1"/>
              </a:lnSpc>
            </a:pPr>
            <a:r>
              <a:rPr lang="en-US" sz="2700" b="true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📌 Slide Title:</a:t>
            </a:r>
          </a:p>
          <a:p>
            <a:pPr algn="l" marL="583118" indent="-291559" lvl="1">
              <a:lnSpc>
                <a:spcPts val="4861"/>
              </a:lnSpc>
              <a:buFont typeface="Arial"/>
              <a:buChar char="•"/>
            </a:pPr>
            <a:r>
              <a:rPr lang="en-US" sz="2700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Section III: Interactive Analytics via Tableau</a:t>
            </a:r>
          </a:p>
          <a:p>
            <a:pPr algn="l">
              <a:lnSpc>
                <a:spcPts val="4861"/>
              </a:lnSpc>
            </a:pPr>
            <a:r>
              <a:rPr lang="en-US" sz="2700" b="true">
                <a:solidFill>
                  <a:srgbClr val="1C1C1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📝 Slide Content:</a:t>
            </a:r>
          </a:p>
          <a:p>
            <a:pPr algn="l" marL="583118" indent="-291559" lvl="1">
              <a:lnSpc>
                <a:spcPts val="4861"/>
              </a:lnSpc>
              <a:buFont typeface="Arial"/>
              <a:buChar char="•"/>
            </a:pPr>
            <a:r>
              <a:rPr lang="en-US" sz="2700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C-Suite Executive KPI Grid</a:t>
            </a:r>
          </a:p>
          <a:p>
            <a:pPr algn="l" marL="583118" indent="-291559" lvl="1">
              <a:lnSpc>
                <a:spcPts val="4861"/>
              </a:lnSpc>
              <a:buFont typeface="Arial"/>
              <a:buChar char="•"/>
            </a:pPr>
            <a:r>
              <a:rPr lang="en-US" sz="2700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Longitudinal Risk &amp; Heatmap Tracking</a:t>
            </a:r>
          </a:p>
          <a:p>
            <a:pPr algn="l" marL="583118" indent="-291559" lvl="1">
              <a:lnSpc>
                <a:spcPts val="4861"/>
              </a:lnSpc>
              <a:buFont typeface="Arial"/>
              <a:buChar char="•"/>
            </a:pPr>
            <a:r>
              <a:rPr lang="en-US" sz="2700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Statistical D</a:t>
            </a:r>
            <a:r>
              <a:rPr lang="en-US" sz="2700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eviation &amp; Demographics: Automated Z-Score analysis identifying critical geographic outliers (e.g., Brazil </a:t>
            </a:r>
          </a:p>
          <a:p>
            <a:pPr algn="l">
              <a:lnSpc>
                <a:spcPts val="4861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1028700"/>
            <a:ext cx="2365333" cy="501651"/>
            <a:chOff x="0" y="0"/>
            <a:chExt cx="486694" cy="1032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6694" cy="103220"/>
            </a:xfrm>
            <a:custGeom>
              <a:avLst/>
              <a:gdLst/>
              <a:ahLst/>
              <a:cxnLst/>
              <a:rect r="r" b="b" t="t" l="l"/>
              <a:pathLst>
                <a:path h="103220" w="486694">
                  <a:moveTo>
                    <a:pt x="17900" y="0"/>
                  </a:moveTo>
                  <a:lnTo>
                    <a:pt x="468794" y="0"/>
                  </a:lnTo>
                  <a:cubicBezTo>
                    <a:pt x="473542" y="0"/>
                    <a:pt x="478095" y="1886"/>
                    <a:pt x="481451" y="5243"/>
                  </a:cubicBezTo>
                  <a:cubicBezTo>
                    <a:pt x="484808" y="8600"/>
                    <a:pt x="486694" y="13152"/>
                    <a:pt x="486694" y="17900"/>
                  </a:cubicBezTo>
                  <a:lnTo>
                    <a:pt x="486694" y="85321"/>
                  </a:lnTo>
                  <a:cubicBezTo>
                    <a:pt x="486694" y="90068"/>
                    <a:pt x="484808" y="94621"/>
                    <a:pt x="481451" y="97978"/>
                  </a:cubicBezTo>
                  <a:cubicBezTo>
                    <a:pt x="478095" y="101335"/>
                    <a:pt x="473542" y="103220"/>
                    <a:pt x="468794" y="103220"/>
                  </a:cubicBezTo>
                  <a:lnTo>
                    <a:pt x="17900" y="103220"/>
                  </a:lnTo>
                  <a:cubicBezTo>
                    <a:pt x="13152" y="103220"/>
                    <a:pt x="8600" y="101335"/>
                    <a:pt x="5243" y="97978"/>
                  </a:cubicBezTo>
                  <a:cubicBezTo>
                    <a:pt x="1886" y="94621"/>
                    <a:pt x="0" y="90068"/>
                    <a:pt x="0" y="85321"/>
                  </a:cubicBezTo>
                  <a:lnTo>
                    <a:pt x="0" y="17900"/>
                  </a:lnTo>
                  <a:cubicBezTo>
                    <a:pt x="0" y="13152"/>
                    <a:pt x="1886" y="8600"/>
                    <a:pt x="5243" y="5243"/>
                  </a:cubicBezTo>
                  <a:cubicBezTo>
                    <a:pt x="8600" y="1886"/>
                    <a:pt x="13152" y="0"/>
                    <a:pt x="17900" y="0"/>
                  </a:cubicBezTo>
                  <a:close/>
                </a:path>
              </a:pathLst>
            </a:custGeom>
            <a:solidFill>
              <a:srgbClr val="9FEFB6"/>
            </a:solidFill>
            <a:ln w="19050" cap="sq">
              <a:solidFill>
                <a:srgbClr val="6C6FDB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52400"/>
              <a:ext cx="486694" cy="25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92390" y="1128028"/>
            <a:ext cx="292176" cy="295398"/>
          </a:xfrm>
          <a:custGeom>
            <a:avLst/>
            <a:gdLst/>
            <a:ahLst/>
            <a:cxnLst/>
            <a:rect r="r" b="b" t="t" l="l"/>
            <a:pathLst>
              <a:path h="295398" w="292176">
                <a:moveTo>
                  <a:pt x="0" y="0"/>
                </a:moveTo>
                <a:lnTo>
                  <a:pt x="292176" y="0"/>
                </a:lnTo>
                <a:lnTo>
                  <a:pt x="292176" y="295398"/>
                </a:lnTo>
                <a:lnTo>
                  <a:pt x="0" y="295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74909" y="962343"/>
            <a:ext cx="1724594" cy="49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0B0A0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Primary Clinic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016194" y="8637753"/>
            <a:ext cx="2882650" cy="2264191"/>
          </a:xfrm>
          <a:custGeom>
            <a:avLst/>
            <a:gdLst/>
            <a:ahLst/>
            <a:cxnLst/>
            <a:rect r="r" b="b" t="t" l="l"/>
            <a:pathLst>
              <a:path h="2264191" w="2882650">
                <a:moveTo>
                  <a:pt x="0" y="0"/>
                </a:moveTo>
                <a:lnTo>
                  <a:pt x="2882650" y="0"/>
                </a:lnTo>
                <a:lnTo>
                  <a:pt x="2882650" y="2264191"/>
                </a:lnTo>
                <a:lnTo>
                  <a:pt x="0" y="22641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243182" y="6666156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30793" y="2579002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4" y="0"/>
                </a:lnTo>
                <a:lnTo>
                  <a:pt x="395814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-1108600" y="9571630"/>
            <a:ext cx="3086100" cy="826634"/>
            <a:chOff x="0" y="0"/>
            <a:chExt cx="711200" cy="190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1200" cy="190500"/>
            </a:xfrm>
            <a:custGeom>
              <a:avLst/>
              <a:gdLst/>
              <a:ahLst/>
              <a:cxnLst/>
              <a:rect r="r" b="b" t="t" l="l"/>
              <a:pathLst>
                <a:path h="190500" w="711200">
                  <a:moveTo>
                    <a:pt x="711200" y="0"/>
                  </a:moveTo>
                  <a:lnTo>
                    <a:pt x="711200" y="142894"/>
                  </a:lnTo>
                  <a:cubicBezTo>
                    <a:pt x="651933" y="142894"/>
                    <a:pt x="651933" y="190500"/>
                    <a:pt x="592667" y="190500"/>
                  </a:cubicBezTo>
                  <a:cubicBezTo>
                    <a:pt x="533381" y="190500"/>
                    <a:pt x="533381" y="142894"/>
                    <a:pt x="474115" y="142894"/>
                  </a:cubicBezTo>
                  <a:cubicBezTo>
                    <a:pt x="414848" y="142894"/>
                    <a:pt x="414848" y="190500"/>
                    <a:pt x="355581" y="190500"/>
                  </a:cubicBezTo>
                  <a:cubicBezTo>
                    <a:pt x="296315" y="190500"/>
                    <a:pt x="296315" y="142894"/>
                    <a:pt x="237048" y="142894"/>
                  </a:cubicBezTo>
                  <a:cubicBezTo>
                    <a:pt x="177781" y="142894"/>
                    <a:pt x="177781" y="190500"/>
                    <a:pt x="118533" y="190500"/>
                  </a:cubicBezTo>
                  <a:cubicBezTo>
                    <a:pt x="59267" y="190500"/>
                    <a:pt x="59267" y="142894"/>
                    <a:pt x="0" y="142894"/>
                  </a:cubicBezTo>
                  <a:lnTo>
                    <a:pt x="0" y="0"/>
                  </a:lnTo>
                  <a:cubicBezTo>
                    <a:pt x="59267" y="0"/>
                    <a:pt x="59267" y="47606"/>
                    <a:pt x="118533" y="47606"/>
                  </a:cubicBezTo>
                  <a:cubicBezTo>
                    <a:pt x="177781" y="47606"/>
                    <a:pt x="177781" y="0"/>
                    <a:pt x="237048" y="0"/>
                  </a:cubicBezTo>
                  <a:cubicBezTo>
                    <a:pt x="296315" y="0"/>
                    <a:pt x="296315" y="47606"/>
                    <a:pt x="355581" y="47606"/>
                  </a:cubicBezTo>
                  <a:cubicBezTo>
                    <a:pt x="414848" y="47606"/>
                    <a:pt x="414848" y="0"/>
                    <a:pt x="474115" y="0"/>
                  </a:cubicBezTo>
                  <a:cubicBezTo>
                    <a:pt x="533381" y="0"/>
                    <a:pt x="533381" y="47606"/>
                    <a:pt x="592667" y="47606"/>
                  </a:cubicBezTo>
                  <a:cubicBezTo>
                    <a:pt x="651933" y="47606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6C6FD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01600"/>
              <a:ext cx="711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087765" y="-1272442"/>
            <a:ext cx="2400469" cy="2400469"/>
            <a:chOff x="0" y="0"/>
            <a:chExt cx="558800" cy="55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6C6FD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44450" y="-107950"/>
              <a:ext cx="4699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491043" y="2183187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8396" y="-72207"/>
            <a:ext cx="19666631" cy="10703725"/>
            <a:chOff x="0" y="0"/>
            <a:chExt cx="1732929" cy="9431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2929" cy="943161"/>
            </a:xfrm>
            <a:custGeom>
              <a:avLst/>
              <a:gdLst/>
              <a:ahLst/>
              <a:cxnLst/>
              <a:rect r="r" b="b" t="t" l="l"/>
              <a:pathLst>
                <a:path h="943161" w="1732929">
                  <a:moveTo>
                    <a:pt x="2153" y="0"/>
                  </a:moveTo>
                  <a:lnTo>
                    <a:pt x="1730776" y="0"/>
                  </a:lnTo>
                  <a:cubicBezTo>
                    <a:pt x="1731347" y="0"/>
                    <a:pt x="1731895" y="227"/>
                    <a:pt x="1732299" y="631"/>
                  </a:cubicBezTo>
                  <a:cubicBezTo>
                    <a:pt x="1732702" y="1034"/>
                    <a:pt x="1732929" y="1582"/>
                    <a:pt x="1732929" y="2153"/>
                  </a:cubicBezTo>
                  <a:lnTo>
                    <a:pt x="1732929" y="941008"/>
                  </a:lnTo>
                  <a:cubicBezTo>
                    <a:pt x="1732929" y="941579"/>
                    <a:pt x="1732702" y="942127"/>
                    <a:pt x="1732299" y="942530"/>
                  </a:cubicBezTo>
                  <a:cubicBezTo>
                    <a:pt x="1731895" y="942934"/>
                    <a:pt x="1731347" y="943161"/>
                    <a:pt x="1730776" y="943161"/>
                  </a:cubicBezTo>
                  <a:lnTo>
                    <a:pt x="2153" y="943161"/>
                  </a:lnTo>
                  <a:cubicBezTo>
                    <a:pt x="964" y="943161"/>
                    <a:pt x="0" y="942197"/>
                    <a:pt x="0" y="941008"/>
                  </a:cubicBezTo>
                  <a:lnTo>
                    <a:pt x="0" y="2153"/>
                  </a:lnTo>
                  <a:cubicBezTo>
                    <a:pt x="0" y="1582"/>
                    <a:pt x="227" y="1034"/>
                    <a:pt x="631" y="631"/>
                  </a:cubicBezTo>
                  <a:cubicBezTo>
                    <a:pt x="1034" y="227"/>
                    <a:pt x="1582" y="0"/>
                    <a:pt x="2153" y="0"/>
                  </a:cubicBezTo>
                  <a:close/>
                </a:path>
              </a:pathLst>
            </a:custGeom>
            <a:solidFill>
              <a:srgbClr val="C6CBCE"/>
            </a:solidFill>
            <a:ln w="19050" cap="sq">
              <a:solidFill>
                <a:srgbClr val="6C6FD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1732929" cy="1095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773218" y="9483295"/>
            <a:ext cx="4342790" cy="501651"/>
            <a:chOff x="0" y="0"/>
            <a:chExt cx="893578" cy="1032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3578" cy="103220"/>
            </a:xfrm>
            <a:custGeom>
              <a:avLst/>
              <a:gdLst/>
              <a:ahLst/>
              <a:cxnLst/>
              <a:rect r="r" b="b" t="t" l="l"/>
              <a:pathLst>
                <a:path h="103220" w="893578">
                  <a:moveTo>
                    <a:pt x="9749" y="0"/>
                  </a:moveTo>
                  <a:lnTo>
                    <a:pt x="883829" y="0"/>
                  </a:lnTo>
                  <a:cubicBezTo>
                    <a:pt x="889213" y="0"/>
                    <a:pt x="893578" y="4365"/>
                    <a:pt x="893578" y="9749"/>
                  </a:cubicBezTo>
                  <a:lnTo>
                    <a:pt x="893578" y="93471"/>
                  </a:lnTo>
                  <a:cubicBezTo>
                    <a:pt x="893578" y="96057"/>
                    <a:pt x="892551" y="98537"/>
                    <a:pt x="890723" y="100365"/>
                  </a:cubicBezTo>
                  <a:cubicBezTo>
                    <a:pt x="888894" y="102193"/>
                    <a:pt x="886415" y="103220"/>
                    <a:pt x="883829" y="103220"/>
                  </a:cubicBezTo>
                  <a:lnTo>
                    <a:pt x="9749" y="103220"/>
                  </a:lnTo>
                  <a:cubicBezTo>
                    <a:pt x="7164" y="103220"/>
                    <a:pt x="4684" y="102193"/>
                    <a:pt x="2855" y="100365"/>
                  </a:cubicBezTo>
                  <a:cubicBezTo>
                    <a:pt x="1027" y="98537"/>
                    <a:pt x="0" y="96057"/>
                    <a:pt x="0" y="93471"/>
                  </a:cubicBezTo>
                  <a:lnTo>
                    <a:pt x="0" y="9749"/>
                  </a:lnTo>
                  <a:cubicBezTo>
                    <a:pt x="0" y="7164"/>
                    <a:pt x="1027" y="4684"/>
                    <a:pt x="2855" y="2855"/>
                  </a:cubicBezTo>
                  <a:cubicBezTo>
                    <a:pt x="4684" y="1027"/>
                    <a:pt x="7164" y="0"/>
                    <a:pt x="9749" y="0"/>
                  </a:cubicBezTo>
                  <a:close/>
                </a:path>
              </a:pathLst>
            </a:custGeom>
            <a:solidFill>
              <a:srgbClr val="9FEFB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893578" cy="25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079856" y="5977012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479043" y="-1272442"/>
            <a:ext cx="4009192" cy="4009192"/>
            <a:chOff x="0" y="0"/>
            <a:chExt cx="558800" cy="55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6C6FD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44450" y="-107950"/>
              <a:ext cx="4699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87070" y="1128028"/>
            <a:ext cx="16042562" cy="8856919"/>
          </a:xfrm>
          <a:custGeom>
            <a:avLst/>
            <a:gdLst/>
            <a:ahLst/>
            <a:cxnLst/>
            <a:rect r="r" b="b" t="t" l="l"/>
            <a:pathLst>
              <a:path h="8856919" w="16042562">
                <a:moveTo>
                  <a:pt x="0" y="0"/>
                </a:moveTo>
                <a:lnTo>
                  <a:pt x="16042562" y="0"/>
                </a:lnTo>
                <a:lnTo>
                  <a:pt x="16042562" y="8856919"/>
                </a:lnTo>
                <a:lnTo>
                  <a:pt x="0" y="8856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4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-1444574" y="224581"/>
            <a:ext cx="7379595" cy="804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4"/>
              </a:lnSpc>
            </a:pPr>
            <a:r>
              <a:rPr lang="en-US" sz="5278">
                <a:solidFill>
                  <a:srgbClr val="6C6FDB"/>
                </a:solidFill>
                <a:latin typeface="Loubag"/>
                <a:ea typeface="Loubag"/>
                <a:cs typeface="Loubag"/>
                <a:sym typeface="Loubag"/>
              </a:rPr>
              <a:t>Tableau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7288" y="6079331"/>
            <a:ext cx="15973425" cy="57150"/>
            <a:chOff x="0" y="0"/>
            <a:chExt cx="212979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97900" cy="76200"/>
            </a:xfrm>
            <a:custGeom>
              <a:avLst/>
              <a:gdLst/>
              <a:ahLst/>
              <a:cxnLst/>
              <a:rect r="r" b="b" t="t" l="l"/>
              <a:pathLst>
                <a:path h="7620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E25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65447" y="6436519"/>
            <a:ext cx="385735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Q1: ETL Build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7288" y="6931819"/>
            <a:ext cx="3673669" cy="86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>
                <a:solidFill>
                  <a:srgbClr val="B0BCCD"/>
                </a:solidFill>
                <a:latin typeface="Lato"/>
                <a:ea typeface="Lato"/>
                <a:cs typeface="Lato"/>
                <a:sym typeface="Lato"/>
              </a:rPr>
              <a:t>Cleaned and structured GBD global respiratory files from 1990–2023.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65284" y="4219280"/>
            <a:ext cx="385735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Q2: Calculations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57133" y="4714580"/>
            <a:ext cx="3673669" cy="86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>
                <a:solidFill>
                  <a:srgbClr val="B0BCCD"/>
                </a:solidFill>
                <a:latin typeface="Lato"/>
                <a:ea typeface="Lato"/>
                <a:cs typeface="Lato"/>
                <a:sym typeface="Lato"/>
              </a:rPr>
              <a:t>Formulated dynamic metrics, regional CAGRs, and Z-score outlier logic.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65129" y="6436519"/>
            <a:ext cx="385735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Q3: Dashboard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56969" y="6931819"/>
            <a:ext cx="3673669" cy="86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>
                <a:solidFill>
                  <a:srgbClr val="B0BCCD"/>
                </a:solidFill>
                <a:latin typeface="Lato"/>
                <a:ea typeface="Lato"/>
                <a:cs typeface="Lato"/>
                <a:sym typeface="Lato"/>
              </a:rPr>
              <a:t>Designed a dark-themed left-nav sidebar dashboard system in Tableau.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64975" y="3853605"/>
            <a:ext cx="385735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Q4: Integration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56815" y="4348905"/>
            <a:ext cx="3673669" cy="123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>
                <a:solidFill>
                  <a:srgbClr val="B0BCCD"/>
                </a:solidFill>
                <a:latin typeface="Lato"/>
                <a:ea typeface="Lato"/>
                <a:cs typeface="Lato"/>
                <a:sym typeface="Lato"/>
              </a:rPr>
              <a:t>Completed global filter actions for seamless interactive sandbox exploration.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3038" y="833438"/>
            <a:ext cx="16472059" cy="82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Analytical Suite Implementation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57288" y="871538"/>
            <a:ext cx="71438" cy="785812"/>
            <a:chOff x="0" y="0"/>
            <a:chExt cx="95250" cy="10477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2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95250">
                  <a:moveTo>
                    <a:pt x="0" y="0"/>
                  </a:moveTo>
                  <a:lnTo>
                    <a:pt x="95250" y="0"/>
                  </a:lnTo>
                  <a:lnTo>
                    <a:pt x="95250" y="104775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00E5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836964" y="5950744"/>
            <a:ext cx="314325" cy="314325"/>
            <a:chOff x="0" y="0"/>
            <a:chExt cx="419100" cy="419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209550"/>
                  </a:moveTo>
                  <a:cubicBezTo>
                    <a:pt x="0" y="93853"/>
                    <a:pt x="93853" y="0"/>
                    <a:pt x="209550" y="0"/>
                  </a:cubicBezTo>
                  <a:cubicBezTo>
                    <a:pt x="325247" y="0"/>
                    <a:pt x="419100" y="93853"/>
                    <a:pt x="419100" y="209550"/>
                  </a:cubicBezTo>
                  <a:cubicBezTo>
                    <a:pt x="419100" y="325247"/>
                    <a:pt x="325247" y="419100"/>
                    <a:pt x="209550" y="419100"/>
                  </a:cubicBezTo>
                  <a:cubicBezTo>
                    <a:pt x="93853" y="419100"/>
                    <a:pt x="0" y="325247"/>
                    <a:pt x="0" y="209550"/>
                  </a:cubicBezTo>
                  <a:close/>
                </a:path>
              </a:pathLst>
            </a:custGeom>
            <a:solidFill>
              <a:srgbClr val="0A0D14"/>
            </a:solidFill>
            <a:ln w="57150" cap="sq">
              <a:solidFill>
                <a:srgbClr val="00E5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936800" y="5950744"/>
            <a:ext cx="314325" cy="314325"/>
            <a:chOff x="0" y="0"/>
            <a:chExt cx="419100" cy="419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209550"/>
                  </a:moveTo>
                  <a:cubicBezTo>
                    <a:pt x="0" y="93853"/>
                    <a:pt x="93853" y="0"/>
                    <a:pt x="209550" y="0"/>
                  </a:cubicBezTo>
                  <a:cubicBezTo>
                    <a:pt x="325247" y="0"/>
                    <a:pt x="419100" y="93853"/>
                    <a:pt x="419100" y="209550"/>
                  </a:cubicBezTo>
                  <a:cubicBezTo>
                    <a:pt x="419100" y="325247"/>
                    <a:pt x="325247" y="419100"/>
                    <a:pt x="209550" y="419100"/>
                  </a:cubicBezTo>
                  <a:cubicBezTo>
                    <a:pt x="93853" y="419100"/>
                    <a:pt x="0" y="325247"/>
                    <a:pt x="0" y="209550"/>
                  </a:cubicBezTo>
                  <a:close/>
                </a:path>
              </a:pathLst>
            </a:custGeom>
            <a:solidFill>
              <a:srgbClr val="0A0D14"/>
            </a:solidFill>
            <a:ln w="57150" cap="sq">
              <a:solidFill>
                <a:srgbClr val="00E5F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036646" y="5950744"/>
            <a:ext cx="314325" cy="314325"/>
            <a:chOff x="0" y="0"/>
            <a:chExt cx="419100" cy="41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209550"/>
                  </a:moveTo>
                  <a:cubicBezTo>
                    <a:pt x="0" y="93853"/>
                    <a:pt x="93853" y="0"/>
                    <a:pt x="209550" y="0"/>
                  </a:cubicBezTo>
                  <a:cubicBezTo>
                    <a:pt x="325247" y="0"/>
                    <a:pt x="419100" y="93853"/>
                    <a:pt x="419100" y="209550"/>
                  </a:cubicBezTo>
                  <a:cubicBezTo>
                    <a:pt x="419100" y="325247"/>
                    <a:pt x="325247" y="419100"/>
                    <a:pt x="209550" y="419100"/>
                  </a:cubicBezTo>
                  <a:cubicBezTo>
                    <a:pt x="93853" y="419100"/>
                    <a:pt x="0" y="325247"/>
                    <a:pt x="0" y="209550"/>
                  </a:cubicBezTo>
                  <a:close/>
                </a:path>
              </a:pathLst>
            </a:custGeom>
            <a:solidFill>
              <a:srgbClr val="0A0D14"/>
            </a:solidFill>
            <a:ln w="57150" cap="sq">
              <a:solidFill>
                <a:srgbClr val="00E5F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5136492" y="5950744"/>
            <a:ext cx="314325" cy="314325"/>
            <a:chOff x="0" y="0"/>
            <a:chExt cx="419100" cy="419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209550"/>
                  </a:moveTo>
                  <a:cubicBezTo>
                    <a:pt x="0" y="93853"/>
                    <a:pt x="93853" y="0"/>
                    <a:pt x="209550" y="0"/>
                  </a:cubicBezTo>
                  <a:cubicBezTo>
                    <a:pt x="325247" y="0"/>
                    <a:pt x="419100" y="93853"/>
                    <a:pt x="419100" y="209550"/>
                  </a:cubicBezTo>
                  <a:cubicBezTo>
                    <a:pt x="419100" y="325247"/>
                    <a:pt x="325247" y="419100"/>
                    <a:pt x="209550" y="419100"/>
                  </a:cubicBezTo>
                  <a:cubicBezTo>
                    <a:pt x="93853" y="419100"/>
                    <a:pt x="0" y="325247"/>
                    <a:pt x="0" y="209550"/>
                  </a:cubicBezTo>
                  <a:close/>
                </a:path>
              </a:pathLst>
            </a:custGeom>
            <a:solidFill>
              <a:srgbClr val="0A0D14"/>
            </a:solidFill>
            <a:ln w="57150" cap="sq">
              <a:solidFill>
                <a:srgbClr val="00E5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43386" y="1028700"/>
            <a:ext cx="7657239" cy="6159437"/>
            <a:chOff x="0" y="0"/>
            <a:chExt cx="1376973" cy="11076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6973" cy="1107629"/>
            </a:xfrm>
            <a:custGeom>
              <a:avLst/>
              <a:gdLst/>
              <a:ahLst/>
              <a:cxnLst/>
              <a:rect r="r" b="b" t="t" l="l"/>
              <a:pathLst>
                <a:path h="1107629" w="1376973">
                  <a:moveTo>
                    <a:pt x="15166" y="0"/>
                  </a:moveTo>
                  <a:lnTo>
                    <a:pt x="1361807" y="0"/>
                  </a:lnTo>
                  <a:cubicBezTo>
                    <a:pt x="1370183" y="0"/>
                    <a:pt x="1376973" y="6790"/>
                    <a:pt x="1376973" y="15166"/>
                  </a:cubicBezTo>
                  <a:lnTo>
                    <a:pt x="1376973" y="1092463"/>
                  </a:lnTo>
                  <a:cubicBezTo>
                    <a:pt x="1376973" y="1100839"/>
                    <a:pt x="1370183" y="1107629"/>
                    <a:pt x="1361807" y="1107629"/>
                  </a:cubicBezTo>
                  <a:lnTo>
                    <a:pt x="15166" y="1107629"/>
                  </a:lnTo>
                  <a:cubicBezTo>
                    <a:pt x="6790" y="1107629"/>
                    <a:pt x="0" y="1100839"/>
                    <a:pt x="0" y="1092463"/>
                  </a:cubicBezTo>
                  <a:lnTo>
                    <a:pt x="0" y="15166"/>
                  </a:lnTo>
                  <a:cubicBezTo>
                    <a:pt x="0" y="6790"/>
                    <a:pt x="6790" y="0"/>
                    <a:pt x="15166" y="0"/>
                  </a:cubicBezTo>
                  <a:close/>
                </a:path>
              </a:pathLst>
            </a:custGeom>
            <a:blipFill>
              <a:blip r:embed="rId2"/>
              <a:stretch>
                <a:fillRect l="-10367" t="0" r="-1036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77500" y="8439534"/>
            <a:ext cx="2964365" cy="1132095"/>
            <a:chOff x="0" y="0"/>
            <a:chExt cx="780738" cy="2981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0738" cy="298165"/>
            </a:xfrm>
            <a:custGeom>
              <a:avLst/>
              <a:gdLst/>
              <a:ahLst/>
              <a:cxnLst/>
              <a:rect r="r" b="b" t="t" l="l"/>
              <a:pathLst>
                <a:path h="298165" w="780738">
                  <a:moveTo>
                    <a:pt x="54845" y="0"/>
                  </a:moveTo>
                  <a:lnTo>
                    <a:pt x="725893" y="0"/>
                  </a:lnTo>
                  <a:cubicBezTo>
                    <a:pt x="756183" y="0"/>
                    <a:pt x="780738" y="24555"/>
                    <a:pt x="780738" y="54845"/>
                  </a:cubicBezTo>
                  <a:lnTo>
                    <a:pt x="780738" y="243320"/>
                  </a:lnTo>
                  <a:cubicBezTo>
                    <a:pt x="780738" y="273610"/>
                    <a:pt x="756183" y="298165"/>
                    <a:pt x="725893" y="298165"/>
                  </a:cubicBezTo>
                  <a:lnTo>
                    <a:pt x="54845" y="298165"/>
                  </a:lnTo>
                  <a:cubicBezTo>
                    <a:pt x="24555" y="298165"/>
                    <a:pt x="0" y="273610"/>
                    <a:pt x="0" y="243320"/>
                  </a:cubicBezTo>
                  <a:lnTo>
                    <a:pt x="0" y="54845"/>
                  </a:lnTo>
                  <a:cubicBezTo>
                    <a:pt x="0" y="24555"/>
                    <a:pt x="24555" y="0"/>
                    <a:pt x="54845" y="0"/>
                  </a:cubicBezTo>
                  <a:close/>
                </a:path>
              </a:pathLst>
            </a:custGeom>
            <a:solidFill>
              <a:srgbClr val="6C6FDB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780738" cy="31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 u="sng">
                  <a:solidFill>
                    <a:srgbClr val="1C1C1C"/>
                  </a:solidFill>
                  <a:latin typeface="Poppins Bold"/>
                  <a:ea typeface="Poppins Bold"/>
                  <a:cs typeface="Poppins Bold"/>
                  <a:sym typeface="Poppins Bold"/>
                  <a:hlinkClick r:id="rId3" tooltip="https://github.com/3mmar3bdalkber/Global-Asthma-Burden"/>
                </a:rPr>
                <a:t>Link Rpo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326702" y="8801484"/>
            <a:ext cx="399476" cy="399476"/>
          </a:xfrm>
          <a:custGeom>
            <a:avLst/>
            <a:gdLst/>
            <a:ahLst/>
            <a:cxnLst/>
            <a:rect r="r" b="b" t="t" l="l"/>
            <a:pathLst>
              <a:path h="399476" w="399476">
                <a:moveTo>
                  <a:pt x="0" y="0"/>
                </a:moveTo>
                <a:lnTo>
                  <a:pt x="399476" y="0"/>
                </a:lnTo>
                <a:lnTo>
                  <a:pt x="399476" y="399476"/>
                </a:lnTo>
                <a:lnTo>
                  <a:pt x="0" y="399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98592" y="549664"/>
            <a:ext cx="618501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20074" y="6400242"/>
            <a:ext cx="3157363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hello@reallygreatsite.com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817975" y="8439534"/>
            <a:ext cx="2882650" cy="2264191"/>
          </a:xfrm>
          <a:custGeom>
            <a:avLst/>
            <a:gdLst/>
            <a:ahLst/>
            <a:cxnLst/>
            <a:rect r="r" b="b" t="t" l="l"/>
            <a:pathLst>
              <a:path h="2264191" w="2882650">
                <a:moveTo>
                  <a:pt x="0" y="0"/>
                </a:moveTo>
                <a:lnTo>
                  <a:pt x="2882650" y="0"/>
                </a:lnTo>
                <a:lnTo>
                  <a:pt x="2882650" y="2264191"/>
                </a:lnTo>
                <a:lnTo>
                  <a:pt x="0" y="22641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448877" y="334824"/>
            <a:ext cx="395815" cy="395815"/>
          </a:xfrm>
          <a:custGeom>
            <a:avLst/>
            <a:gdLst/>
            <a:ahLst/>
            <a:cxnLst/>
            <a:rect r="r" b="b" t="t" l="l"/>
            <a:pathLst>
              <a:path h="395815" w="395815">
                <a:moveTo>
                  <a:pt x="0" y="0"/>
                </a:moveTo>
                <a:lnTo>
                  <a:pt x="395815" y="0"/>
                </a:lnTo>
                <a:lnTo>
                  <a:pt x="395815" y="395815"/>
                </a:lnTo>
                <a:lnTo>
                  <a:pt x="0" y="3958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1108600" y="8744996"/>
            <a:ext cx="3086100" cy="826634"/>
            <a:chOff x="0" y="0"/>
            <a:chExt cx="711200" cy="190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1200" cy="190500"/>
            </a:xfrm>
            <a:custGeom>
              <a:avLst/>
              <a:gdLst/>
              <a:ahLst/>
              <a:cxnLst/>
              <a:rect r="r" b="b" t="t" l="l"/>
              <a:pathLst>
                <a:path h="190500" w="711200">
                  <a:moveTo>
                    <a:pt x="711200" y="0"/>
                  </a:moveTo>
                  <a:lnTo>
                    <a:pt x="711200" y="142894"/>
                  </a:lnTo>
                  <a:cubicBezTo>
                    <a:pt x="651933" y="142894"/>
                    <a:pt x="651933" y="190500"/>
                    <a:pt x="592667" y="190500"/>
                  </a:cubicBezTo>
                  <a:cubicBezTo>
                    <a:pt x="533381" y="190500"/>
                    <a:pt x="533381" y="142894"/>
                    <a:pt x="474115" y="142894"/>
                  </a:cubicBezTo>
                  <a:cubicBezTo>
                    <a:pt x="414848" y="142894"/>
                    <a:pt x="414848" y="190500"/>
                    <a:pt x="355581" y="190500"/>
                  </a:cubicBezTo>
                  <a:cubicBezTo>
                    <a:pt x="296315" y="190500"/>
                    <a:pt x="296315" y="142894"/>
                    <a:pt x="237048" y="142894"/>
                  </a:cubicBezTo>
                  <a:cubicBezTo>
                    <a:pt x="177781" y="142894"/>
                    <a:pt x="177781" y="190500"/>
                    <a:pt x="118533" y="190500"/>
                  </a:cubicBezTo>
                  <a:cubicBezTo>
                    <a:pt x="59267" y="190500"/>
                    <a:pt x="59267" y="142894"/>
                    <a:pt x="0" y="142894"/>
                  </a:cubicBezTo>
                  <a:lnTo>
                    <a:pt x="0" y="0"/>
                  </a:lnTo>
                  <a:cubicBezTo>
                    <a:pt x="59267" y="0"/>
                    <a:pt x="59267" y="47606"/>
                    <a:pt x="118533" y="47606"/>
                  </a:cubicBezTo>
                  <a:cubicBezTo>
                    <a:pt x="177781" y="47606"/>
                    <a:pt x="177781" y="0"/>
                    <a:pt x="237048" y="0"/>
                  </a:cubicBezTo>
                  <a:cubicBezTo>
                    <a:pt x="296315" y="0"/>
                    <a:pt x="296315" y="47606"/>
                    <a:pt x="355581" y="47606"/>
                  </a:cubicBezTo>
                  <a:cubicBezTo>
                    <a:pt x="414848" y="47606"/>
                    <a:pt x="414848" y="0"/>
                    <a:pt x="474115" y="0"/>
                  </a:cubicBezTo>
                  <a:cubicBezTo>
                    <a:pt x="533381" y="0"/>
                    <a:pt x="533381" y="47606"/>
                    <a:pt x="592667" y="47606"/>
                  </a:cubicBezTo>
                  <a:cubicBezTo>
                    <a:pt x="651933" y="47606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6C6FD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01600"/>
              <a:ext cx="711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087765" y="-1272442"/>
            <a:ext cx="2400469" cy="2400469"/>
            <a:chOff x="0" y="0"/>
            <a:chExt cx="558800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6C6FD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44450" y="-107950"/>
              <a:ext cx="4699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609947" y="8080443"/>
            <a:ext cx="10799309" cy="1540851"/>
            <a:chOff x="0" y="0"/>
            <a:chExt cx="723438" cy="1032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3438" cy="103220"/>
            </a:xfrm>
            <a:custGeom>
              <a:avLst/>
              <a:gdLst/>
              <a:ahLst/>
              <a:cxnLst/>
              <a:rect r="r" b="b" t="t" l="l"/>
              <a:pathLst>
                <a:path h="103220" w="723438">
                  <a:moveTo>
                    <a:pt x="3920" y="0"/>
                  </a:moveTo>
                  <a:lnTo>
                    <a:pt x="719517" y="0"/>
                  </a:lnTo>
                  <a:cubicBezTo>
                    <a:pt x="721682" y="0"/>
                    <a:pt x="723438" y="1755"/>
                    <a:pt x="723438" y="3920"/>
                  </a:cubicBezTo>
                  <a:lnTo>
                    <a:pt x="723438" y="99300"/>
                  </a:lnTo>
                  <a:cubicBezTo>
                    <a:pt x="723438" y="100340"/>
                    <a:pt x="723025" y="101337"/>
                    <a:pt x="722289" y="102072"/>
                  </a:cubicBezTo>
                  <a:cubicBezTo>
                    <a:pt x="721554" y="102807"/>
                    <a:pt x="720557" y="103220"/>
                    <a:pt x="719517" y="103220"/>
                  </a:cubicBezTo>
                  <a:lnTo>
                    <a:pt x="3920" y="103220"/>
                  </a:lnTo>
                  <a:cubicBezTo>
                    <a:pt x="2881" y="103220"/>
                    <a:pt x="1884" y="102807"/>
                    <a:pt x="1148" y="102072"/>
                  </a:cubicBezTo>
                  <a:cubicBezTo>
                    <a:pt x="413" y="101337"/>
                    <a:pt x="0" y="100340"/>
                    <a:pt x="0" y="99300"/>
                  </a:cubicBezTo>
                  <a:lnTo>
                    <a:pt x="0" y="3920"/>
                  </a:lnTo>
                  <a:cubicBezTo>
                    <a:pt x="0" y="2881"/>
                    <a:pt x="413" y="1884"/>
                    <a:pt x="1148" y="1148"/>
                  </a:cubicBezTo>
                  <a:cubicBezTo>
                    <a:pt x="1884" y="413"/>
                    <a:pt x="2881" y="0"/>
                    <a:pt x="3920" y="0"/>
                  </a:cubicBezTo>
                  <a:close/>
                </a:path>
              </a:pathLst>
            </a:custGeom>
            <a:solidFill>
              <a:srgbClr val="9FEFB6"/>
            </a:solidFill>
            <a:ln w="19050" cap="sq">
              <a:solidFill>
                <a:srgbClr val="6C6FDB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52400"/>
              <a:ext cx="723438" cy="25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5947817" y="8439534"/>
            <a:ext cx="897435" cy="907333"/>
          </a:xfrm>
          <a:custGeom>
            <a:avLst/>
            <a:gdLst/>
            <a:ahLst/>
            <a:cxnLst/>
            <a:rect r="r" b="b" t="t" l="l"/>
            <a:pathLst>
              <a:path h="907333" w="897435">
                <a:moveTo>
                  <a:pt x="0" y="0"/>
                </a:moveTo>
                <a:lnTo>
                  <a:pt x="897435" y="0"/>
                </a:lnTo>
                <a:lnTo>
                  <a:pt x="897435" y="907334"/>
                </a:lnTo>
                <a:lnTo>
                  <a:pt x="0" y="9073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327450" y="8267534"/>
            <a:ext cx="9081806" cy="90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8"/>
              </a:lnSpc>
            </a:pPr>
            <a:r>
              <a:rPr lang="en-US" sz="4326">
                <a:solidFill>
                  <a:srgbClr val="0B0A0A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The Story of Saving Lives with Numbers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54622" y="2255084"/>
            <a:ext cx="5099337" cy="1143416"/>
            <a:chOff x="0" y="0"/>
            <a:chExt cx="1343035" cy="3011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3035" cy="301147"/>
            </a:xfrm>
            <a:custGeom>
              <a:avLst/>
              <a:gdLst/>
              <a:ahLst/>
              <a:cxnLst/>
              <a:rect r="r" b="b" t="t" l="l"/>
              <a:pathLst>
                <a:path h="301147" w="1343035">
                  <a:moveTo>
                    <a:pt x="126012" y="0"/>
                  </a:moveTo>
                  <a:lnTo>
                    <a:pt x="1217023" y="0"/>
                  </a:lnTo>
                  <a:cubicBezTo>
                    <a:pt x="1250443" y="0"/>
                    <a:pt x="1282495" y="13276"/>
                    <a:pt x="1306127" y="36908"/>
                  </a:cubicBezTo>
                  <a:cubicBezTo>
                    <a:pt x="1329759" y="60540"/>
                    <a:pt x="1343035" y="92592"/>
                    <a:pt x="1343035" y="126012"/>
                  </a:cubicBezTo>
                  <a:lnTo>
                    <a:pt x="1343035" y="175134"/>
                  </a:lnTo>
                  <a:cubicBezTo>
                    <a:pt x="1343035" y="244729"/>
                    <a:pt x="1286618" y="301147"/>
                    <a:pt x="1217023" y="301147"/>
                  </a:cubicBezTo>
                  <a:lnTo>
                    <a:pt x="126012" y="301147"/>
                  </a:lnTo>
                  <a:cubicBezTo>
                    <a:pt x="56418" y="301147"/>
                    <a:pt x="0" y="244729"/>
                    <a:pt x="0" y="175134"/>
                  </a:cubicBezTo>
                  <a:lnTo>
                    <a:pt x="0" y="126012"/>
                  </a:lnTo>
                  <a:cubicBezTo>
                    <a:pt x="0" y="56418"/>
                    <a:pt x="56418" y="0"/>
                    <a:pt x="126012" y="0"/>
                  </a:cubicBezTo>
                  <a:close/>
                </a:path>
              </a:pathLst>
            </a:custGeom>
            <a:solidFill>
              <a:srgbClr val="6C6FDB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343035" cy="320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Ammar Abdelkabir 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4622" y="4352013"/>
            <a:ext cx="5099337" cy="1143416"/>
            <a:chOff x="0" y="0"/>
            <a:chExt cx="1343035" cy="3011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3035" cy="301147"/>
            </a:xfrm>
            <a:custGeom>
              <a:avLst/>
              <a:gdLst/>
              <a:ahLst/>
              <a:cxnLst/>
              <a:rect r="r" b="b" t="t" l="l"/>
              <a:pathLst>
                <a:path h="301147" w="1343035">
                  <a:moveTo>
                    <a:pt x="126012" y="0"/>
                  </a:moveTo>
                  <a:lnTo>
                    <a:pt x="1217023" y="0"/>
                  </a:lnTo>
                  <a:cubicBezTo>
                    <a:pt x="1250443" y="0"/>
                    <a:pt x="1282495" y="13276"/>
                    <a:pt x="1306127" y="36908"/>
                  </a:cubicBezTo>
                  <a:cubicBezTo>
                    <a:pt x="1329759" y="60540"/>
                    <a:pt x="1343035" y="92592"/>
                    <a:pt x="1343035" y="126012"/>
                  </a:cubicBezTo>
                  <a:lnTo>
                    <a:pt x="1343035" y="175134"/>
                  </a:lnTo>
                  <a:cubicBezTo>
                    <a:pt x="1343035" y="244729"/>
                    <a:pt x="1286618" y="301147"/>
                    <a:pt x="1217023" y="301147"/>
                  </a:cubicBezTo>
                  <a:lnTo>
                    <a:pt x="126012" y="301147"/>
                  </a:lnTo>
                  <a:cubicBezTo>
                    <a:pt x="56418" y="301147"/>
                    <a:pt x="0" y="244729"/>
                    <a:pt x="0" y="175134"/>
                  </a:cubicBezTo>
                  <a:lnTo>
                    <a:pt x="0" y="126012"/>
                  </a:lnTo>
                  <a:cubicBezTo>
                    <a:pt x="0" y="56418"/>
                    <a:pt x="56418" y="0"/>
                    <a:pt x="126012" y="0"/>
                  </a:cubicBezTo>
                  <a:close/>
                </a:path>
              </a:pathLst>
            </a:custGeom>
            <a:solidFill>
              <a:srgbClr val="6C6FDB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343035" cy="320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Nou</a:t>
              </a:r>
              <a:r>
                <a:rPr lang="en-US" b="true" sz="2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 Ayman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609947" y="4352013"/>
            <a:ext cx="5099337" cy="1143416"/>
            <a:chOff x="0" y="0"/>
            <a:chExt cx="1343035" cy="30114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3035" cy="301147"/>
            </a:xfrm>
            <a:custGeom>
              <a:avLst/>
              <a:gdLst/>
              <a:ahLst/>
              <a:cxnLst/>
              <a:rect r="r" b="b" t="t" l="l"/>
              <a:pathLst>
                <a:path h="301147" w="1343035">
                  <a:moveTo>
                    <a:pt x="126012" y="0"/>
                  </a:moveTo>
                  <a:lnTo>
                    <a:pt x="1217023" y="0"/>
                  </a:lnTo>
                  <a:cubicBezTo>
                    <a:pt x="1250443" y="0"/>
                    <a:pt x="1282495" y="13276"/>
                    <a:pt x="1306127" y="36908"/>
                  </a:cubicBezTo>
                  <a:cubicBezTo>
                    <a:pt x="1329759" y="60540"/>
                    <a:pt x="1343035" y="92592"/>
                    <a:pt x="1343035" y="126012"/>
                  </a:cubicBezTo>
                  <a:lnTo>
                    <a:pt x="1343035" y="175134"/>
                  </a:lnTo>
                  <a:cubicBezTo>
                    <a:pt x="1343035" y="244729"/>
                    <a:pt x="1286618" y="301147"/>
                    <a:pt x="1217023" y="301147"/>
                  </a:cubicBezTo>
                  <a:lnTo>
                    <a:pt x="126012" y="301147"/>
                  </a:lnTo>
                  <a:cubicBezTo>
                    <a:pt x="56418" y="301147"/>
                    <a:pt x="0" y="244729"/>
                    <a:pt x="0" y="175134"/>
                  </a:cubicBezTo>
                  <a:lnTo>
                    <a:pt x="0" y="126012"/>
                  </a:lnTo>
                  <a:cubicBezTo>
                    <a:pt x="0" y="56418"/>
                    <a:pt x="56418" y="0"/>
                    <a:pt x="126012" y="0"/>
                  </a:cubicBezTo>
                  <a:close/>
                </a:path>
              </a:pathLst>
            </a:custGeom>
            <a:solidFill>
              <a:srgbClr val="6C6FDB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343035" cy="320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</a:t>
              </a:r>
              <a:r>
                <a:rPr lang="en-US" b="true" sz="2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ancy Abdelnaby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609947" y="2255084"/>
            <a:ext cx="5099337" cy="1143416"/>
            <a:chOff x="0" y="0"/>
            <a:chExt cx="1343035" cy="3011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3035" cy="301147"/>
            </a:xfrm>
            <a:custGeom>
              <a:avLst/>
              <a:gdLst/>
              <a:ahLst/>
              <a:cxnLst/>
              <a:rect r="r" b="b" t="t" l="l"/>
              <a:pathLst>
                <a:path h="301147" w="1343035">
                  <a:moveTo>
                    <a:pt x="126012" y="0"/>
                  </a:moveTo>
                  <a:lnTo>
                    <a:pt x="1217023" y="0"/>
                  </a:lnTo>
                  <a:cubicBezTo>
                    <a:pt x="1250443" y="0"/>
                    <a:pt x="1282495" y="13276"/>
                    <a:pt x="1306127" y="36908"/>
                  </a:cubicBezTo>
                  <a:cubicBezTo>
                    <a:pt x="1329759" y="60540"/>
                    <a:pt x="1343035" y="92592"/>
                    <a:pt x="1343035" y="126012"/>
                  </a:cubicBezTo>
                  <a:lnTo>
                    <a:pt x="1343035" y="175134"/>
                  </a:lnTo>
                  <a:cubicBezTo>
                    <a:pt x="1343035" y="244729"/>
                    <a:pt x="1286618" y="301147"/>
                    <a:pt x="1217023" y="301147"/>
                  </a:cubicBezTo>
                  <a:lnTo>
                    <a:pt x="126012" y="301147"/>
                  </a:lnTo>
                  <a:cubicBezTo>
                    <a:pt x="56418" y="301147"/>
                    <a:pt x="0" y="244729"/>
                    <a:pt x="0" y="175134"/>
                  </a:cubicBezTo>
                  <a:lnTo>
                    <a:pt x="0" y="126012"/>
                  </a:lnTo>
                  <a:cubicBezTo>
                    <a:pt x="0" y="56418"/>
                    <a:pt x="56418" y="0"/>
                    <a:pt x="126012" y="0"/>
                  </a:cubicBezTo>
                  <a:close/>
                </a:path>
              </a:pathLst>
            </a:custGeom>
            <a:solidFill>
              <a:srgbClr val="6C6FDB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343035" cy="320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Moha</a:t>
              </a:r>
              <a:r>
                <a:rPr lang="en-US" b="true" sz="2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med Ahmed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6509" y="6105029"/>
            <a:ext cx="5099337" cy="1143416"/>
            <a:chOff x="0" y="0"/>
            <a:chExt cx="1343035" cy="3011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43035" cy="301147"/>
            </a:xfrm>
            <a:custGeom>
              <a:avLst/>
              <a:gdLst/>
              <a:ahLst/>
              <a:cxnLst/>
              <a:rect r="r" b="b" t="t" l="l"/>
              <a:pathLst>
                <a:path h="301147" w="1343035">
                  <a:moveTo>
                    <a:pt x="126012" y="0"/>
                  </a:moveTo>
                  <a:lnTo>
                    <a:pt x="1217023" y="0"/>
                  </a:lnTo>
                  <a:cubicBezTo>
                    <a:pt x="1250443" y="0"/>
                    <a:pt x="1282495" y="13276"/>
                    <a:pt x="1306127" y="36908"/>
                  </a:cubicBezTo>
                  <a:cubicBezTo>
                    <a:pt x="1329759" y="60540"/>
                    <a:pt x="1343035" y="92592"/>
                    <a:pt x="1343035" y="126012"/>
                  </a:cubicBezTo>
                  <a:lnTo>
                    <a:pt x="1343035" y="175134"/>
                  </a:lnTo>
                  <a:cubicBezTo>
                    <a:pt x="1343035" y="244729"/>
                    <a:pt x="1286618" y="301147"/>
                    <a:pt x="1217023" y="301147"/>
                  </a:cubicBezTo>
                  <a:lnTo>
                    <a:pt x="126012" y="301147"/>
                  </a:lnTo>
                  <a:cubicBezTo>
                    <a:pt x="56418" y="301147"/>
                    <a:pt x="0" y="244729"/>
                    <a:pt x="0" y="175134"/>
                  </a:cubicBezTo>
                  <a:lnTo>
                    <a:pt x="0" y="126012"/>
                  </a:lnTo>
                  <a:cubicBezTo>
                    <a:pt x="0" y="56418"/>
                    <a:pt x="56418" y="0"/>
                    <a:pt x="126012" y="0"/>
                  </a:cubicBezTo>
                  <a:close/>
                </a:path>
              </a:pathLst>
            </a:custGeom>
            <a:solidFill>
              <a:srgbClr val="6C6FDB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343035" cy="320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Abdelrahman Mohamed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609947" y="6069517"/>
            <a:ext cx="5099337" cy="1143416"/>
            <a:chOff x="0" y="0"/>
            <a:chExt cx="1343035" cy="30114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43035" cy="301147"/>
            </a:xfrm>
            <a:custGeom>
              <a:avLst/>
              <a:gdLst/>
              <a:ahLst/>
              <a:cxnLst/>
              <a:rect r="r" b="b" t="t" l="l"/>
              <a:pathLst>
                <a:path h="301147" w="1343035">
                  <a:moveTo>
                    <a:pt x="126012" y="0"/>
                  </a:moveTo>
                  <a:lnTo>
                    <a:pt x="1217023" y="0"/>
                  </a:lnTo>
                  <a:cubicBezTo>
                    <a:pt x="1250443" y="0"/>
                    <a:pt x="1282495" y="13276"/>
                    <a:pt x="1306127" y="36908"/>
                  </a:cubicBezTo>
                  <a:cubicBezTo>
                    <a:pt x="1329759" y="60540"/>
                    <a:pt x="1343035" y="92592"/>
                    <a:pt x="1343035" y="126012"/>
                  </a:cubicBezTo>
                  <a:lnTo>
                    <a:pt x="1343035" y="175134"/>
                  </a:lnTo>
                  <a:cubicBezTo>
                    <a:pt x="1343035" y="244729"/>
                    <a:pt x="1286618" y="301147"/>
                    <a:pt x="1217023" y="301147"/>
                  </a:cubicBezTo>
                  <a:lnTo>
                    <a:pt x="126012" y="301147"/>
                  </a:lnTo>
                  <a:cubicBezTo>
                    <a:pt x="56418" y="301147"/>
                    <a:pt x="0" y="244729"/>
                    <a:pt x="0" y="175134"/>
                  </a:cubicBezTo>
                  <a:lnTo>
                    <a:pt x="0" y="126012"/>
                  </a:lnTo>
                  <a:cubicBezTo>
                    <a:pt x="0" y="56418"/>
                    <a:pt x="56418" y="0"/>
                    <a:pt x="126012" y="0"/>
                  </a:cubicBezTo>
                  <a:close/>
                </a:path>
              </a:pathLst>
            </a:custGeom>
            <a:solidFill>
              <a:srgbClr val="6C6FDB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343035" cy="320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Adham Ahmed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DAHPiyxFThY</dc:identifier>
  <dcterms:modified xsi:type="dcterms:W3CDTF">2011-08-01T06:04:30Z</dcterms:modified>
  <cp:revision>1</cp:revision>
  <dc:title>نسخة من Purple and Green Modern Medical Asthma Care Presentation</dc:title>
</cp:coreProperties>
</file>